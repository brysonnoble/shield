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17" d="100"/>
          <a:sy n="117" d="100"/>
        </p:scale>
        <p:origin x="318" y="10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8260487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Title slide. Introduce SHIELD, note this is the software/autonomy-focused view of the project for the SWE class, presented by Bryson Noble as the team's sole software engineer.</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Frame the motivation: drones are fast, cheap, and increasingly a nuisance/threat at low altitude. Manual, human-in-the-loop counter-drone systems are slow and their radio links are a vulnerability. That sets up why SHIELD is autonomous by design.</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the whole-project picture briefly: SHIELD's mission and goals. Then pivot with the team-composition panel — 9 AEE students handle the airframe/interception hardware, and Bryson is the single SWE student, responsible for the perception and autonomy software. That framing sets up the rest of the deck, which focuses only on his scope.</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scope statement for the SWE class: six concrete areas of ownership. Walk through them briefly — detection, tracking, model training, the STE test harness, manual override, and documentation/demos. Everything after this slide zooms into these.</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left to right through the pipeline: camera feed (real hardware or the Unity emulator streaming over TCP), OpenCV preprocessing, YOLO detection, ByteTrack+Kalman tracking, then the human-approval gate — SHIELD is semi-autonomous, so it prompts an operator before engaging (or the operator can take manual override) — and finally autonomous tracking and interception once approved, handed to the AEE-built hardware.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Detection runs on YOLO11n from Ultralytics. It currently uses generic COCO weights as a placeholder; a big chunk of my Milestone 2 work is training a custom model on drone/balloon imagery to hit the SYS.07 confidence threshold, which is deliberately aggressive and may need to be revisited once real training data is in hand.</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Tracking is what keeps a lock-on valid between detections. ByteTrack assigns and keeps a persistent ID per target; a Kalman filter predicts where the target should be next frame, smoothing over noise and briefly bridging occlusion without losing the lock. This matters more here than in a manually-piloted system because there is no operator to reacquire the target if tracking drops.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environments the software has to work across. Emulation and the STE harness exist so requirements can be verified early, before the Raspberry Pi + Hailo hardware is fully integrated. The biggest technical risk on this slide is the jump from a CPU-only Windows dev machine to power- and thermally-constrained embedded hardware.</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requirements the software is directly responsible for proving. SYS.07 is the numbered, formally tracked one from the requirements document; the other three are the operational guarantees the whole autonomy case rests on: tracking survives occlusion, engagement only proceeds after an operator approves it and then runs without further ground control, and an operator can still take manual override at any point.</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honest risks, the fourth added once the interception subsystem and a physical prototype entered the picture. Emphasize mitigation is baked into the plan: early Pi testing rather than leaving it to the end, staged verification through the STE and emulation before trusting semi-autonomous engagement, treating the 90% confidence target as something that may need revisiting, and planning ahead for the jump from emulation code to a real drone prototype.</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Milestone 1 is foundational: pick and validate the tools, get a first proof of concept running on the emulator — already partly done, since the repo's pipeline was demoed against the Unity camera on 8/26 — take an initial pass at the known technical risks, settle on collaboration tooling, and lock in the requirement/design/test documentation the rest of the semester builds on.</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Milestone 2 is where the pipeline gets real: the STE test harness is finished, a custom-trained model replaces the generic COCO weights, moving targets get added to the Unity test scenes, STE scripts start verifying the requirement document's requirements, and manual override interface design and implementation begins.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Milestone 3 closes out the first semester: connect to the interception subsystem in emulation, bring up the Raspberry Pi hardware platform mode and test on a physical prototype if one exists by then, formally evaluate detection confidence against SYS.07 across all Unity scenes, finish tracing every requirement to a test script, and demonstrate the full pipeline end-to-end on emulation.</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by recapping the current state (a working detection/tracking demo on emulation as of 8/26), what the three milestones deliver across the semester, and how the semi-autonomous, human-approved engagement model ties back to provable requirements via the STE. Open for questions.</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6.png"/><Relationship Id="rId7" Type="http://schemas.openxmlformats.org/officeDocument/2006/relationships/image" Target="../media/image9.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image" Target="../media/image11.png"/><Relationship Id="rId7"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6.png"/><Relationship Id="rId4" Type="http://schemas.openxmlformats.org/officeDocument/2006/relationships/image" Target="../media/image12.png"/></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13.png"/></Relationships>
</file>

<file path=ppt/slides/_rels/slide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8.xml"/><Relationship Id="rId1" Type="http://schemas.openxmlformats.org/officeDocument/2006/relationships/slideLayout" Target="../slideLayouts/slideLayout1.xml"/><Relationship Id="rId5" Type="http://schemas.openxmlformats.org/officeDocument/2006/relationships/image" Target="../media/image8.png"/><Relationship Id="rId4" Type="http://schemas.openxmlformats.org/officeDocument/2006/relationships/image" Target="../media/image5.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7.png"/><Relationship Id="rId4" Type="http://schemas.openxmlformats.org/officeDocument/2006/relationships/image" Target="../media/image13.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730"/>
        </a:solidFill>
        <a:effectLst/>
      </p:bgPr>
    </p:bg>
    <p:spTree>
      <p:nvGrpSpPr>
        <p:cNvPr id="1" name=""/>
        <p:cNvGrpSpPr/>
        <p:nvPr/>
      </p:nvGrpSpPr>
      <p:grpSpPr>
        <a:xfrm>
          <a:off x="0" y="0"/>
          <a:ext cx="0" cy="0"/>
          <a:chOff x="0" y="0"/>
          <a:chExt cx="0" cy="0"/>
        </a:xfrm>
      </p:grpSpPr>
      <p:sp>
        <p:nvSpPr>
          <p:cNvPr id="2" name="Shape 0"/>
          <p:cNvSpPr/>
          <p:nvPr/>
        </p:nvSpPr>
        <p:spPr>
          <a:xfrm>
            <a:off x="7589520" y="1051560"/>
            <a:ext cx="4754880" cy="4754880"/>
          </a:xfrm>
          <a:prstGeom prst="ellipse">
            <a:avLst/>
          </a:prstGeom>
          <a:ln w="12700">
            <a:solidFill>
              <a:srgbClr val="3DDCC7">
                <a:alpha val="45000"/>
              </a:srgbClr>
            </a:solidFill>
            <a:prstDash val="solid"/>
          </a:ln>
        </p:spPr>
        <p:txBody>
          <a:bodyPr/>
          <a:lstStyle/>
          <a:p>
            <a:endParaRPr lang="en-US"/>
          </a:p>
        </p:txBody>
      </p:sp>
      <p:sp>
        <p:nvSpPr>
          <p:cNvPr id="3" name="Shape 1"/>
          <p:cNvSpPr/>
          <p:nvPr/>
        </p:nvSpPr>
        <p:spPr>
          <a:xfrm>
            <a:off x="8138160" y="1600200"/>
            <a:ext cx="3657600" cy="3657600"/>
          </a:xfrm>
          <a:prstGeom prst="ellipse">
            <a:avLst/>
          </a:prstGeom>
          <a:ln w="12700">
            <a:solidFill>
              <a:srgbClr val="223454">
                <a:alpha val="45000"/>
              </a:srgbClr>
            </a:solidFill>
            <a:prstDash val="solid"/>
          </a:ln>
        </p:spPr>
        <p:txBody>
          <a:bodyPr/>
          <a:lstStyle/>
          <a:p>
            <a:endParaRPr lang="en-US"/>
          </a:p>
        </p:txBody>
      </p:sp>
      <p:sp>
        <p:nvSpPr>
          <p:cNvPr id="4" name="Shape 2"/>
          <p:cNvSpPr/>
          <p:nvPr/>
        </p:nvSpPr>
        <p:spPr>
          <a:xfrm>
            <a:off x="8686800" y="2148840"/>
            <a:ext cx="2560320" cy="2560320"/>
          </a:xfrm>
          <a:prstGeom prst="ellipse">
            <a:avLst/>
          </a:prstGeom>
          <a:ln w="12700">
            <a:solidFill>
              <a:srgbClr val="3DDCC7">
                <a:alpha val="45000"/>
              </a:srgbClr>
            </a:solidFill>
            <a:prstDash val="solid"/>
          </a:ln>
        </p:spPr>
        <p:txBody>
          <a:bodyPr/>
          <a:lstStyle/>
          <a:p>
            <a:endParaRPr lang="en-US"/>
          </a:p>
        </p:txBody>
      </p:sp>
      <p:sp>
        <p:nvSpPr>
          <p:cNvPr id="5" name="Shape 3"/>
          <p:cNvSpPr/>
          <p:nvPr/>
        </p:nvSpPr>
        <p:spPr>
          <a:xfrm>
            <a:off x="9235440" y="2697480"/>
            <a:ext cx="1463040" cy="1463040"/>
          </a:xfrm>
          <a:prstGeom prst="ellipse">
            <a:avLst/>
          </a:prstGeom>
          <a:ln w="12700">
            <a:solidFill>
              <a:srgbClr val="223454"/>
            </a:solidFill>
            <a:prstDash val="solid"/>
          </a:ln>
        </p:spPr>
        <p:txBody>
          <a:bodyPr/>
          <a:lstStyle/>
          <a:p>
            <a:endParaRPr lang="en-US"/>
          </a:p>
        </p:txBody>
      </p:sp>
      <p:sp>
        <p:nvSpPr>
          <p:cNvPr id="6" name="Shape 4"/>
          <p:cNvSpPr/>
          <p:nvPr/>
        </p:nvSpPr>
        <p:spPr>
          <a:xfrm>
            <a:off x="9582912" y="3044952"/>
            <a:ext cx="768096" cy="768096"/>
          </a:xfrm>
          <a:prstGeom prst="ellipse">
            <a:avLst/>
          </a:prstGeom>
          <a:solidFill>
            <a:srgbClr val="10203D"/>
          </a:solidFill>
          <a:ln w="15875">
            <a:solidFill>
              <a:srgbClr val="F5B942"/>
            </a:solidFill>
            <a:prstDash val="solid"/>
          </a:ln>
        </p:spPr>
        <p:txBody>
          <a:bodyPr/>
          <a:lstStyle/>
          <a:p>
            <a:endParaRPr lang="en-US"/>
          </a:p>
        </p:txBody>
      </p:sp>
      <p:pic>
        <p:nvPicPr>
          <p:cNvPr id="7" name="Image 0" descr="icons/crosshairs.png"/>
          <p:cNvPicPr>
            <a:picLocks noChangeAspect="1"/>
          </p:cNvPicPr>
          <p:nvPr/>
        </p:nvPicPr>
        <p:blipFill>
          <a:blip r:embed="rId3"/>
          <a:stretch>
            <a:fillRect/>
          </a:stretch>
        </p:blipFill>
        <p:spPr>
          <a:xfrm>
            <a:off x="9675084" y="3137124"/>
            <a:ext cx="583753" cy="583753"/>
          </a:xfrm>
          <a:prstGeom prst="rect">
            <a:avLst/>
          </a:prstGeom>
        </p:spPr>
      </p:pic>
      <p:sp>
        <p:nvSpPr>
          <p:cNvPr id="8" name="Text 5"/>
          <p:cNvSpPr txBox="1"/>
          <p:nvPr/>
        </p:nvSpPr>
        <p:spPr>
          <a:xfrm>
            <a:off x="640080" y="2331720"/>
            <a:ext cx="7772400" cy="1188720"/>
          </a:xfrm>
          <a:prstGeom prst="rect">
            <a:avLst/>
          </a:prstGeom>
          <a:noFill/>
          <a:ln/>
        </p:spPr>
        <p:txBody>
          <a:bodyPr wrap="square" lIns="0" tIns="0" rIns="0" bIns="0" rtlCol="0" anchor="ctr"/>
          <a:lstStyle/>
          <a:p>
            <a:pPr marL="0" indent="0">
              <a:buNone/>
            </a:pPr>
            <a:r>
              <a:rPr lang="en-US" sz="6000" b="1" dirty="0">
                <a:solidFill>
                  <a:srgbClr val="FFFFFF"/>
                </a:solidFill>
                <a:latin typeface="Cambria" pitchFamily="34" charset="0"/>
                <a:ea typeface="Cambria" pitchFamily="34" charset="-122"/>
                <a:cs typeface="Cambria" pitchFamily="34" charset="-120"/>
              </a:rPr>
              <a:t>SHIELD</a:t>
            </a:r>
            <a:endParaRPr lang="en-US" sz="6000" dirty="0"/>
          </a:p>
        </p:txBody>
      </p:sp>
      <p:sp>
        <p:nvSpPr>
          <p:cNvPr id="9" name="Text 6"/>
          <p:cNvSpPr txBox="1"/>
          <p:nvPr/>
        </p:nvSpPr>
        <p:spPr>
          <a:xfrm>
            <a:off x="658368" y="3246120"/>
            <a:ext cx="7589520" cy="548640"/>
          </a:xfrm>
          <a:prstGeom prst="rect">
            <a:avLst/>
          </a:prstGeom>
          <a:noFill/>
          <a:ln/>
        </p:spPr>
        <p:txBody>
          <a:bodyPr wrap="square" lIns="0" tIns="0" rIns="0" bIns="0" rtlCol="0" anchor="ctr"/>
          <a:lstStyle/>
          <a:p>
            <a:pPr marL="0" indent="0">
              <a:buNone/>
            </a:pPr>
            <a:r>
              <a:rPr lang="en-US" sz="1800" dirty="0">
                <a:solidFill>
                  <a:srgbClr val="3DDCC7"/>
                </a:solidFill>
                <a:latin typeface="Calibri" pitchFamily="34" charset="0"/>
                <a:ea typeface="Calibri" pitchFamily="34" charset="-122"/>
                <a:cs typeface="Calibri" pitchFamily="34" charset="-120"/>
              </a:rPr>
              <a:t>System for High-Integrity Elimination of Low-altitude Drones</a:t>
            </a:r>
            <a:endParaRPr lang="en-US" sz="1800" dirty="0"/>
          </a:p>
        </p:txBody>
      </p:sp>
      <p:sp>
        <p:nvSpPr>
          <p:cNvPr id="10" name="Shape 7"/>
          <p:cNvSpPr/>
          <p:nvPr/>
        </p:nvSpPr>
        <p:spPr>
          <a:xfrm>
            <a:off x="658368" y="3886200"/>
            <a:ext cx="502920" cy="41148"/>
          </a:xfrm>
          <a:prstGeom prst="rect">
            <a:avLst/>
          </a:prstGeom>
          <a:solidFill>
            <a:srgbClr val="223454"/>
          </a:solidFill>
          <a:ln/>
        </p:spPr>
        <p:txBody>
          <a:bodyPr/>
          <a:lstStyle/>
          <a:p>
            <a:endParaRPr lang="en-US"/>
          </a:p>
        </p:txBody>
      </p:sp>
      <p:sp>
        <p:nvSpPr>
          <p:cNvPr id="11" name="Text 8"/>
          <p:cNvSpPr txBox="1"/>
          <p:nvPr/>
        </p:nvSpPr>
        <p:spPr>
          <a:xfrm>
            <a:off x="658368" y="4041648"/>
            <a:ext cx="7315200" cy="365760"/>
          </a:xfrm>
          <a:prstGeom prst="rect">
            <a:avLst/>
          </a:prstGeom>
          <a:noFill/>
          <a:ln/>
        </p:spPr>
        <p:txBody>
          <a:bodyPr wrap="square" lIns="0" tIns="0" rIns="0" bIns="0" rtlCol="0" anchor="ctr"/>
          <a:lstStyle/>
          <a:p>
            <a:pPr marL="0" indent="0">
              <a:buNone/>
            </a:pPr>
            <a:r>
              <a:rPr lang="en-US" sz="1500" dirty="0">
                <a:solidFill>
                  <a:srgbClr val="9FB3C8"/>
                </a:solidFill>
                <a:latin typeface="Calibri" pitchFamily="34" charset="0"/>
                <a:ea typeface="Calibri" pitchFamily="34" charset="-122"/>
                <a:cs typeface="Calibri" pitchFamily="34" charset="-120"/>
              </a:rPr>
              <a:t>Software &amp; Autonomy Overview</a:t>
            </a:r>
            <a:endParaRPr lang="en-US" sz="1500" dirty="0"/>
          </a:p>
        </p:txBody>
      </p:sp>
      <p:sp>
        <p:nvSpPr>
          <p:cNvPr id="12" name="Text 9"/>
          <p:cNvSpPr txBox="1"/>
          <p:nvPr/>
        </p:nvSpPr>
        <p:spPr>
          <a:xfrm>
            <a:off x="658368" y="4370832"/>
            <a:ext cx="7315200" cy="365760"/>
          </a:xfrm>
          <a:prstGeom prst="rect">
            <a:avLst/>
          </a:prstGeom>
          <a:noFill/>
          <a:ln/>
        </p:spPr>
        <p:txBody>
          <a:bodyPr wrap="square" lIns="0" tIns="0" rIns="0" bIns="0" rtlCol="0" anchor="ctr"/>
          <a:lstStyle/>
          <a:p>
            <a:pPr marL="0" indent="0">
              <a:buNone/>
            </a:pPr>
            <a:r>
              <a:rPr lang="en-US" sz="1300" i="1" dirty="0">
                <a:solidFill>
                  <a:srgbClr val="7488A3"/>
                </a:solidFill>
                <a:latin typeface="Calibri" pitchFamily="34" charset="0"/>
                <a:ea typeface="Calibri" pitchFamily="34" charset="-122"/>
                <a:cs typeface="Calibri" pitchFamily="34" charset="-120"/>
              </a:rPr>
              <a:t>Software Engineering Capstone — Initial Project Briefing</a:t>
            </a:r>
            <a:endParaRPr lang="en-US" sz="1300" dirty="0"/>
          </a:p>
        </p:txBody>
      </p:sp>
      <p:sp>
        <p:nvSpPr>
          <p:cNvPr id="13" name="Text 10"/>
          <p:cNvSpPr txBox="1"/>
          <p:nvPr/>
        </p:nvSpPr>
        <p:spPr>
          <a:xfrm>
            <a:off x="658368" y="5577840"/>
            <a:ext cx="6400800" cy="822960"/>
          </a:xfrm>
          <a:prstGeom prst="rect">
            <a:avLst/>
          </a:prstGeom>
          <a:noFill/>
          <a:ln/>
        </p:spPr>
        <p:txBody>
          <a:bodyPr wrap="square" lIns="0" tIns="0" rIns="0" bIns="0" rtlCol="0" anchor="ctr"/>
          <a:lstStyle/>
          <a:p>
            <a:pPr marL="0" indent="0">
              <a:lnSpc>
                <a:spcPct val="125000"/>
              </a:lnSpc>
              <a:buNone/>
            </a:pPr>
            <a:r>
              <a:rPr lang="en-US" sz="1300" b="1" dirty="0">
                <a:solidFill>
                  <a:srgbClr val="FFFFFF"/>
                </a:solidFill>
                <a:latin typeface="Calibri" pitchFamily="34" charset="0"/>
                <a:ea typeface="Calibri" pitchFamily="34" charset="-122"/>
                <a:cs typeface="Calibri" pitchFamily="34" charset="-120"/>
              </a:rPr>
              <a:t>Bryson Noble</a:t>
            </a:r>
            <a:endParaRPr lang="en-US" sz="1300" dirty="0"/>
          </a:p>
          <a:p>
            <a:pPr marL="0" indent="0">
              <a:lnSpc>
                <a:spcPct val="125000"/>
              </a:lnSpc>
              <a:buNone/>
            </a:pPr>
            <a:r>
              <a:rPr lang="en-US" sz="1300" dirty="0">
                <a:solidFill>
                  <a:srgbClr val="9FB3C8"/>
                </a:solidFill>
                <a:latin typeface="Calibri" pitchFamily="34" charset="0"/>
                <a:ea typeface="Calibri" pitchFamily="34" charset="-122"/>
                <a:cs typeface="Calibri" pitchFamily="34" charset="-120"/>
              </a:rPr>
              <a:t>Software Engineering Lead, Team SHIELD</a:t>
            </a:r>
            <a:endParaRPr lang="en-US" sz="1300" dirty="0"/>
          </a:p>
          <a:p>
            <a:pPr marL="0" indent="0">
              <a:lnSpc>
                <a:spcPct val="125000"/>
              </a:lnSpc>
              <a:buNone/>
            </a:pPr>
            <a:r>
              <a:rPr lang="en-US" sz="1300" dirty="0">
                <a:solidFill>
                  <a:srgbClr val="7488A3"/>
                </a:solidFill>
                <a:latin typeface="Calibri" pitchFamily="34" charset="0"/>
                <a:ea typeface="Calibri" pitchFamily="34" charset="-122"/>
                <a:cs typeface="Calibri" pitchFamily="34" charset="-120"/>
              </a:rPr>
              <a:t>Florida Institute of Technology  |  Fall 2026</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B1730"/>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9144000" cy="292608"/>
          </a:xfrm>
          <a:prstGeom prst="rect">
            <a:avLst/>
          </a:prstGeom>
          <a:noFill/>
          <a:ln/>
        </p:spPr>
        <p:txBody>
          <a:bodyPr wrap="square" lIns="0" tIns="0" rIns="0" bIns="0" rtlCol="0" anchor="ctr"/>
          <a:lstStyle/>
          <a:p>
            <a:pPr marL="0" indent="0">
              <a:buNone/>
            </a:pPr>
            <a:r>
              <a:rPr lang="en-US" sz="1300" b="1" kern="0" spc="200" dirty="0">
                <a:solidFill>
                  <a:srgbClr val="3DDCC7"/>
                </a:solidFill>
                <a:latin typeface="Calibri" pitchFamily="34" charset="0"/>
                <a:ea typeface="Calibri" pitchFamily="34" charset="-122"/>
                <a:cs typeface="Calibri" pitchFamily="34" charset="-120"/>
              </a:rPr>
              <a:t>THE PROBLEM</a:t>
            </a:r>
            <a:endParaRPr lang="en-US" sz="1300" dirty="0"/>
          </a:p>
        </p:txBody>
      </p:sp>
      <p:sp>
        <p:nvSpPr>
          <p:cNvPr id="3" name="Text 1"/>
          <p:cNvSpPr txBox="1"/>
          <p:nvPr/>
        </p:nvSpPr>
        <p:spPr>
          <a:xfrm>
            <a:off x="548640" y="658368"/>
            <a:ext cx="10515600" cy="731520"/>
          </a:xfrm>
          <a:prstGeom prst="rect">
            <a:avLst/>
          </a:prstGeom>
          <a:noFill/>
          <a:ln/>
        </p:spPr>
        <p:txBody>
          <a:bodyPr wrap="square" lIns="0" tIns="0" rIns="0" bIns="0" rtlCol="0" anchor="ctr"/>
          <a:lstStyle/>
          <a:p>
            <a:pPr marL="0" indent="0">
              <a:buNone/>
            </a:pPr>
            <a:r>
              <a:rPr lang="en-US" sz="3200" b="1" dirty="0">
                <a:solidFill>
                  <a:srgbClr val="FFFFFF"/>
                </a:solidFill>
                <a:latin typeface="Cambria" pitchFamily="34" charset="0"/>
                <a:ea typeface="Cambria" pitchFamily="34" charset="-122"/>
                <a:cs typeface="Cambria" pitchFamily="34" charset="-120"/>
              </a:rPr>
              <a:t>Small drones are outrunning manual defenses</a:t>
            </a:r>
            <a:endParaRPr lang="en-US" sz="3200" dirty="0"/>
          </a:p>
        </p:txBody>
      </p:sp>
      <p:sp>
        <p:nvSpPr>
          <p:cNvPr id="4" name="Text 2"/>
          <p:cNvSpPr txBox="1"/>
          <p:nvPr/>
        </p:nvSpPr>
        <p:spPr>
          <a:xfrm>
            <a:off x="11475720" y="6510528"/>
            <a:ext cx="548640" cy="274320"/>
          </a:xfrm>
          <a:prstGeom prst="rect">
            <a:avLst/>
          </a:prstGeom>
          <a:noFill/>
          <a:ln/>
        </p:spPr>
        <p:txBody>
          <a:bodyPr wrap="square" lIns="0" tIns="0" rIns="0" bIns="0" rtlCol="0" anchor="ctr"/>
          <a:lstStyle/>
          <a:p>
            <a:pPr marL="0" indent="0" algn="r">
              <a:buNone/>
            </a:pPr>
            <a:r>
              <a:rPr lang="en-US" sz="900" dirty="0">
                <a:solidFill>
                  <a:srgbClr val="7488A3"/>
                </a:solidFill>
                <a:latin typeface="Calibri" pitchFamily="34" charset="0"/>
                <a:ea typeface="Calibri" pitchFamily="34" charset="-122"/>
                <a:cs typeface="Calibri" pitchFamily="34" charset="-120"/>
              </a:rPr>
              <a:t>2 / 14</a:t>
            </a:r>
            <a:endParaRPr lang="en-US" sz="900" dirty="0"/>
          </a:p>
        </p:txBody>
      </p:sp>
      <p:sp>
        <p:nvSpPr>
          <p:cNvPr id="5" name="Text 3"/>
          <p:cNvSpPr txBox="1"/>
          <p:nvPr/>
        </p:nvSpPr>
        <p:spPr>
          <a:xfrm>
            <a:off x="457200" y="6510528"/>
            <a:ext cx="5486400" cy="274320"/>
          </a:xfrm>
          <a:prstGeom prst="rect">
            <a:avLst/>
          </a:prstGeom>
          <a:noFill/>
          <a:ln/>
        </p:spPr>
        <p:txBody>
          <a:bodyPr wrap="square" lIns="0" tIns="0" rIns="0" bIns="0" rtlCol="0" anchor="ctr"/>
          <a:lstStyle/>
          <a:p>
            <a:pPr marL="0" indent="0" algn="l">
              <a:buNone/>
            </a:pPr>
            <a:r>
              <a:rPr lang="en-US" sz="900" dirty="0">
                <a:solidFill>
                  <a:srgbClr val="7488A3"/>
                </a:solidFill>
                <a:latin typeface="Calibri" pitchFamily="34" charset="0"/>
                <a:ea typeface="Calibri" pitchFamily="34" charset="-122"/>
                <a:cs typeface="Calibri" pitchFamily="34" charset="-120"/>
              </a:rPr>
              <a:t>SHIELD — Software &amp; Autonomy Overview</a:t>
            </a:r>
            <a:endParaRPr lang="en-US" sz="900" dirty="0"/>
          </a:p>
        </p:txBody>
      </p:sp>
      <p:sp>
        <p:nvSpPr>
          <p:cNvPr id="6" name="Shape 4"/>
          <p:cNvSpPr/>
          <p:nvPr/>
        </p:nvSpPr>
        <p:spPr>
          <a:xfrm>
            <a:off x="548640" y="1874520"/>
            <a:ext cx="3310128" cy="3566160"/>
          </a:xfrm>
          <a:prstGeom prst="roundRect">
            <a:avLst>
              <a:gd name="adj" fmla="val 2486"/>
            </a:avLst>
          </a:prstGeom>
          <a:solidFill>
            <a:srgbClr val="10203D"/>
          </a:solidFill>
          <a:ln/>
        </p:spPr>
        <p:txBody>
          <a:bodyPr/>
          <a:lstStyle/>
          <a:p>
            <a:endParaRPr lang="en-US"/>
          </a:p>
        </p:txBody>
      </p:sp>
      <p:sp>
        <p:nvSpPr>
          <p:cNvPr id="7" name="Shape 5"/>
          <p:cNvSpPr/>
          <p:nvPr/>
        </p:nvSpPr>
        <p:spPr>
          <a:xfrm>
            <a:off x="841248" y="2185416"/>
            <a:ext cx="566928" cy="566928"/>
          </a:xfrm>
          <a:prstGeom prst="ellipse">
            <a:avLst/>
          </a:prstGeom>
          <a:solidFill>
            <a:srgbClr val="16294A"/>
          </a:solidFill>
          <a:ln w="15875">
            <a:solidFill>
              <a:srgbClr val="F5B942"/>
            </a:solidFill>
            <a:prstDash val="solid"/>
          </a:ln>
        </p:spPr>
        <p:txBody>
          <a:bodyPr/>
          <a:lstStyle/>
          <a:p>
            <a:endParaRPr lang="en-US"/>
          </a:p>
        </p:txBody>
      </p:sp>
      <p:pic>
        <p:nvPicPr>
          <p:cNvPr id="8" name="Image 0" descr="icons/warning.png"/>
          <p:cNvPicPr>
            <a:picLocks noChangeAspect="1"/>
          </p:cNvPicPr>
          <p:nvPr/>
        </p:nvPicPr>
        <p:blipFill>
          <a:blip r:embed="rId3"/>
          <a:stretch>
            <a:fillRect/>
          </a:stretch>
        </p:blipFill>
        <p:spPr>
          <a:xfrm>
            <a:off x="889895" y="2229491"/>
            <a:ext cx="430865" cy="430865"/>
          </a:xfrm>
          <a:prstGeom prst="rect">
            <a:avLst/>
          </a:prstGeom>
        </p:spPr>
      </p:pic>
      <p:sp>
        <p:nvSpPr>
          <p:cNvPr id="9" name="Text 6"/>
          <p:cNvSpPr txBox="1"/>
          <p:nvPr/>
        </p:nvSpPr>
        <p:spPr>
          <a:xfrm>
            <a:off x="841248" y="2926080"/>
            <a:ext cx="2724912" cy="548640"/>
          </a:xfrm>
          <a:prstGeom prst="rect">
            <a:avLst/>
          </a:prstGeom>
          <a:noFill/>
          <a:ln/>
        </p:spPr>
        <p:txBody>
          <a:bodyPr wrap="square" lIns="0" tIns="0" rIns="0" bIns="0" rtlCol="0" anchor="ctr"/>
          <a:lstStyle/>
          <a:p>
            <a:pPr marL="0" indent="0">
              <a:buNone/>
            </a:pPr>
            <a:r>
              <a:rPr lang="en-US" sz="1700" b="1" dirty="0">
                <a:solidFill>
                  <a:srgbClr val="FFFFFF"/>
                </a:solidFill>
                <a:latin typeface="Cambria" pitchFamily="34" charset="0"/>
                <a:ea typeface="Cambria" pitchFamily="34" charset="-122"/>
                <a:cs typeface="Cambria" pitchFamily="34" charset="-120"/>
              </a:rPr>
              <a:t>Growing threat</a:t>
            </a:r>
            <a:endParaRPr lang="en-US" sz="1700" dirty="0"/>
          </a:p>
        </p:txBody>
      </p:sp>
      <p:sp>
        <p:nvSpPr>
          <p:cNvPr id="10" name="Text 7"/>
          <p:cNvSpPr txBox="1"/>
          <p:nvPr/>
        </p:nvSpPr>
        <p:spPr>
          <a:xfrm>
            <a:off x="841248" y="3474720"/>
            <a:ext cx="2724912" cy="1737360"/>
          </a:xfrm>
          <a:prstGeom prst="rect">
            <a:avLst/>
          </a:prstGeom>
          <a:noFill/>
          <a:ln/>
        </p:spPr>
        <p:txBody>
          <a:bodyPr wrap="square" lIns="0" tIns="0" rIns="0" bIns="0" rtlCol="0" anchor="ctr"/>
          <a:lstStyle/>
          <a:p>
            <a:pPr marL="0" indent="0">
              <a:lnSpc>
                <a:spcPct val="125000"/>
              </a:lnSpc>
              <a:buNone/>
            </a:pPr>
            <a:r>
              <a:rPr lang="en-US" sz="1300" dirty="0">
                <a:solidFill>
                  <a:srgbClr val="9FB3C8"/>
                </a:solidFill>
                <a:latin typeface="Calibri" pitchFamily="34" charset="0"/>
                <a:ea typeface="Calibri" pitchFamily="34" charset="-122"/>
                <a:cs typeface="Calibri" pitchFamily="34" charset="-120"/>
              </a:rPr>
              <a:t>Unauthorized low-altitude drones can surveil, disrupt, or endanger sensitive areas with little warning.</a:t>
            </a:r>
            <a:endParaRPr lang="en-US" sz="1300" dirty="0"/>
          </a:p>
        </p:txBody>
      </p:sp>
      <p:sp>
        <p:nvSpPr>
          <p:cNvPr id="11" name="Shape 8"/>
          <p:cNvSpPr/>
          <p:nvPr/>
        </p:nvSpPr>
        <p:spPr>
          <a:xfrm>
            <a:off x="4114800" y="1874520"/>
            <a:ext cx="3310128" cy="3566160"/>
          </a:xfrm>
          <a:prstGeom prst="roundRect">
            <a:avLst>
              <a:gd name="adj" fmla="val 2486"/>
            </a:avLst>
          </a:prstGeom>
          <a:solidFill>
            <a:srgbClr val="10203D"/>
          </a:solidFill>
          <a:ln/>
        </p:spPr>
        <p:txBody>
          <a:bodyPr/>
          <a:lstStyle/>
          <a:p>
            <a:endParaRPr lang="en-US"/>
          </a:p>
        </p:txBody>
      </p:sp>
      <p:sp>
        <p:nvSpPr>
          <p:cNvPr id="12" name="Shape 9"/>
          <p:cNvSpPr/>
          <p:nvPr/>
        </p:nvSpPr>
        <p:spPr>
          <a:xfrm>
            <a:off x="4407408" y="2185416"/>
            <a:ext cx="566928" cy="566928"/>
          </a:xfrm>
          <a:prstGeom prst="ellipse">
            <a:avLst/>
          </a:prstGeom>
          <a:solidFill>
            <a:srgbClr val="16294A"/>
          </a:solidFill>
          <a:ln w="15875">
            <a:solidFill>
              <a:srgbClr val="F5B942"/>
            </a:solidFill>
            <a:prstDash val="solid"/>
          </a:ln>
        </p:spPr>
        <p:txBody>
          <a:bodyPr/>
          <a:lstStyle/>
          <a:p>
            <a:endParaRPr lang="en-US"/>
          </a:p>
        </p:txBody>
      </p:sp>
      <p:pic>
        <p:nvPicPr>
          <p:cNvPr id="13" name="Image 1" descr="icons/user.png"/>
          <p:cNvPicPr>
            <a:picLocks noChangeAspect="1"/>
          </p:cNvPicPr>
          <p:nvPr/>
        </p:nvPicPr>
        <p:blipFill>
          <a:blip r:embed="rId4"/>
          <a:stretch>
            <a:fillRect/>
          </a:stretch>
        </p:blipFill>
        <p:spPr>
          <a:xfrm>
            <a:off x="4499931" y="2244303"/>
            <a:ext cx="430865" cy="430865"/>
          </a:xfrm>
          <a:prstGeom prst="rect">
            <a:avLst/>
          </a:prstGeom>
        </p:spPr>
      </p:pic>
      <p:sp>
        <p:nvSpPr>
          <p:cNvPr id="14" name="Text 10"/>
          <p:cNvSpPr txBox="1"/>
          <p:nvPr/>
        </p:nvSpPr>
        <p:spPr>
          <a:xfrm>
            <a:off x="4407408" y="2926080"/>
            <a:ext cx="2724912" cy="548640"/>
          </a:xfrm>
          <a:prstGeom prst="rect">
            <a:avLst/>
          </a:prstGeom>
          <a:noFill/>
          <a:ln/>
        </p:spPr>
        <p:txBody>
          <a:bodyPr wrap="square" lIns="0" tIns="0" rIns="0" bIns="0" rtlCol="0" anchor="ctr"/>
          <a:lstStyle/>
          <a:p>
            <a:pPr marL="0" indent="0">
              <a:buNone/>
            </a:pPr>
            <a:r>
              <a:rPr lang="en-US" sz="1700" b="1" dirty="0">
                <a:solidFill>
                  <a:srgbClr val="FFFFFF"/>
                </a:solidFill>
                <a:latin typeface="Cambria" pitchFamily="34" charset="0"/>
                <a:ea typeface="Cambria" pitchFamily="34" charset="-122"/>
                <a:cs typeface="Cambria" pitchFamily="34" charset="-120"/>
              </a:rPr>
              <a:t>Operators are the bottleneck</a:t>
            </a:r>
            <a:endParaRPr lang="en-US" sz="1700" dirty="0"/>
          </a:p>
        </p:txBody>
      </p:sp>
      <p:sp>
        <p:nvSpPr>
          <p:cNvPr id="15" name="Text 11"/>
          <p:cNvSpPr txBox="1"/>
          <p:nvPr/>
        </p:nvSpPr>
        <p:spPr>
          <a:xfrm>
            <a:off x="4407408" y="3474720"/>
            <a:ext cx="2724912" cy="1737360"/>
          </a:xfrm>
          <a:prstGeom prst="rect">
            <a:avLst/>
          </a:prstGeom>
          <a:noFill/>
          <a:ln/>
        </p:spPr>
        <p:txBody>
          <a:bodyPr wrap="square" lIns="0" tIns="0" rIns="0" bIns="0" rtlCol="0" anchor="ctr"/>
          <a:lstStyle/>
          <a:p>
            <a:pPr marL="0" indent="0">
              <a:lnSpc>
                <a:spcPct val="125000"/>
              </a:lnSpc>
              <a:buNone/>
            </a:pPr>
            <a:r>
              <a:rPr lang="en-US" sz="1300" dirty="0">
                <a:solidFill>
                  <a:srgbClr val="9FB3C8"/>
                </a:solidFill>
                <a:latin typeface="Calibri" pitchFamily="34" charset="0"/>
                <a:ea typeface="Calibri" pitchFamily="34" charset="-122"/>
                <a:cs typeface="Calibri" pitchFamily="34" charset="-120"/>
              </a:rPr>
              <a:t>Manual detection and engagement is slow, workload-heavy, and depends on a human staying in the loop.</a:t>
            </a:r>
            <a:endParaRPr lang="en-US" sz="1300" dirty="0"/>
          </a:p>
        </p:txBody>
      </p:sp>
      <p:sp>
        <p:nvSpPr>
          <p:cNvPr id="16" name="Shape 12"/>
          <p:cNvSpPr/>
          <p:nvPr/>
        </p:nvSpPr>
        <p:spPr>
          <a:xfrm>
            <a:off x="7680960" y="1874520"/>
            <a:ext cx="3310128" cy="3566160"/>
          </a:xfrm>
          <a:prstGeom prst="roundRect">
            <a:avLst>
              <a:gd name="adj" fmla="val 2486"/>
            </a:avLst>
          </a:prstGeom>
          <a:solidFill>
            <a:srgbClr val="10203D"/>
          </a:solidFill>
          <a:ln/>
        </p:spPr>
        <p:txBody>
          <a:bodyPr/>
          <a:lstStyle/>
          <a:p>
            <a:endParaRPr lang="en-US"/>
          </a:p>
        </p:txBody>
      </p:sp>
      <p:sp>
        <p:nvSpPr>
          <p:cNvPr id="17" name="Shape 13"/>
          <p:cNvSpPr/>
          <p:nvPr/>
        </p:nvSpPr>
        <p:spPr>
          <a:xfrm>
            <a:off x="7973568" y="2185416"/>
            <a:ext cx="566928" cy="566928"/>
          </a:xfrm>
          <a:prstGeom prst="ellipse">
            <a:avLst/>
          </a:prstGeom>
          <a:solidFill>
            <a:srgbClr val="16294A"/>
          </a:solidFill>
          <a:ln w="15875">
            <a:solidFill>
              <a:srgbClr val="F5B942"/>
            </a:solidFill>
            <a:prstDash val="solid"/>
          </a:ln>
        </p:spPr>
        <p:txBody>
          <a:bodyPr/>
          <a:lstStyle/>
          <a:p>
            <a:endParaRPr lang="en-US"/>
          </a:p>
        </p:txBody>
      </p:sp>
      <p:pic>
        <p:nvPicPr>
          <p:cNvPr id="18" name="Image 2" descr="icons/route.png"/>
          <p:cNvPicPr>
            <a:picLocks noChangeAspect="1"/>
          </p:cNvPicPr>
          <p:nvPr/>
        </p:nvPicPr>
        <p:blipFill>
          <a:blip r:embed="rId5"/>
          <a:stretch>
            <a:fillRect/>
          </a:stretch>
        </p:blipFill>
        <p:spPr>
          <a:xfrm>
            <a:off x="8033435" y="2253447"/>
            <a:ext cx="430865" cy="430865"/>
          </a:xfrm>
          <a:prstGeom prst="rect">
            <a:avLst/>
          </a:prstGeom>
        </p:spPr>
      </p:pic>
      <p:sp>
        <p:nvSpPr>
          <p:cNvPr id="19" name="Text 14"/>
          <p:cNvSpPr txBox="1"/>
          <p:nvPr/>
        </p:nvSpPr>
        <p:spPr>
          <a:xfrm>
            <a:off x="7973568" y="2926080"/>
            <a:ext cx="2724912" cy="548640"/>
          </a:xfrm>
          <a:prstGeom prst="rect">
            <a:avLst/>
          </a:prstGeom>
          <a:noFill/>
          <a:ln/>
        </p:spPr>
        <p:txBody>
          <a:bodyPr wrap="square" lIns="0" tIns="0" rIns="0" bIns="0" rtlCol="0" anchor="ctr"/>
          <a:lstStyle/>
          <a:p>
            <a:pPr marL="0" indent="0">
              <a:buNone/>
            </a:pPr>
            <a:r>
              <a:rPr lang="en-US" sz="1700" b="1" dirty="0">
                <a:solidFill>
                  <a:srgbClr val="FFFFFF"/>
                </a:solidFill>
                <a:latin typeface="Cambria" pitchFamily="34" charset="0"/>
                <a:ea typeface="Cambria" pitchFamily="34" charset="-122"/>
                <a:cs typeface="Cambria" pitchFamily="34" charset="-120"/>
              </a:rPr>
              <a:t>Remote links are a weakness</a:t>
            </a:r>
            <a:endParaRPr lang="en-US" sz="1700" dirty="0"/>
          </a:p>
        </p:txBody>
      </p:sp>
      <p:sp>
        <p:nvSpPr>
          <p:cNvPr id="20" name="Text 15"/>
          <p:cNvSpPr txBox="1"/>
          <p:nvPr/>
        </p:nvSpPr>
        <p:spPr>
          <a:xfrm>
            <a:off x="7973568" y="3474720"/>
            <a:ext cx="2724912" cy="1737360"/>
          </a:xfrm>
          <a:prstGeom prst="rect">
            <a:avLst/>
          </a:prstGeom>
          <a:noFill/>
          <a:ln/>
        </p:spPr>
        <p:txBody>
          <a:bodyPr wrap="square" lIns="0" tIns="0" rIns="0" bIns="0" rtlCol="0" anchor="ctr"/>
          <a:lstStyle/>
          <a:p>
            <a:pPr marL="0" indent="0">
              <a:lnSpc>
                <a:spcPct val="125000"/>
              </a:lnSpc>
              <a:buNone/>
            </a:pPr>
            <a:r>
              <a:rPr lang="en-US" sz="1300" dirty="0">
                <a:solidFill>
                  <a:srgbClr val="9FB3C8"/>
                </a:solidFill>
                <a:latin typeface="Calibri" pitchFamily="34" charset="0"/>
                <a:ea typeface="Calibri" pitchFamily="34" charset="-122"/>
                <a:cs typeface="Calibri" pitchFamily="34" charset="-120"/>
              </a:rPr>
              <a:t>Any system that must stay connected to a ground controller during pursuit can be jammed or hijacked mid-engagement.</a:t>
            </a:r>
            <a:endParaRPr lang="en-US" sz="1300" dirty="0"/>
          </a:p>
        </p:txBody>
      </p:sp>
      <p:sp>
        <p:nvSpPr>
          <p:cNvPr id="21" name="Text 16"/>
          <p:cNvSpPr txBox="1"/>
          <p:nvPr/>
        </p:nvSpPr>
        <p:spPr>
          <a:xfrm>
            <a:off x="548640" y="5623560"/>
            <a:ext cx="11064240" cy="640080"/>
          </a:xfrm>
          <a:prstGeom prst="rect">
            <a:avLst/>
          </a:prstGeom>
          <a:noFill/>
          <a:ln/>
        </p:spPr>
        <p:txBody>
          <a:bodyPr wrap="square" lIns="0" tIns="0" rIns="0" bIns="0" rtlCol="0" anchor="ctr"/>
          <a:lstStyle/>
          <a:p>
            <a:pPr marL="0" indent="0">
              <a:buNone/>
            </a:pPr>
            <a:r>
              <a:rPr lang="en-US" sz="1400" i="1" dirty="0">
                <a:solidFill>
                  <a:srgbClr val="3DDCC7"/>
                </a:solidFill>
                <a:latin typeface="Calibri" pitchFamily="34" charset="0"/>
                <a:ea typeface="Calibri" pitchFamily="34" charset="-122"/>
                <a:cs typeface="Calibri" pitchFamily="34" charset="-120"/>
              </a:rPr>
              <a:t>SHIELD is being built to close this gap: onboard sensing and computing that can detect, track, and intercept a target without waiting on a human or a radio link.</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B1730"/>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9144000" cy="292608"/>
          </a:xfrm>
          <a:prstGeom prst="rect">
            <a:avLst/>
          </a:prstGeom>
          <a:noFill/>
          <a:ln/>
        </p:spPr>
        <p:txBody>
          <a:bodyPr wrap="square" lIns="0" tIns="0" rIns="0" bIns="0" rtlCol="0" anchor="ctr"/>
          <a:lstStyle/>
          <a:p>
            <a:pPr marL="0" indent="0">
              <a:buNone/>
            </a:pPr>
            <a:r>
              <a:rPr lang="en-US" sz="1300" b="1" kern="0" spc="200" dirty="0">
                <a:solidFill>
                  <a:srgbClr val="3DDCC7"/>
                </a:solidFill>
                <a:latin typeface="Calibri" pitchFamily="34" charset="0"/>
                <a:ea typeface="Calibri" pitchFamily="34" charset="-122"/>
                <a:cs typeface="Calibri" pitchFamily="34" charset="-120"/>
              </a:rPr>
              <a:t>PROJECT OVERVIEW</a:t>
            </a:r>
            <a:endParaRPr lang="en-US" sz="1300" dirty="0"/>
          </a:p>
        </p:txBody>
      </p:sp>
      <p:sp>
        <p:nvSpPr>
          <p:cNvPr id="3" name="Text 1"/>
          <p:cNvSpPr txBox="1"/>
          <p:nvPr/>
        </p:nvSpPr>
        <p:spPr>
          <a:xfrm>
            <a:off x="548640" y="658368"/>
            <a:ext cx="10515600" cy="731520"/>
          </a:xfrm>
          <a:prstGeom prst="rect">
            <a:avLst/>
          </a:prstGeom>
          <a:noFill/>
          <a:ln/>
        </p:spPr>
        <p:txBody>
          <a:bodyPr wrap="square" lIns="0" tIns="0" rIns="0" bIns="0" rtlCol="0" anchor="ctr"/>
          <a:lstStyle/>
          <a:p>
            <a:pPr marL="0" indent="0">
              <a:buNone/>
            </a:pPr>
            <a:r>
              <a:rPr lang="en-US" sz="3200" b="1" dirty="0">
                <a:solidFill>
                  <a:srgbClr val="FFFFFF"/>
                </a:solidFill>
                <a:latin typeface="Cambria" pitchFamily="34" charset="0"/>
                <a:ea typeface="Cambria" pitchFamily="34" charset="-122"/>
                <a:cs typeface="Cambria" pitchFamily="34" charset="-120"/>
              </a:rPr>
              <a:t>What SHIELD does</a:t>
            </a:r>
            <a:endParaRPr lang="en-US" sz="3200" dirty="0"/>
          </a:p>
        </p:txBody>
      </p:sp>
      <p:sp>
        <p:nvSpPr>
          <p:cNvPr id="4" name="Text 2"/>
          <p:cNvSpPr txBox="1"/>
          <p:nvPr/>
        </p:nvSpPr>
        <p:spPr>
          <a:xfrm>
            <a:off x="11475720" y="6510528"/>
            <a:ext cx="548640" cy="274320"/>
          </a:xfrm>
          <a:prstGeom prst="rect">
            <a:avLst/>
          </a:prstGeom>
          <a:noFill/>
          <a:ln/>
        </p:spPr>
        <p:txBody>
          <a:bodyPr wrap="square" lIns="0" tIns="0" rIns="0" bIns="0" rtlCol="0" anchor="ctr"/>
          <a:lstStyle/>
          <a:p>
            <a:pPr marL="0" indent="0" algn="r">
              <a:buNone/>
            </a:pPr>
            <a:r>
              <a:rPr lang="en-US" sz="900" dirty="0">
                <a:solidFill>
                  <a:srgbClr val="7488A3"/>
                </a:solidFill>
                <a:latin typeface="Calibri" pitchFamily="34" charset="0"/>
                <a:ea typeface="Calibri" pitchFamily="34" charset="-122"/>
                <a:cs typeface="Calibri" pitchFamily="34" charset="-120"/>
              </a:rPr>
              <a:t>3 / 14</a:t>
            </a:r>
            <a:endParaRPr lang="en-US" sz="900" dirty="0"/>
          </a:p>
        </p:txBody>
      </p:sp>
      <p:sp>
        <p:nvSpPr>
          <p:cNvPr id="5" name="Text 3"/>
          <p:cNvSpPr txBox="1"/>
          <p:nvPr/>
        </p:nvSpPr>
        <p:spPr>
          <a:xfrm>
            <a:off x="457200" y="6510528"/>
            <a:ext cx="5486400" cy="274320"/>
          </a:xfrm>
          <a:prstGeom prst="rect">
            <a:avLst/>
          </a:prstGeom>
          <a:noFill/>
          <a:ln/>
        </p:spPr>
        <p:txBody>
          <a:bodyPr wrap="square" lIns="0" tIns="0" rIns="0" bIns="0" rtlCol="0" anchor="ctr"/>
          <a:lstStyle/>
          <a:p>
            <a:pPr marL="0" indent="0" algn="l">
              <a:buNone/>
            </a:pPr>
            <a:r>
              <a:rPr lang="en-US" sz="900" dirty="0">
                <a:solidFill>
                  <a:srgbClr val="7488A3"/>
                </a:solidFill>
                <a:latin typeface="Calibri" pitchFamily="34" charset="0"/>
                <a:ea typeface="Calibri" pitchFamily="34" charset="-122"/>
                <a:cs typeface="Calibri" pitchFamily="34" charset="-120"/>
              </a:rPr>
              <a:t>SHIELD — Software &amp; Autonomy Overview</a:t>
            </a:r>
            <a:endParaRPr lang="en-US" sz="900" dirty="0"/>
          </a:p>
        </p:txBody>
      </p:sp>
      <p:sp>
        <p:nvSpPr>
          <p:cNvPr id="6" name="Text 4"/>
          <p:cNvSpPr txBox="1"/>
          <p:nvPr/>
        </p:nvSpPr>
        <p:spPr>
          <a:xfrm>
            <a:off x="548640" y="1554480"/>
            <a:ext cx="6400800" cy="1463040"/>
          </a:xfrm>
          <a:prstGeom prst="rect">
            <a:avLst/>
          </a:prstGeom>
          <a:noFill/>
          <a:ln/>
        </p:spPr>
        <p:txBody>
          <a:bodyPr wrap="square" lIns="0" tIns="0" rIns="0" bIns="0" rtlCol="0" anchor="ctr"/>
          <a:lstStyle/>
          <a:p>
            <a:pPr marL="0" indent="0">
              <a:lnSpc>
                <a:spcPct val="130000"/>
              </a:lnSpc>
              <a:buNone/>
            </a:pPr>
            <a:r>
              <a:rPr lang="en-US" sz="1500" dirty="0">
                <a:solidFill>
                  <a:srgbClr val="9FB3C8"/>
                </a:solidFill>
                <a:latin typeface="Calibri" pitchFamily="34" charset="0"/>
                <a:ea typeface="Calibri" pitchFamily="34" charset="-122"/>
                <a:cs typeface="Calibri" pitchFamily="34" charset="-120"/>
              </a:rPr>
              <a:t>A capstone counter-UAS platform that detects and tracks small, low-altitude aerial targets using onboard sensing and computing, then — once an operator approves engagement — intercepts them on its own.</a:t>
            </a:r>
            <a:endParaRPr lang="en-US" sz="1500" dirty="0"/>
          </a:p>
        </p:txBody>
      </p:sp>
      <p:sp>
        <p:nvSpPr>
          <p:cNvPr id="7" name="Shape 5"/>
          <p:cNvSpPr/>
          <p:nvPr/>
        </p:nvSpPr>
        <p:spPr>
          <a:xfrm>
            <a:off x="566928" y="3255264"/>
            <a:ext cx="109728" cy="109728"/>
          </a:xfrm>
          <a:prstGeom prst="ellipse">
            <a:avLst/>
          </a:prstGeom>
          <a:solidFill>
            <a:srgbClr val="3DDCC7"/>
          </a:solidFill>
          <a:ln/>
        </p:spPr>
        <p:txBody>
          <a:bodyPr/>
          <a:lstStyle/>
          <a:p>
            <a:endParaRPr lang="en-US"/>
          </a:p>
        </p:txBody>
      </p:sp>
      <p:sp>
        <p:nvSpPr>
          <p:cNvPr id="8" name="Text 6"/>
          <p:cNvSpPr txBox="1"/>
          <p:nvPr/>
        </p:nvSpPr>
        <p:spPr>
          <a:xfrm>
            <a:off x="841248" y="3108960"/>
            <a:ext cx="6035040" cy="411480"/>
          </a:xfrm>
          <a:prstGeom prst="rect">
            <a:avLst/>
          </a:prstGeom>
          <a:noFill/>
          <a:ln/>
        </p:spPr>
        <p:txBody>
          <a:bodyPr wrap="square" lIns="0" tIns="0" rIns="0" bIns="0" rtlCol="0" anchor="ctr"/>
          <a:lstStyle/>
          <a:p>
            <a:pPr marL="0" indent="0">
              <a:buNone/>
            </a:pPr>
            <a:r>
              <a:rPr lang="en-US" sz="1350" dirty="0">
                <a:solidFill>
                  <a:srgbClr val="FFFFFF"/>
                </a:solidFill>
                <a:latin typeface="Calibri" pitchFamily="34" charset="0"/>
                <a:ea typeface="Calibri" pitchFamily="34" charset="-122"/>
                <a:cs typeface="Calibri" pitchFamily="34" charset="-120"/>
              </a:rPr>
              <a:t>Detect and track aerial targets in real time, onboard</a:t>
            </a:r>
            <a:endParaRPr lang="en-US" sz="1350" dirty="0"/>
          </a:p>
        </p:txBody>
      </p:sp>
      <p:sp>
        <p:nvSpPr>
          <p:cNvPr id="9" name="Shape 7"/>
          <p:cNvSpPr/>
          <p:nvPr/>
        </p:nvSpPr>
        <p:spPr>
          <a:xfrm>
            <a:off x="566928" y="3730752"/>
            <a:ext cx="109728" cy="109728"/>
          </a:xfrm>
          <a:prstGeom prst="ellipse">
            <a:avLst/>
          </a:prstGeom>
          <a:solidFill>
            <a:srgbClr val="3DDCC7"/>
          </a:solidFill>
          <a:ln/>
        </p:spPr>
        <p:txBody>
          <a:bodyPr/>
          <a:lstStyle/>
          <a:p>
            <a:endParaRPr lang="en-US"/>
          </a:p>
        </p:txBody>
      </p:sp>
      <p:sp>
        <p:nvSpPr>
          <p:cNvPr id="10" name="Text 8"/>
          <p:cNvSpPr txBox="1"/>
          <p:nvPr/>
        </p:nvSpPr>
        <p:spPr>
          <a:xfrm>
            <a:off x="841248" y="3584448"/>
            <a:ext cx="6035040" cy="411480"/>
          </a:xfrm>
          <a:prstGeom prst="rect">
            <a:avLst/>
          </a:prstGeom>
          <a:noFill/>
          <a:ln/>
        </p:spPr>
        <p:txBody>
          <a:bodyPr wrap="square" lIns="0" tIns="0" rIns="0" bIns="0" rtlCol="0" anchor="ctr"/>
          <a:lstStyle/>
          <a:p>
            <a:pPr marL="0" indent="0">
              <a:buNone/>
            </a:pPr>
            <a:r>
              <a:rPr lang="en-US" sz="1350" dirty="0">
                <a:solidFill>
                  <a:srgbClr val="FFFFFF"/>
                </a:solidFill>
                <a:latin typeface="Calibri" pitchFamily="34" charset="0"/>
                <a:ea typeface="Calibri" pitchFamily="34" charset="-122"/>
                <a:cs typeface="Calibri" pitchFamily="34" charset="-120"/>
              </a:rPr>
              <a:t>Intercept the target within 20 meters</a:t>
            </a:r>
            <a:endParaRPr lang="en-US" sz="1350" dirty="0"/>
          </a:p>
        </p:txBody>
      </p:sp>
      <p:sp>
        <p:nvSpPr>
          <p:cNvPr id="11" name="Shape 9"/>
          <p:cNvSpPr/>
          <p:nvPr/>
        </p:nvSpPr>
        <p:spPr>
          <a:xfrm>
            <a:off x="566928" y="4206240"/>
            <a:ext cx="109728" cy="109728"/>
          </a:xfrm>
          <a:prstGeom prst="ellipse">
            <a:avLst/>
          </a:prstGeom>
          <a:solidFill>
            <a:srgbClr val="3DDCC7"/>
          </a:solidFill>
          <a:ln/>
        </p:spPr>
        <p:txBody>
          <a:bodyPr/>
          <a:lstStyle/>
          <a:p>
            <a:endParaRPr lang="en-US"/>
          </a:p>
        </p:txBody>
      </p:sp>
      <p:sp>
        <p:nvSpPr>
          <p:cNvPr id="12" name="Text 10"/>
          <p:cNvSpPr txBox="1"/>
          <p:nvPr/>
        </p:nvSpPr>
        <p:spPr>
          <a:xfrm>
            <a:off x="841248" y="4059936"/>
            <a:ext cx="6035040" cy="411480"/>
          </a:xfrm>
          <a:prstGeom prst="rect">
            <a:avLst/>
          </a:prstGeom>
          <a:noFill/>
          <a:ln/>
        </p:spPr>
        <p:txBody>
          <a:bodyPr wrap="square" lIns="0" tIns="0" rIns="0" bIns="0" rtlCol="0" anchor="ctr"/>
          <a:lstStyle/>
          <a:p>
            <a:pPr marL="0" indent="0">
              <a:buNone/>
            </a:pPr>
            <a:r>
              <a:rPr lang="en-US" sz="1350" dirty="0">
                <a:solidFill>
                  <a:srgbClr val="FFFFFF"/>
                </a:solidFill>
                <a:latin typeface="Calibri" pitchFamily="34" charset="0"/>
                <a:ea typeface="Calibri" pitchFamily="34" charset="-122"/>
                <a:cs typeface="Calibri" pitchFamily="34" charset="-120"/>
              </a:rPr>
              <a:t>Prompt an operator to approve engagement, then track &amp; intercept autonomously</a:t>
            </a:r>
            <a:endParaRPr lang="en-US" sz="1350" dirty="0"/>
          </a:p>
        </p:txBody>
      </p:sp>
      <p:sp>
        <p:nvSpPr>
          <p:cNvPr id="13" name="Shape 11"/>
          <p:cNvSpPr/>
          <p:nvPr/>
        </p:nvSpPr>
        <p:spPr>
          <a:xfrm>
            <a:off x="566928" y="4681728"/>
            <a:ext cx="109728" cy="109728"/>
          </a:xfrm>
          <a:prstGeom prst="ellipse">
            <a:avLst/>
          </a:prstGeom>
          <a:solidFill>
            <a:srgbClr val="3DDCC7"/>
          </a:solidFill>
          <a:ln/>
        </p:spPr>
        <p:txBody>
          <a:bodyPr/>
          <a:lstStyle/>
          <a:p>
            <a:endParaRPr lang="en-US"/>
          </a:p>
        </p:txBody>
      </p:sp>
      <p:sp>
        <p:nvSpPr>
          <p:cNvPr id="14" name="Text 12"/>
          <p:cNvSpPr txBox="1"/>
          <p:nvPr/>
        </p:nvSpPr>
        <p:spPr>
          <a:xfrm>
            <a:off x="841248" y="4535424"/>
            <a:ext cx="6035040" cy="411480"/>
          </a:xfrm>
          <a:prstGeom prst="rect">
            <a:avLst/>
          </a:prstGeom>
          <a:noFill/>
          <a:ln/>
        </p:spPr>
        <p:txBody>
          <a:bodyPr wrap="square" lIns="0" tIns="0" rIns="0" bIns="0" rtlCol="0" anchor="ctr"/>
          <a:lstStyle/>
          <a:p>
            <a:pPr marL="0" indent="0">
              <a:buNone/>
            </a:pPr>
            <a:r>
              <a:rPr lang="en-US" sz="1350" dirty="0">
                <a:solidFill>
                  <a:srgbClr val="FFFFFF"/>
                </a:solidFill>
                <a:latin typeface="Calibri" pitchFamily="34" charset="0"/>
                <a:ea typeface="Calibri" pitchFamily="34" charset="-122"/>
                <a:cs typeface="Calibri" pitchFamily="34" charset="-120"/>
              </a:rPr>
              <a:t>Support full manual override whenever hands-on control is wanted</a:t>
            </a:r>
            <a:endParaRPr lang="en-US" sz="1350" dirty="0"/>
          </a:p>
        </p:txBody>
      </p:sp>
      <p:sp>
        <p:nvSpPr>
          <p:cNvPr id="15" name="Shape 13"/>
          <p:cNvSpPr/>
          <p:nvPr/>
        </p:nvSpPr>
        <p:spPr>
          <a:xfrm>
            <a:off x="7360920" y="1554480"/>
            <a:ext cx="4251960" cy="4480560"/>
          </a:xfrm>
          <a:prstGeom prst="roundRect">
            <a:avLst>
              <a:gd name="adj" fmla="val 1935"/>
            </a:avLst>
          </a:prstGeom>
          <a:solidFill>
            <a:srgbClr val="10203D"/>
          </a:solidFill>
          <a:ln/>
        </p:spPr>
        <p:txBody>
          <a:bodyPr/>
          <a:lstStyle/>
          <a:p>
            <a:endParaRPr lang="en-US"/>
          </a:p>
        </p:txBody>
      </p:sp>
      <p:sp>
        <p:nvSpPr>
          <p:cNvPr id="16" name="Shape 14"/>
          <p:cNvSpPr/>
          <p:nvPr/>
        </p:nvSpPr>
        <p:spPr>
          <a:xfrm>
            <a:off x="7653528" y="1828800"/>
            <a:ext cx="512064" cy="512064"/>
          </a:xfrm>
          <a:prstGeom prst="ellipse">
            <a:avLst/>
          </a:prstGeom>
          <a:solidFill>
            <a:srgbClr val="16294A"/>
          </a:solidFill>
          <a:ln w="15875">
            <a:solidFill>
              <a:srgbClr val="3DDCC7"/>
            </a:solidFill>
            <a:prstDash val="solid"/>
          </a:ln>
        </p:spPr>
        <p:txBody>
          <a:bodyPr/>
          <a:lstStyle/>
          <a:p>
            <a:endParaRPr lang="en-US"/>
          </a:p>
        </p:txBody>
      </p:sp>
      <p:pic>
        <p:nvPicPr>
          <p:cNvPr id="17" name="Image 0" descr="icons/project.png"/>
          <p:cNvPicPr>
            <a:picLocks noChangeAspect="1"/>
          </p:cNvPicPr>
          <p:nvPr/>
        </p:nvPicPr>
        <p:blipFill>
          <a:blip r:embed="rId3"/>
          <a:stretch>
            <a:fillRect/>
          </a:stretch>
        </p:blipFill>
        <p:spPr>
          <a:xfrm>
            <a:off x="7714976" y="1890248"/>
            <a:ext cx="389169" cy="389169"/>
          </a:xfrm>
          <a:prstGeom prst="rect">
            <a:avLst/>
          </a:prstGeom>
        </p:spPr>
      </p:pic>
      <p:sp>
        <p:nvSpPr>
          <p:cNvPr id="18" name="Text 15"/>
          <p:cNvSpPr txBox="1"/>
          <p:nvPr/>
        </p:nvSpPr>
        <p:spPr>
          <a:xfrm>
            <a:off x="8321040" y="1865376"/>
            <a:ext cx="3063240" cy="457200"/>
          </a:xfrm>
          <a:prstGeom prst="rect">
            <a:avLst/>
          </a:prstGeom>
          <a:noFill/>
          <a:ln/>
        </p:spPr>
        <p:txBody>
          <a:bodyPr wrap="square" lIns="0" tIns="0" rIns="0" bIns="0" rtlCol="0" anchor="ctr"/>
          <a:lstStyle/>
          <a:p>
            <a:pPr marL="0" indent="0">
              <a:buNone/>
            </a:pPr>
            <a:r>
              <a:rPr lang="en-US" sz="1550" b="1" dirty="0">
                <a:solidFill>
                  <a:srgbClr val="FFFFFF"/>
                </a:solidFill>
                <a:latin typeface="Cambria" pitchFamily="34" charset="0"/>
                <a:ea typeface="Cambria" pitchFamily="34" charset="-122"/>
                <a:cs typeface="Cambria" pitchFamily="34" charset="-120"/>
              </a:rPr>
              <a:t>A cross-disciplinary team</a:t>
            </a:r>
            <a:endParaRPr lang="en-US" sz="1550" dirty="0"/>
          </a:p>
        </p:txBody>
      </p:sp>
      <p:sp>
        <p:nvSpPr>
          <p:cNvPr id="19" name="Text 16"/>
          <p:cNvSpPr txBox="1"/>
          <p:nvPr/>
        </p:nvSpPr>
        <p:spPr>
          <a:xfrm>
            <a:off x="7653528" y="2606040"/>
            <a:ext cx="3666744" cy="960120"/>
          </a:xfrm>
          <a:prstGeom prst="rect">
            <a:avLst/>
          </a:prstGeom>
          <a:noFill/>
          <a:ln/>
        </p:spPr>
        <p:txBody>
          <a:bodyPr wrap="square" lIns="0" tIns="0" rIns="0" bIns="0" rtlCol="0" anchor="ctr"/>
          <a:lstStyle/>
          <a:p>
            <a:pPr marL="0" indent="0">
              <a:lnSpc>
                <a:spcPct val="120000"/>
              </a:lnSpc>
              <a:buNone/>
            </a:pPr>
            <a:r>
              <a:rPr lang="en-US" sz="3400" b="1" dirty="0">
                <a:solidFill>
                  <a:srgbClr val="F5B942"/>
                </a:solidFill>
                <a:latin typeface="Calibri" pitchFamily="34" charset="0"/>
                <a:ea typeface="Calibri" pitchFamily="34" charset="-122"/>
                <a:cs typeface="Calibri" pitchFamily="34" charset="-120"/>
              </a:rPr>
              <a:t>9</a:t>
            </a:r>
            <a:r>
              <a:rPr lang="en-US" sz="1300" dirty="0">
                <a:solidFill>
                  <a:srgbClr val="9FB3C8"/>
                </a:solidFill>
                <a:latin typeface="Calibri" pitchFamily="34" charset="0"/>
                <a:ea typeface="Calibri" pitchFamily="34" charset="-122"/>
                <a:cs typeface="Calibri" pitchFamily="34" charset="-120"/>
              </a:rPr>
              <a:t>  Aerospace Engineering students
</a:t>
            </a:r>
            <a:r>
              <a:rPr lang="en-US" sz="1100" i="1" dirty="0">
                <a:solidFill>
                  <a:srgbClr val="7488A3"/>
                </a:solidFill>
                <a:latin typeface="Calibri" pitchFamily="34" charset="0"/>
                <a:ea typeface="Calibri" pitchFamily="34" charset="-122"/>
                <a:cs typeface="Calibri" pitchFamily="34" charset="-120"/>
              </a:rPr>
              <a:t>airframe, propulsion, interception mechanism, and integration</a:t>
            </a:r>
            <a:endParaRPr lang="en-US" sz="3400" dirty="0"/>
          </a:p>
        </p:txBody>
      </p:sp>
      <p:sp>
        <p:nvSpPr>
          <p:cNvPr id="20" name="Shape 17"/>
          <p:cNvSpPr/>
          <p:nvPr/>
        </p:nvSpPr>
        <p:spPr>
          <a:xfrm>
            <a:off x="7653528" y="3639312"/>
            <a:ext cx="3666744" cy="0"/>
          </a:xfrm>
          <a:prstGeom prst="line">
            <a:avLst/>
          </a:prstGeom>
          <a:noFill/>
          <a:ln w="12700">
            <a:solidFill>
              <a:srgbClr val="223454"/>
            </a:solidFill>
            <a:prstDash val="solid"/>
          </a:ln>
        </p:spPr>
        <p:txBody>
          <a:bodyPr/>
          <a:lstStyle/>
          <a:p>
            <a:endParaRPr lang="en-US"/>
          </a:p>
        </p:txBody>
      </p:sp>
      <p:sp>
        <p:nvSpPr>
          <p:cNvPr id="21" name="Text 18"/>
          <p:cNvSpPr txBox="1"/>
          <p:nvPr/>
        </p:nvSpPr>
        <p:spPr>
          <a:xfrm>
            <a:off x="7653528" y="3840480"/>
            <a:ext cx="3666744" cy="960120"/>
          </a:xfrm>
          <a:prstGeom prst="rect">
            <a:avLst/>
          </a:prstGeom>
          <a:noFill/>
          <a:ln/>
        </p:spPr>
        <p:txBody>
          <a:bodyPr wrap="square" lIns="0" tIns="0" rIns="0" bIns="0" rtlCol="0" anchor="ctr"/>
          <a:lstStyle/>
          <a:p>
            <a:pPr marL="0" indent="0">
              <a:lnSpc>
                <a:spcPct val="120000"/>
              </a:lnSpc>
              <a:buNone/>
            </a:pPr>
            <a:r>
              <a:rPr lang="en-US" sz="3400" b="1" dirty="0">
                <a:solidFill>
                  <a:srgbClr val="3DDCC7"/>
                </a:solidFill>
                <a:latin typeface="Calibri" pitchFamily="34" charset="0"/>
                <a:ea typeface="Calibri" pitchFamily="34" charset="-122"/>
                <a:cs typeface="Calibri" pitchFamily="34" charset="-120"/>
              </a:rPr>
              <a:t>1</a:t>
            </a:r>
            <a:r>
              <a:rPr lang="en-US" sz="1300" dirty="0">
                <a:solidFill>
                  <a:srgbClr val="9FB3C8"/>
                </a:solidFill>
                <a:latin typeface="Calibri" pitchFamily="34" charset="0"/>
                <a:ea typeface="Calibri" pitchFamily="34" charset="-122"/>
                <a:cs typeface="Calibri" pitchFamily="34" charset="-120"/>
              </a:rPr>
              <a:t>  Software Engineering student
</a:t>
            </a:r>
            <a:r>
              <a:rPr lang="en-US" sz="1100" i="1" dirty="0">
                <a:solidFill>
                  <a:srgbClr val="7488A3"/>
                </a:solidFill>
                <a:latin typeface="Calibri" pitchFamily="34" charset="0"/>
                <a:ea typeface="Calibri" pitchFamily="34" charset="-122"/>
                <a:cs typeface="Calibri" pitchFamily="34" charset="-120"/>
              </a:rPr>
              <a:t>detection, tracking, autonomy, and test software — this presentation</a:t>
            </a:r>
            <a:endParaRPr lang="en-US" sz="3400" dirty="0"/>
          </a:p>
        </p:txBody>
      </p:sp>
      <p:sp>
        <p:nvSpPr>
          <p:cNvPr id="22" name="Shape 19"/>
          <p:cNvSpPr/>
          <p:nvPr/>
        </p:nvSpPr>
        <p:spPr>
          <a:xfrm>
            <a:off x="7653528" y="4864608"/>
            <a:ext cx="3666744" cy="0"/>
          </a:xfrm>
          <a:prstGeom prst="line">
            <a:avLst/>
          </a:prstGeom>
          <a:noFill/>
          <a:ln w="12700">
            <a:solidFill>
              <a:srgbClr val="223454"/>
            </a:solidFill>
            <a:prstDash val="solid"/>
          </a:ln>
        </p:spPr>
        <p:txBody>
          <a:bodyPr/>
          <a:lstStyle/>
          <a:p>
            <a:endParaRPr lang="en-US"/>
          </a:p>
        </p:txBody>
      </p:sp>
      <p:sp>
        <p:nvSpPr>
          <p:cNvPr id="23" name="Text 20"/>
          <p:cNvSpPr txBox="1"/>
          <p:nvPr/>
        </p:nvSpPr>
        <p:spPr>
          <a:xfrm>
            <a:off x="7653528" y="5074920"/>
            <a:ext cx="3666744" cy="822960"/>
          </a:xfrm>
          <a:prstGeom prst="rect">
            <a:avLst/>
          </a:prstGeom>
          <a:noFill/>
          <a:ln/>
        </p:spPr>
        <p:txBody>
          <a:bodyPr wrap="square" lIns="0" tIns="0" rIns="0" bIns="0" rtlCol="0" anchor="ctr"/>
          <a:lstStyle/>
          <a:p>
            <a:pPr marL="0" indent="0">
              <a:lnSpc>
                <a:spcPct val="120000"/>
              </a:lnSpc>
              <a:buNone/>
            </a:pPr>
            <a:r>
              <a:rPr lang="en-US" sz="1200" dirty="0">
                <a:solidFill>
                  <a:srgbClr val="9FB3C8"/>
                </a:solidFill>
                <a:latin typeface="Calibri" pitchFamily="34" charset="0"/>
                <a:ea typeface="Calibri" pitchFamily="34" charset="-122"/>
                <a:cs typeface="Calibri" pitchFamily="34" charset="-120"/>
              </a:rPr>
              <a:t>Faculty Advisor &amp; Client: Dr. Firat Irmak, Aerospace Engineering Dept.</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B1730"/>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9144000" cy="292608"/>
          </a:xfrm>
          <a:prstGeom prst="rect">
            <a:avLst/>
          </a:prstGeom>
          <a:noFill/>
          <a:ln/>
        </p:spPr>
        <p:txBody>
          <a:bodyPr wrap="square" lIns="0" tIns="0" rIns="0" bIns="0" rtlCol="0" anchor="ctr"/>
          <a:lstStyle/>
          <a:p>
            <a:pPr marL="0" indent="0">
              <a:buNone/>
            </a:pPr>
            <a:r>
              <a:rPr lang="en-US" sz="1300" b="1" kern="0" spc="200" dirty="0">
                <a:solidFill>
                  <a:srgbClr val="3DDCC7"/>
                </a:solidFill>
                <a:latin typeface="Calibri" pitchFamily="34" charset="0"/>
                <a:ea typeface="Calibri" pitchFamily="34" charset="-122"/>
                <a:cs typeface="Calibri" pitchFamily="34" charset="-120"/>
              </a:rPr>
              <a:t>MY SCOPE</a:t>
            </a:r>
            <a:endParaRPr lang="en-US" sz="1300" dirty="0"/>
          </a:p>
        </p:txBody>
      </p:sp>
      <p:sp>
        <p:nvSpPr>
          <p:cNvPr id="3" name="Text 1"/>
          <p:cNvSpPr txBox="1"/>
          <p:nvPr/>
        </p:nvSpPr>
        <p:spPr>
          <a:xfrm>
            <a:off x="548640" y="658368"/>
            <a:ext cx="10515600" cy="731520"/>
          </a:xfrm>
          <a:prstGeom prst="rect">
            <a:avLst/>
          </a:prstGeom>
          <a:noFill/>
          <a:ln/>
        </p:spPr>
        <p:txBody>
          <a:bodyPr wrap="square" lIns="0" tIns="0" rIns="0" bIns="0" rtlCol="0" anchor="ctr"/>
          <a:lstStyle/>
          <a:p>
            <a:pPr marL="0" indent="0">
              <a:buNone/>
            </a:pPr>
            <a:r>
              <a:rPr lang="en-US" sz="3200" b="1" dirty="0">
                <a:solidFill>
                  <a:srgbClr val="FFFFFF"/>
                </a:solidFill>
                <a:latin typeface="Cambria" pitchFamily="34" charset="0"/>
                <a:ea typeface="Cambria" pitchFamily="34" charset="-122"/>
                <a:cs typeface="Cambria" pitchFamily="34" charset="-120"/>
              </a:rPr>
              <a:t>My role: Software Engineering Lead</a:t>
            </a:r>
            <a:endParaRPr lang="en-US" sz="3200" dirty="0"/>
          </a:p>
        </p:txBody>
      </p:sp>
      <p:sp>
        <p:nvSpPr>
          <p:cNvPr id="4" name="Text 2"/>
          <p:cNvSpPr txBox="1"/>
          <p:nvPr/>
        </p:nvSpPr>
        <p:spPr>
          <a:xfrm>
            <a:off x="11475720" y="6510528"/>
            <a:ext cx="548640" cy="274320"/>
          </a:xfrm>
          <a:prstGeom prst="rect">
            <a:avLst/>
          </a:prstGeom>
          <a:noFill/>
          <a:ln/>
        </p:spPr>
        <p:txBody>
          <a:bodyPr wrap="square" lIns="0" tIns="0" rIns="0" bIns="0" rtlCol="0" anchor="ctr"/>
          <a:lstStyle/>
          <a:p>
            <a:pPr marL="0" indent="0" algn="r">
              <a:buNone/>
            </a:pPr>
            <a:r>
              <a:rPr lang="en-US" sz="900" dirty="0">
                <a:solidFill>
                  <a:srgbClr val="7488A3"/>
                </a:solidFill>
                <a:latin typeface="Calibri" pitchFamily="34" charset="0"/>
                <a:ea typeface="Calibri" pitchFamily="34" charset="-122"/>
                <a:cs typeface="Calibri" pitchFamily="34" charset="-120"/>
              </a:rPr>
              <a:t>4 / 14</a:t>
            </a:r>
            <a:endParaRPr lang="en-US" sz="900" dirty="0"/>
          </a:p>
        </p:txBody>
      </p:sp>
      <p:sp>
        <p:nvSpPr>
          <p:cNvPr id="5" name="Text 3"/>
          <p:cNvSpPr txBox="1"/>
          <p:nvPr/>
        </p:nvSpPr>
        <p:spPr>
          <a:xfrm>
            <a:off x="457200" y="6510528"/>
            <a:ext cx="5486400" cy="274320"/>
          </a:xfrm>
          <a:prstGeom prst="rect">
            <a:avLst/>
          </a:prstGeom>
          <a:noFill/>
          <a:ln/>
        </p:spPr>
        <p:txBody>
          <a:bodyPr wrap="square" lIns="0" tIns="0" rIns="0" bIns="0" rtlCol="0" anchor="ctr"/>
          <a:lstStyle/>
          <a:p>
            <a:pPr marL="0" indent="0" algn="l">
              <a:buNone/>
            </a:pPr>
            <a:r>
              <a:rPr lang="en-US" sz="900" dirty="0">
                <a:solidFill>
                  <a:srgbClr val="7488A3"/>
                </a:solidFill>
                <a:latin typeface="Calibri" pitchFamily="34" charset="0"/>
                <a:ea typeface="Calibri" pitchFamily="34" charset="-122"/>
                <a:cs typeface="Calibri" pitchFamily="34" charset="-120"/>
              </a:rPr>
              <a:t>SHIELD — Software &amp; Autonomy Overview</a:t>
            </a:r>
            <a:endParaRPr lang="en-US" sz="900" dirty="0"/>
          </a:p>
        </p:txBody>
      </p:sp>
      <p:sp>
        <p:nvSpPr>
          <p:cNvPr id="6" name="Text 4"/>
          <p:cNvSpPr txBox="1"/>
          <p:nvPr/>
        </p:nvSpPr>
        <p:spPr>
          <a:xfrm>
            <a:off x="548640" y="1508760"/>
            <a:ext cx="11064240" cy="548640"/>
          </a:xfrm>
          <a:prstGeom prst="rect">
            <a:avLst/>
          </a:prstGeom>
          <a:noFill/>
          <a:ln/>
        </p:spPr>
        <p:txBody>
          <a:bodyPr wrap="square" lIns="0" tIns="0" rIns="0" bIns="0" rtlCol="0" anchor="ctr"/>
          <a:lstStyle/>
          <a:p>
            <a:pPr marL="0" indent="0">
              <a:buNone/>
            </a:pPr>
            <a:r>
              <a:rPr lang="en-US" sz="1400" dirty="0">
                <a:solidFill>
                  <a:srgbClr val="9FB3C8"/>
                </a:solidFill>
                <a:latin typeface="Calibri" pitchFamily="34" charset="0"/>
                <a:ea typeface="Calibri" pitchFamily="34" charset="-122"/>
                <a:cs typeface="Calibri" pitchFamily="34" charset="-120"/>
              </a:rPr>
              <a:t>Everything from this slide forward is the software stack I own — the perception and autonomy pipeline that lets SHIELD see, decide, and act without a human in the loop.</a:t>
            </a:r>
            <a:endParaRPr lang="en-US" sz="1400" dirty="0"/>
          </a:p>
        </p:txBody>
      </p:sp>
      <p:sp>
        <p:nvSpPr>
          <p:cNvPr id="7" name="Shape 5"/>
          <p:cNvSpPr/>
          <p:nvPr/>
        </p:nvSpPr>
        <p:spPr>
          <a:xfrm>
            <a:off x="548640" y="2286000"/>
            <a:ext cx="3566160" cy="1600200"/>
          </a:xfrm>
          <a:prstGeom prst="roundRect">
            <a:avLst>
              <a:gd name="adj" fmla="val 4571"/>
            </a:avLst>
          </a:prstGeom>
          <a:solidFill>
            <a:srgbClr val="10203D"/>
          </a:solidFill>
          <a:ln/>
        </p:spPr>
        <p:txBody>
          <a:bodyPr/>
          <a:lstStyle/>
          <a:p>
            <a:endParaRPr lang="en-US"/>
          </a:p>
        </p:txBody>
      </p:sp>
      <p:sp>
        <p:nvSpPr>
          <p:cNvPr id="8" name="Shape 6"/>
          <p:cNvSpPr/>
          <p:nvPr/>
        </p:nvSpPr>
        <p:spPr>
          <a:xfrm>
            <a:off x="768096" y="2505456"/>
            <a:ext cx="457200" cy="457200"/>
          </a:xfrm>
          <a:prstGeom prst="ellipse">
            <a:avLst/>
          </a:prstGeom>
          <a:solidFill>
            <a:srgbClr val="16294A"/>
          </a:solidFill>
          <a:ln w="15875">
            <a:solidFill>
              <a:srgbClr val="3DDCC7"/>
            </a:solidFill>
            <a:prstDash val="solid"/>
          </a:ln>
        </p:spPr>
        <p:txBody>
          <a:bodyPr/>
          <a:lstStyle/>
          <a:p>
            <a:endParaRPr lang="en-US"/>
          </a:p>
        </p:txBody>
      </p:sp>
      <p:pic>
        <p:nvPicPr>
          <p:cNvPr id="9" name="Image 0" descr="icons/eye.png"/>
          <p:cNvPicPr>
            <a:picLocks noChangeAspect="1"/>
          </p:cNvPicPr>
          <p:nvPr/>
        </p:nvPicPr>
        <p:blipFill>
          <a:blip r:embed="rId3"/>
          <a:stretch>
            <a:fillRect/>
          </a:stretch>
        </p:blipFill>
        <p:spPr>
          <a:xfrm>
            <a:off x="822960" y="2560320"/>
            <a:ext cx="347472" cy="347472"/>
          </a:xfrm>
          <a:prstGeom prst="rect">
            <a:avLst/>
          </a:prstGeom>
        </p:spPr>
      </p:pic>
      <p:sp>
        <p:nvSpPr>
          <p:cNvPr id="10" name="Text 7"/>
          <p:cNvSpPr txBox="1"/>
          <p:nvPr/>
        </p:nvSpPr>
        <p:spPr>
          <a:xfrm>
            <a:off x="1371600" y="2450592"/>
            <a:ext cx="2560320" cy="365760"/>
          </a:xfrm>
          <a:prstGeom prst="rect">
            <a:avLst/>
          </a:prstGeom>
          <a:noFill/>
          <a:ln/>
        </p:spPr>
        <p:txBody>
          <a:bodyPr wrap="square" lIns="0" tIns="0" rIns="0" bIns="0" rtlCol="0" anchor="ctr"/>
          <a:lstStyle/>
          <a:p>
            <a:pPr marL="0" indent="0">
              <a:buNone/>
            </a:pPr>
            <a:r>
              <a:rPr lang="en-US" sz="1350" b="1" dirty="0">
                <a:solidFill>
                  <a:srgbClr val="FFFFFF"/>
                </a:solidFill>
                <a:latin typeface="Cambria" pitchFamily="34" charset="0"/>
                <a:ea typeface="Cambria" pitchFamily="34" charset="-122"/>
                <a:cs typeface="Cambria" pitchFamily="34" charset="-120"/>
              </a:rPr>
              <a:t>Detection pipeline</a:t>
            </a:r>
            <a:endParaRPr lang="en-US" sz="1350" dirty="0"/>
          </a:p>
        </p:txBody>
      </p:sp>
      <p:sp>
        <p:nvSpPr>
          <p:cNvPr id="11" name="Text 8"/>
          <p:cNvSpPr txBox="1"/>
          <p:nvPr/>
        </p:nvSpPr>
        <p:spPr>
          <a:xfrm>
            <a:off x="768096" y="3063240"/>
            <a:ext cx="3127248" cy="731520"/>
          </a:xfrm>
          <a:prstGeom prst="rect">
            <a:avLst/>
          </a:prstGeom>
          <a:noFill/>
          <a:ln/>
        </p:spPr>
        <p:txBody>
          <a:bodyPr wrap="square" lIns="0" tIns="0" rIns="0" bIns="0" rtlCol="0" anchor="ctr"/>
          <a:lstStyle/>
          <a:p>
            <a:pPr marL="0" indent="0">
              <a:lnSpc>
                <a:spcPct val="120000"/>
              </a:lnSpc>
              <a:buNone/>
            </a:pPr>
            <a:r>
              <a:rPr lang="en-US" sz="1100" dirty="0">
                <a:solidFill>
                  <a:srgbClr val="9FB3C8"/>
                </a:solidFill>
                <a:latin typeface="Calibri" pitchFamily="34" charset="0"/>
                <a:ea typeface="Calibri" pitchFamily="34" charset="-122"/>
                <a:cs typeface="Calibri" pitchFamily="34" charset="-120"/>
              </a:rPr>
              <a:t>Real-time object detection on video frames using a YOLO model.</a:t>
            </a:r>
            <a:endParaRPr lang="en-US" sz="1100" dirty="0"/>
          </a:p>
        </p:txBody>
      </p:sp>
      <p:sp>
        <p:nvSpPr>
          <p:cNvPr id="12" name="Shape 9"/>
          <p:cNvSpPr/>
          <p:nvPr/>
        </p:nvSpPr>
        <p:spPr>
          <a:xfrm>
            <a:off x="4297680" y="2286000"/>
            <a:ext cx="3566160" cy="1600200"/>
          </a:xfrm>
          <a:prstGeom prst="roundRect">
            <a:avLst>
              <a:gd name="adj" fmla="val 4571"/>
            </a:avLst>
          </a:prstGeom>
          <a:solidFill>
            <a:srgbClr val="10203D"/>
          </a:solidFill>
          <a:ln/>
        </p:spPr>
        <p:txBody>
          <a:bodyPr/>
          <a:lstStyle/>
          <a:p>
            <a:endParaRPr lang="en-US"/>
          </a:p>
        </p:txBody>
      </p:sp>
      <p:sp>
        <p:nvSpPr>
          <p:cNvPr id="13" name="Shape 10"/>
          <p:cNvSpPr/>
          <p:nvPr/>
        </p:nvSpPr>
        <p:spPr>
          <a:xfrm>
            <a:off x="4517136" y="2505456"/>
            <a:ext cx="457200" cy="457200"/>
          </a:xfrm>
          <a:prstGeom prst="ellipse">
            <a:avLst/>
          </a:prstGeom>
          <a:solidFill>
            <a:srgbClr val="16294A"/>
          </a:solidFill>
          <a:ln w="15875">
            <a:solidFill>
              <a:srgbClr val="3DDCC7"/>
            </a:solidFill>
            <a:prstDash val="solid"/>
          </a:ln>
        </p:spPr>
        <p:txBody>
          <a:bodyPr/>
          <a:lstStyle/>
          <a:p>
            <a:endParaRPr lang="en-US"/>
          </a:p>
        </p:txBody>
      </p:sp>
      <p:pic>
        <p:nvPicPr>
          <p:cNvPr id="14" name="Image 1" descr="icons/route.png"/>
          <p:cNvPicPr>
            <a:picLocks noChangeAspect="1"/>
          </p:cNvPicPr>
          <p:nvPr/>
        </p:nvPicPr>
        <p:blipFill>
          <a:blip r:embed="rId4"/>
          <a:stretch>
            <a:fillRect/>
          </a:stretch>
        </p:blipFill>
        <p:spPr>
          <a:xfrm>
            <a:off x="4572000" y="2560320"/>
            <a:ext cx="347472" cy="347472"/>
          </a:xfrm>
          <a:prstGeom prst="rect">
            <a:avLst/>
          </a:prstGeom>
        </p:spPr>
      </p:pic>
      <p:sp>
        <p:nvSpPr>
          <p:cNvPr id="15" name="Text 11"/>
          <p:cNvSpPr txBox="1"/>
          <p:nvPr/>
        </p:nvSpPr>
        <p:spPr>
          <a:xfrm>
            <a:off x="5120640" y="2450592"/>
            <a:ext cx="2560320" cy="365760"/>
          </a:xfrm>
          <a:prstGeom prst="rect">
            <a:avLst/>
          </a:prstGeom>
          <a:noFill/>
          <a:ln/>
        </p:spPr>
        <p:txBody>
          <a:bodyPr wrap="square" lIns="0" tIns="0" rIns="0" bIns="0" rtlCol="0" anchor="ctr"/>
          <a:lstStyle/>
          <a:p>
            <a:pPr marL="0" indent="0">
              <a:buNone/>
            </a:pPr>
            <a:r>
              <a:rPr lang="en-US" sz="1350" b="1" dirty="0">
                <a:solidFill>
                  <a:srgbClr val="FFFFFF"/>
                </a:solidFill>
                <a:latin typeface="Cambria" pitchFamily="34" charset="0"/>
                <a:ea typeface="Cambria" pitchFamily="34" charset="-122"/>
                <a:cs typeface="Cambria" pitchFamily="34" charset="-120"/>
              </a:rPr>
              <a:t>Tracking pipeline</a:t>
            </a:r>
            <a:endParaRPr lang="en-US" sz="1350" dirty="0"/>
          </a:p>
        </p:txBody>
      </p:sp>
      <p:sp>
        <p:nvSpPr>
          <p:cNvPr id="16" name="Text 12"/>
          <p:cNvSpPr txBox="1"/>
          <p:nvPr/>
        </p:nvSpPr>
        <p:spPr>
          <a:xfrm>
            <a:off x="4517136" y="3063240"/>
            <a:ext cx="3127248" cy="731520"/>
          </a:xfrm>
          <a:prstGeom prst="rect">
            <a:avLst/>
          </a:prstGeom>
          <a:noFill/>
          <a:ln/>
        </p:spPr>
        <p:txBody>
          <a:bodyPr wrap="square" lIns="0" tIns="0" rIns="0" bIns="0" rtlCol="0" anchor="ctr"/>
          <a:lstStyle/>
          <a:p>
            <a:pPr marL="0" indent="0">
              <a:lnSpc>
                <a:spcPct val="120000"/>
              </a:lnSpc>
              <a:buNone/>
            </a:pPr>
            <a:r>
              <a:rPr lang="en-US" sz="1100" dirty="0">
                <a:solidFill>
                  <a:srgbClr val="9FB3C8"/>
                </a:solidFill>
                <a:latin typeface="Calibri" pitchFamily="34" charset="0"/>
                <a:ea typeface="Calibri" pitchFamily="34" charset="-122"/>
                <a:cs typeface="Calibri" pitchFamily="34" charset="-120"/>
              </a:rPr>
              <a:t>Persistent multi-target tracking that survives brief occlusion.</a:t>
            </a:r>
            <a:endParaRPr lang="en-US" sz="1100" dirty="0"/>
          </a:p>
        </p:txBody>
      </p:sp>
      <p:sp>
        <p:nvSpPr>
          <p:cNvPr id="17" name="Shape 13"/>
          <p:cNvSpPr/>
          <p:nvPr/>
        </p:nvSpPr>
        <p:spPr>
          <a:xfrm>
            <a:off x="8046720" y="2286000"/>
            <a:ext cx="3566160" cy="1600200"/>
          </a:xfrm>
          <a:prstGeom prst="roundRect">
            <a:avLst>
              <a:gd name="adj" fmla="val 4571"/>
            </a:avLst>
          </a:prstGeom>
          <a:solidFill>
            <a:srgbClr val="10203D"/>
          </a:solidFill>
          <a:ln/>
        </p:spPr>
        <p:txBody>
          <a:bodyPr/>
          <a:lstStyle/>
          <a:p>
            <a:endParaRPr lang="en-US"/>
          </a:p>
        </p:txBody>
      </p:sp>
      <p:sp>
        <p:nvSpPr>
          <p:cNvPr id="18" name="Shape 14"/>
          <p:cNvSpPr/>
          <p:nvPr/>
        </p:nvSpPr>
        <p:spPr>
          <a:xfrm>
            <a:off x="8266176" y="2505456"/>
            <a:ext cx="457200" cy="457200"/>
          </a:xfrm>
          <a:prstGeom prst="ellipse">
            <a:avLst/>
          </a:prstGeom>
          <a:solidFill>
            <a:srgbClr val="16294A"/>
          </a:solidFill>
          <a:ln w="15875">
            <a:solidFill>
              <a:srgbClr val="3DDCC7"/>
            </a:solidFill>
            <a:prstDash val="solid"/>
          </a:ln>
        </p:spPr>
        <p:txBody>
          <a:bodyPr/>
          <a:lstStyle/>
          <a:p>
            <a:endParaRPr lang="en-US"/>
          </a:p>
        </p:txBody>
      </p:sp>
      <p:pic>
        <p:nvPicPr>
          <p:cNvPr id="19" name="Image 2" descr="icons/brain.png"/>
          <p:cNvPicPr>
            <a:picLocks noChangeAspect="1"/>
          </p:cNvPicPr>
          <p:nvPr/>
        </p:nvPicPr>
        <p:blipFill>
          <a:blip r:embed="rId5"/>
          <a:stretch>
            <a:fillRect/>
          </a:stretch>
        </p:blipFill>
        <p:spPr>
          <a:xfrm>
            <a:off x="8321040" y="2560320"/>
            <a:ext cx="347472" cy="347472"/>
          </a:xfrm>
          <a:prstGeom prst="rect">
            <a:avLst/>
          </a:prstGeom>
        </p:spPr>
      </p:pic>
      <p:sp>
        <p:nvSpPr>
          <p:cNvPr id="20" name="Text 15"/>
          <p:cNvSpPr txBox="1"/>
          <p:nvPr/>
        </p:nvSpPr>
        <p:spPr>
          <a:xfrm>
            <a:off x="8869680" y="2450592"/>
            <a:ext cx="2560320" cy="365760"/>
          </a:xfrm>
          <a:prstGeom prst="rect">
            <a:avLst/>
          </a:prstGeom>
          <a:noFill/>
          <a:ln/>
        </p:spPr>
        <p:txBody>
          <a:bodyPr wrap="square" lIns="0" tIns="0" rIns="0" bIns="0" rtlCol="0" anchor="ctr"/>
          <a:lstStyle/>
          <a:p>
            <a:pPr marL="0" indent="0">
              <a:buNone/>
            </a:pPr>
            <a:r>
              <a:rPr lang="en-US" sz="1350" b="1" dirty="0">
                <a:solidFill>
                  <a:srgbClr val="FFFFFF"/>
                </a:solidFill>
                <a:latin typeface="Cambria" pitchFamily="34" charset="0"/>
                <a:ea typeface="Cambria" pitchFamily="34" charset="-122"/>
                <a:cs typeface="Cambria" pitchFamily="34" charset="-120"/>
              </a:rPr>
              <a:t>Custom model training</a:t>
            </a:r>
            <a:endParaRPr lang="en-US" sz="1350" dirty="0"/>
          </a:p>
        </p:txBody>
      </p:sp>
      <p:sp>
        <p:nvSpPr>
          <p:cNvPr id="21" name="Text 16"/>
          <p:cNvSpPr txBox="1"/>
          <p:nvPr/>
        </p:nvSpPr>
        <p:spPr>
          <a:xfrm>
            <a:off x="8266176" y="3063240"/>
            <a:ext cx="3127248" cy="731520"/>
          </a:xfrm>
          <a:prstGeom prst="rect">
            <a:avLst/>
          </a:prstGeom>
          <a:noFill/>
          <a:ln/>
        </p:spPr>
        <p:txBody>
          <a:bodyPr wrap="square" lIns="0" tIns="0" rIns="0" bIns="0" rtlCol="0" anchor="ctr"/>
          <a:lstStyle/>
          <a:p>
            <a:pPr marL="0" indent="0">
              <a:lnSpc>
                <a:spcPct val="120000"/>
              </a:lnSpc>
              <a:buNone/>
            </a:pPr>
            <a:r>
              <a:rPr lang="en-US" sz="1100" dirty="0">
                <a:solidFill>
                  <a:srgbClr val="9FB3C8"/>
                </a:solidFill>
                <a:latin typeface="Calibri" pitchFamily="34" charset="0"/>
                <a:ea typeface="Calibri" pitchFamily="34" charset="-122"/>
                <a:cs typeface="Calibri" pitchFamily="34" charset="-120"/>
              </a:rPr>
              <a:t>Replacing generic COCO weights with a drone/balloon-specific model.</a:t>
            </a:r>
            <a:endParaRPr lang="en-US" sz="1100" dirty="0"/>
          </a:p>
        </p:txBody>
      </p:sp>
      <p:sp>
        <p:nvSpPr>
          <p:cNvPr id="22" name="Shape 17"/>
          <p:cNvSpPr/>
          <p:nvPr/>
        </p:nvSpPr>
        <p:spPr>
          <a:xfrm>
            <a:off x="548640" y="4069080"/>
            <a:ext cx="3566160" cy="1600200"/>
          </a:xfrm>
          <a:prstGeom prst="roundRect">
            <a:avLst>
              <a:gd name="adj" fmla="val 4571"/>
            </a:avLst>
          </a:prstGeom>
          <a:solidFill>
            <a:srgbClr val="10203D"/>
          </a:solidFill>
          <a:ln/>
        </p:spPr>
        <p:txBody>
          <a:bodyPr/>
          <a:lstStyle/>
          <a:p>
            <a:endParaRPr lang="en-US"/>
          </a:p>
        </p:txBody>
      </p:sp>
      <p:sp>
        <p:nvSpPr>
          <p:cNvPr id="23" name="Shape 18"/>
          <p:cNvSpPr/>
          <p:nvPr/>
        </p:nvSpPr>
        <p:spPr>
          <a:xfrm>
            <a:off x="768096" y="4288536"/>
            <a:ext cx="457200" cy="457200"/>
          </a:xfrm>
          <a:prstGeom prst="ellipse">
            <a:avLst/>
          </a:prstGeom>
          <a:solidFill>
            <a:srgbClr val="16294A"/>
          </a:solidFill>
          <a:ln w="15875">
            <a:solidFill>
              <a:srgbClr val="3DDCC7"/>
            </a:solidFill>
            <a:prstDash val="solid"/>
          </a:ln>
        </p:spPr>
        <p:txBody>
          <a:bodyPr/>
          <a:lstStyle/>
          <a:p>
            <a:endParaRPr lang="en-US"/>
          </a:p>
        </p:txBody>
      </p:sp>
      <p:pic>
        <p:nvPicPr>
          <p:cNvPr id="24" name="Image 3" descr="icons/clipboard.png"/>
          <p:cNvPicPr>
            <a:picLocks noChangeAspect="1"/>
          </p:cNvPicPr>
          <p:nvPr/>
        </p:nvPicPr>
        <p:blipFill>
          <a:blip r:embed="rId6"/>
          <a:stretch>
            <a:fillRect/>
          </a:stretch>
        </p:blipFill>
        <p:spPr>
          <a:xfrm>
            <a:off x="822960" y="4343400"/>
            <a:ext cx="347472" cy="347472"/>
          </a:xfrm>
          <a:prstGeom prst="rect">
            <a:avLst/>
          </a:prstGeom>
        </p:spPr>
      </p:pic>
      <p:sp>
        <p:nvSpPr>
          <p:cNvPr id="25" name="Text 19"/>
          <p:cNvSpPr txBox="1"/>
          <p:nvPr/>
        </p:nvSpPr>
        <p:spPr>
          <a:xfrm>
            <a:off x="1371600" y="4233672"/>
            <a:ext cx="2560320" cy="365760"/>
          </a:xfrm>
          <a:prstGeom prst="rect">
            <a:avLst/>
          </a:prstGeom>
          <a:noFill/>
          <a:ln/>
        </p:spPr>
        <p:txBody>
          <a:bodyPr wrap="square" lIns="0" tIns="0" rIns="0" bIns="0" rtlCol="0" anchor="ctr"/>
          <a:lstStyle/>
          <a:p>
            <a:pPr marL="0" indent="0">
              <a:buNone/>
            </a:pPr>
            <a:r>
              <a:rPr lang="en-US" sz="1350" b="1" dirty="0">
                <a:solidFill>
                  <a:srgbClr val="FFFFFF"/>
                </a:solidFill>
                <a:latin typeface="Cambria" pitchFamily="34" charset="0"/>
                <a:ea typeface="Cambria" pitchFamily="34" charset="-122"/>
                <a:cs typeface="Cambria" pitchFamily="34" charset="-120"/>
              </a:rPr>
              <a:t>Test environment (STE)</a:t>
            </a:r>
            <a:endParaRPr lang="en-US" sz="1350" dirty="0"/>
          </a:p>
        </p:txBody>
      </p:sp>
      <p:sp>
        <p:nvSpPr>
          <p:cNvPr id="26" name="Text 20"/>
          <p:cNvSpPr txBox="1"/>
          <p:nvPr/>
        </p:nvSpPr>
        <p:spPr>
          <a:xfrm>
            <a:off x="768096" y="4846320"/>
            <a:ext cx="3127248" cy="731520"/>
          </a:xfrm>
          <a:prstGeom prst="rect">
            <a:avLst/>
          </a:prstGeom>
          <a:noFill/>
          <a:ln/>
        </p:spPr>
        <p:txBody>
          <a:bodyPr wrap="square" lIns="0" tIns="0" rIns="0" bIns="0" rtlCol="0" anchor="ctr"/>
          <a:lstStyle/>
          <a:p>
            <a:pPr marL="0" indent="0">
              <a:lnSpc>
                <a:spcPct val="120000"/>
              </a:lnSpc>
              <a:buNone/>
            </a:pPr>
            <a:r>
              <a:rPr lang="en-US" sz="1100" dirty="0">
                <a:solidFill>
                  <a:srgbClr val="9FB3C8"/>
                </a:solidFill>
                <a:latin typeface="Calibri" pitchFamily="34" charset="0"/>
                <a:ea typeface="Calibri" pitchFamily="34" charset="-122"/>
                <a:cs typeface="Calibri" pitchFamily="34" charset="-120"/>
              </a:rPr>
              <a:t>A scripted test harness for verifying requirements before hardware.</a:t>
            </a:r>
            <a:endParaRPr lang="en-US" sz="1100" dirty="0"/>
          </a:p>
        </p:txBody>
      </p:sp>
      <p:sp>
        <p:nvSpPr>
          <p:cNvPr id="27" name="Shape 21"/>
          <p:cNvSpPr/>
          <p:nvPr/>
        </p:nvSpPr>
        <p:spPr>
          <a:xfrm>
            <a:off x="4297680" y="4069080"/>
            <a:ext cx="3566160" cy="1600200"/>
          </a:xfrm>
          <a:prstGeom prst="roundRect">
            <a:avLst>
              <a:gd name="adj" fmla="val 4571"/>
            </a:avLst>
          </a:prstGeom>
          <a:solidFill>
            <a:srgbClr val="10203D"/>
          </a:solidFill>
          <a:ln/>
        </p:spPr>
        <p:txBody>
          <a:bodyPr/>
          <a:lstStyle/>
          <a:p>
            <a:endParaRPr lang="en-US"/>
          </a:p>
        </p:txBody>
      </p:sp>
      <p:sp>
        <p:nvSpPr>
          <p:cNvPr id="28" name="Shape 22"/>
          <p:cNvSpPr/>
          <p:nvPr/>
        </p:nvSpPr>
        <p:spPr>
          <a:xfrm>
            <a:off x="4517136" y="4288536"/>
            <a:ext cx="457200" cy="457200"/>
          </a:xfrm>
          <a:prstGeom prst="ellipse">
            <a:avLst/>
          </a:prstGeom>
          <a:solidFill>
            <a:srgbClr val="16294A"/>
          </a:solidFill>
          <a:ln w="15875">
            <a:solidFill>
              <a:srgbClr val="3DDCC7"/>
            </a:solidFill>
            <a:prstDash val="solid"/>
          </a:ln>
        </p:spPr>
        <p:txBody>
          <a:bodyPr/>
          <a:lstStyle/>
          <a:p>
            <a:endParaRPr lang="en-US"/>
          </a:p>
        </p:txBody>
      </p:sp>
      <p:pic>
        <p:nvPicPr>
          <p:cNvPr id="29" name="Image 4" descr="icons/code.png"/>
          <p:cNvPicPr>
            <a:picLocks noChangeAspect="1"/>
          </p:cNvPicPr>
          <p:nvPr/>
        </p:nvPicPr>
        <p:blipFill>
          <a:blip r:embed="rId7"/>
          <a:stretch>
            <a:fillRect/>
          </a:stretch>
        </p:blipFill>
        <p:spPr>
          <a:xfrm>
            <a:off x="4572000" y="4343400"/>
            <a:ext cx="347472" cy="347472"/>
          </a:xfrm>
          <a:prstGeom prst="rect">
            <a:avLst/>
          </a:prstGeom>
        </p:spPr>
      </p:pic>
      <p:sp>
        <p:nvSpPr>
          <p:cNvPr id="30" name="Text 23"/>
          <p:cNvSpPr txBox="1"/>
          <p:nvPr/>
        </p:nvSpPr>
        <p:spPr>
          <a:xfrm>
            <a:off x="5120640" y="4233672"/>
            <a:ext cx="2560320" cy="365760"/>
          </a:xfrm>
          <a:prstGeom prst="rect">
            <a:avLst/>
          </a:prstGeom>
          <a:noFill/>
          <a:ln/>
        </p:spPr>
        <p:txBody>
          <a:bodyPr wrap="square" lIns="0" tIns="0" rIns="0" bIns="0" rtlCol="0" anchor="ctr"/>
          <a:lstStyle/>
          <a:p>
            <a:pPr marL="0" indent="0">
              <a:buNone/>
            </a:pPr>
            <a:r>
              <a:rPr lang="en-US" sz="1350" b="1" dirty="0">
                <a:solidFill>
                  <a:srgbClr val="FFFFFF"/>
                </a:solidFill>
                <a:latin typeface="Cambria" pitchFamily="34" charset="0"/>
                <a:ea typeface="Cambria" pitchFamily="34" charset="-122"/>
                <a:cs typeface="Cambria" pitchFamily="34" charset="-120"/>
              </a:rPr>
              <a:t>Manual override interface</a:t>
            </a:r>
            <a:endParaRPr lang="en-US" sz="1350" dirty="0"/>
          </a:p>
        </p:txBody>
      </p:sp>
      <p:sp>
        <p:nvSpPr>
          <p:cNvPr id="31" name="Text 24"/>
          <p:cNvSpPr txBox="1"/>
          <p:nvPr/>
        </p:nvSpPr>
        <p:spPr>
          <a:xfrm>
            <a:off x="4517136" y="4846320"/>
            <a:ext cx="3127248" cy="731520"/>
          </a:xfrm>
          <a:prstGeom prst="rect">
            <a:avLst/>
          </a:prstGeom>
          <a:noFill/>
          <a:ln/>
        </p:spPr>
        <p:txBody>
          <a:bodyPr wrap="square" lIns="0" tIns="0" rIns="0" bIns="0" rtlCol="0" anchor="ctr"/>
          <a:lstStyle/>
          <a:p>
            <a:pPr marL="0" indent="0">
              <a:lnSpc>
                <a:spcPct val="120000"/>
              </a:lnSpc>
              <a:buNone/>
            </a:pPr>
            <a:r>
              <a:rPr lang="en-US" sz="1100" dirty="0">
                <a:solidFill>
                  <a:srgbClr val="9FB3C8"/>
                </a:solidFill>
                <a:latin typeface="Calibri" pitchFamily="34" charset="0"/>
                <a:ea typeface="Calibri" pitchFamily="34" charset="-122"/>
                <a:cs typeface="Calibri" pitchFamily="34" charset="-120"/>
              </a:rPr>
              <a:t>An operator control path alongside the autonomous engagement mode.</a:t>
            </a:r>
            <a:endParaRPr lang="en-US" sz="1100" dirty="0"/>
          </a:p>
        </p:txBody>
      </p:sp>
      <p:sp>
        <p:nvSpPr>
          <p:cNvPr id="32" name="Shape 25"/>
          <p:cNvSpPr/>
          <p:nvPr/>
        </p:nvSpPr>
        <p:spPr>
          <a:xfrm>
            <a:off x="8046720" y="4069080"/>
            <a:ext cx="3566160" cy="1600200"/>
          </a:xfrm>
          <a:prstGeom prst="roundRect">
            <a:avLst>
              <a:gd name="adj" fmla="val 4571"/>
            </a:avLst>
          </a:prstGeom>
          <a:solidFill>
            <a:srgbClr val="10203D"/>
          </a:solidFill>
          <a:ln/>
        </p:spPr>
        <p:txBody>
          <a:bodyPr/>
          <a:lstStyle/>
          <a:p>
            <a:endParaRPr lang="en-US"/>
          </a:p>
        </p:txBody>
      </p:sp>
      <p:sp>
        <p:nvSpPr>
          <p:cNvPr id="33" name="Shape 26"/>
          <p:cNvSpPr/>
          <p:nvPr/>
        </p:nvSpPr>
        <p:spPr>
          <a:xfrm>
            <a:off x="8266176" y="4288536"/>
            <a:ext cx="457200" cy="457200"/>
          </a:xfrm>
          <a:prstGeom prst="ellipse">
            <a:avLst/>
          </a:prstGeom>
          <a:solidFill>
            <a:srgbClr val="16294A"/>
          </a:solidFill>
          <a:ln w="15875">
            <a:solidFill>
              <a:srgbClr val="3DDCC7"/>
            </a:solidFill>
            <a:prstDash val="solid"/>
          </a:ln>
        </p:spPr>
        <p:txBody>
          <a:bodyPr/>
          <a:lstStyle/>
          <a:p>
            <a:endParaRPr lang="en-US"/>
          </a:p>
        </p:txBody>
      </p:sp>
      <p:pic>
        <p:nvPicPr>
          <p:cNvPr id="34" name="Image 5" descr="icons/flag.png"/>
          <p:cNvPicPr>
            <a:picLocks noChangeAspect="1"/>
          </p:cNvPicPr>
          <p:nvPr/>
        </p:nvPicPr>
        <p:blipFill>
          <a:blip r:embed="rId8"/>
          <a:stretch>
            <a:fillRect/>
          </a:stretch>
        </p:blipFill>
        <p:spPr>
          <a:xfrm>
            <a:off x="8321040" y="4343400"/>
            <a:ext cx="347472" cy="347472"/>
          </a:xfrm>
          <a:prstGeom prst="rect">
            <a:avLst/>
          </a:prstGeom>
        </p:spPr>
      </p:pic>
      <p:sp>
        <p:nvSpPr>
          <p:cNvPr id="35" name="Text 27"/>
          <p:cNvSpPr txBox="1"/>
          <p:nvPr/>
        </p:nvSpPr>
        <p:spPr>
          <a:xfrm>
            <a:off x="8869680" y="4233672"/>
            <a:ext cx="2560320" cy="365760"/>
          </a:xfrm>
          <a:prstGeom prst="rect">
            <a:avLst/>
          </a:prstGeom>
          <a:noFill/>
          <a:ln/>
        </p:spPr>
        <p:txBody>
          <a:bodyPr wrap="square" lIns="0" tIns="0" rIns="0" bIns="0" rtlCol="0" anchor="ctr"/>
          <a:lstStyle/>
          <a:p>
            <a:pPr marL="0" indent="0">
              <a:buNone/>
            </a:pPr>
            <a:r>
              <a:rPr lang="en-US" sz="1350" b="1" dirty="0">
                <a:solidFill>
                  <a:srgbClr val="FFFFFF"/>
                </a:solidFill>
                <a:latin typeface="Cambria" pitchFamily="34" charset="0"/>
                <a:ea typeface="Cambria" pitchFamily="34" charset="-122"/>
                <a:cs typeface="Cambria" pitchFamily="34" charset="-120"/>
              </a:rPr>
              <a:t>Docs &amp; demonstrations</a:t>
            </a:r>
            <a:endParaRPr lang="en-US" sz="1350" dirty="0"/>
          </a:p>
        </p:txBody>
      </p:sp>
      <p:sp>
        <p:nvSpPr>
          <p:cNvPr id="36" name="Text 28"/>
          <p:cNvSpPr txBox="1"/>
          <p:nvPr/>
        </p:nvSpPr>
        <p:spPr>
          <a:xfrm>
            <a:off x="8266176" y="4846320"/>
            <a:ext cx="3127248" cy="731520"/>
          </a:xfrm>
          <a:prstGeom prst="rect">
            <a:avLst/>
          </a:prstGeom>
          <a:noFill/>
          <a:ln/>
        </p:spPr>
        <p:txBody>
          <a:bodyPr wrap="square" lIns="0" tIns="0" rIns="0" bIns="0" rtlCol="0" anchor="ctr"/>
          <a:lstStyle/>
          <a:p>
            <a:pPr marL="0" indent="0">
              <a:lnSpc>
                <a:spcPct val="120000"/>
              </a:lnSpc>
              <a:buNone/>
            </a:pPr>
            <a:r>
              <a:rPr lang="en-US" sz="1100" dirty="0">
                <a:solidFill>
                  <a:srgbClr val="9FB3C8"/>
                </a:solidFill>
                <a:latin typeface="Calibri" pitchFamily="34" charset="0"/>
                <a:ea typeface="Calibri" pitchFamily="34" charset="-122"/>
                <a:cs typeface="Calibri" pitchFamily="34" charset="-120"/>
              </a:rPr>
              <a:t>Requirement, design, and test documentation; milestone demos.</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B1730"/>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9144000" cy="292608"/>
          </a:xfrm>
          <a:prstGeom prst="rect">
            <a:avLst/>
          </a:prstGeom>
          <a:noFill/>
          <a:ln/>
        </p:spPr>
        <p:txBody>
          <a:bodyPr wrap="square" lIns="0" tIns="0" rIns="0" bIns="0" rtlCol="0" anchor="ctr"/>
          <a:lstStyle/>
          <a:p>
            <a:pPr marL="0" indent="0">
              <a:buNone/>
            </a:pPr>
            <a:r>
              <a:rPr lang="en-US" sz="1300" b="1" kern="0" spc="200" dirty="0">
                <a:solidFill>
                  <a:srgbClr val="3DDCC7"/>
                </a:solidFill>
                <a:latin typeface="Calibri" pitchFamily="34" charset="0"/>
                <a:ea typeface="Calibri" pitchFamily="34" charset="-122"/>
                <a:cs typeface="Calibri" pitchFamily="34" charset="-120"/>
              </a:rPr>
              <a:t>ARCHITECTURE</a:t>
            </a:r>
            <a:endParaRPr lang="en-US" sz="1300" dirty="0"/>
          </a:p>
        </p:txBody>
      </p:sp>
      <p:sp>
        <p:nvSpPr>
          <p:cNvPr id="3" name="Text 1"/>
          <p:cNvSpPr txBox="1"/>
          <p:nvPr/>
        </p:nvSpPr>
        <p:spPr>
          <a:xfrm>
            <a:off x="548640" y="658368"/>
            <a:ext cx="10515600" cy="731520"/>
          </a:xfrm>
          <a:prstGeom prst="rect">
            <a:avLst/>
          </a:prstGeom>
          <a:noFill/>
          <a:ln/>
        </p:spPr>
        <p:txBody>
          <a:bodyPr wrap="square" lIns="0" tIns="0" rIns="0" bIns="0" rtlCol="0" anchor="ctr"/>
          <a:lstStyle/>
          <a:p>
            <a:pPr marL="0" indent="0">
              <a:buNone/>
            </a:pPr>
            <a:r>
              <a:rPr lang="en-US" sz="3200" b="1" dirty="0">
                <a:solidFill>
                  <a:srgbClr val="FFFFFF"/>
                </a:solidFill>
                <a:latin typeface="Cambria" pitchFamily="34" charset="0"/>
                <a:ea typeface="Cambria" pitchFamily="34" charset="-122"/>
                <a:cs typeface="Cambria" pitchFamily="34" charset="-120"/>
              </a:rPr>
              <a:t>The perception-to-action pipeline</a:t>
            </a:r>
            <a:endParaRPr lang="en-US" sz="3200" dirty="0"/>
          </a:p>
        </p:txBody>
      </p:sp>
      <p:sp>
        <p:nvSpPr>
          <p:cNvPr id="4" name="Text 2"/>
          <p:cNvSpPr txBox="1"/>
          <p:nvPr/>
        </p:nvSpPr>
        <p:spPr>
          <a:xfrm>
            <a:off x="11475720" y="6510528"/>
            <a:ext cx="548640" cy="274320"/>
          </a:xfrm>
          <a:prstGeom prst="rect">
            <a:avLst/>
          </a:prstGeom>
          <a:noFill/>
          <a:ln/>
        </p:spPr>
        <p:txBody>
          <a:bodyPr wrap="square" lIns="0" tIns="0" rIns="0" bIns="0" rtlCol="0" anchor="ctr"/>
          <a:lstStyle/>
          <a:p>
            <a:pPr marL="0" indent="0" algn="r">
              <a:buNone/>
            </a:pPr>
            <a:r>
              <a:rPr lang="en-US" sz="900" dirty="0">
                <a:solidFill>
                  <a:srgbClr val="7488A3"/>
                </a:solidFill>
                <a:latin typeface="Calibri" pitchFamily="34" charset="0"/>
                <a:ea typeface="Calibri" pitchFamily="34" charset="-122"/>
                <a:cs typeface="Calibri" pitchFamily="34" charset="-120"/>
              </a:rPr>
              <a:t>5 / 14</a:t>
            </a:r>
            <a:endParaRPr lang="en-US" sz="900" dirty="0"/>
          </a:p>
        </p:txBody>
      </p:sp>
      <p:sp>
        <p:nvSpPr>
          <p:cNvPr id="5" name="Text 3"/>
          <p:cNvSpPr txBox="1"/>
          <p:nvPr/>
        </p:nvSpPr>
        <p:spPr>
          <a:xfrm>
            <a:off x="457200" y="6510528"/>
            <a:ext cx="5486400" cy="274320"/>
          </a:xfrm>
          <a:prstGeom prst="rect">
            <a:avLst/>
          </a:prstGeom>
          <a:noFill/>
          <a:ln/>
        </p:spPr>
        <p:txBody>
          <a:bodyPr wrap="square" lIns="0" tIns="0" rIns="0" bIns="0" rtlCol="0" anchor="ctr"/>
          <a:lstStyle/>
          <a:p>
            <a:pPr marL="0" indent="0" algn="l">
              <a:buNone/>
            </a:pPr>
            <a:r>
              <a:rPr lang="en-US" sz="900" dirty="0">
                <a:solidFill>
                  <a:srgbClr val="7488A3"/>
                </a:solidFill>
                <a:latin typeface="Calibri" pitchFamily="34" charset="0"/>
                <a:ea typeface="Calibri" pitchFamily="34" charset="-122"/>
                <a:cs typeface="Calibri" pitchFamily="34" charset="-120"/>
              </a:rPr>
              <a:t>SHIELD — Software &amp; Autonomy Overview</a:t>
            </a:r>
            <a:endParaRPr lang="en-US" sz="900" dirty="0"/>
          </a:p>
        </p:txBody>
      </p:sp>
      <p:sp>
        <p:nvSpPr>
          <p:cNvPr id="6" name="Shape 4"/>
          <p:cNvSpPr/>
          <p:nvPr/>
        </p:nvSpPr>
        <p:spPr>
          <a:xfrm>
            <a:off x="416052" y="2377440"/>
            <a:ext cx="1572768" cy="2286000"/>
          </a:xfrm>
          <a:prstGeom prst="roundRect">
            <a:avLst>
              <a:gd name="adj" fmla="val 4651"/>
            </a:avLst>
          </a:prstGeom>
          <a:solidFill>
            <a:srgbClr val="10203D"/>
          </a:solidFill>
          <a:ln w="12700">
            <a:solidFill>
              <a:srgbClr val="223454"/>
            </a:solidFill>
            <a:prstDash val="solid"/>
          </a:ln>
        </p:spPr>
        <p:txBody>
          <a:bodyPr/>
          <a:lstStyle/>
          <a:p>
            <a:endParaRPr lang="en-US"/>
          </a:p>
        </p:txBody>
      </p:sp>
      <p:sp>
        <p:nvSpPr>
          <p:cNvPr id="7" name="Shape 5"/>
          <p:cNvSpPr/>
          <p:nvPr/>
        </p:nvSpPr>
        <p:spPr>
          <a:xfrm>
            <a:off x="937260" y="2633472"/>
            <a:ext cx="530352" cy="530352"/>
          </a:xfrm>
          <a:prstGeom prst="ellipse">
            <a:avLst/>
          </a:prstGeom>
          <a:solidFill>
            <a:srgbClr val="16294A"/>
          </a:solidFill>
          <a:ln w="15875">
            <a:solidFill>
              <a:srgbClr val="3DDCC7"/>
            </a:solidFill>
            <a:prstDash val="solid"/>
          </a:ln>
        </p:spPr>
        <p:txBody>
          <a:bodyPr/>
          <a:lstStyle/>
          <a:p>
            <a:endParaRPr lang="en-US"/>
          </a:p>
        </p:txBody>
      </p:sp>
      <p:pic>
        <p:nvPicPr>
          <p:cNvPr id="8" name="Image 0" descr="icons/video.png"/>
          <p:cNvPicPr>
            <a:picLocks noChangeAspect="1"/>
          </p:cNvPicPr>
          <p:nvPr/>
        </p:nvPicPr>
        <p:blipFill>
          <a:blip r:embed="rId3"/>
          <a:stretch>
            <a:fillRect/>
          </a:stretch>
        </p:blipFill>
        <p:spPr>
          <a:xfrm>
            <a:off x="1000902" y="2697114"/>
            <a:ext cx="403068" cy="403068"/>
          </a:xfrm>
          <a:prstGeom prst="rect">
            <a:avLst/>
          </a:prstGeom>
        </p:spPr>
      </p:pic>
      <p:sp>
        <p:nvSpPr>
          <p:cNvPr id="9" name="Text 6"/>
          <p:cNvSpPr txBox="1"/>
          <p:nvPr/>
        </p:nvSpPr>
        <p:spPr>
          <a:xfrm>
            <a:off x="489204" y="3310128"/>
            <a:ext cx="1426464" cy="502920"/>
          </a:xfrm>
          <a:prstGeom prst="rect">
            <a:avLst/>
          </a:prstGeom>
          <a:noFill/>
          <a:ln/>
        </p:spPr>
        <p:txBody>
          <a:bodyPr wrap="square" lIns="0" tIns="0" rIns="0" bIns="0" rtlCol="0" anchor="ctr"/>
          <a:lstStyle/>
          <a:p>
            <a:pPr marL="0" indent="0" algn="ctr">
              <a:buNone/>
            </a:pPr>
            <a:r>
              <a:rPr lang="en-US" sz="1250" b="1" dirty="0">
                <a:solidFill>
                  <a:srgbClr val="FFFFFF"/>
                </a:solidFill>
                <a:latin typeface="Cambria" pitchFamily="34" charset="0"/>
                <a:ea typeface="Cambria" pitchFamily="34" charset="-122"/>
                <a:cs typeface="Cambria" pitchFamily="34" charset="-120"/>
              </a:rPr>
              <a:t>Camera feed</a:t>
            </a:r>
            <a:endParaRPr lang="en-US" sz="1250" dirty="0"/>
          </a:p>
        </p:txBody>
      </p:sp>
      <p:sp>
        <p:nvSpPr>
          <p:cNvPr id="10" name="Text 7"/>
          <p:cNvSpPr txBox="1"/>
          <p:nvPr/>
        </p:nvSpPr>
        <p:spPr>
          <a:xfrm>
            <a:off x="507492" y="3794760"/>
            <a:ext cx="1389888" cy="777240"/>
          </a:xfrm>
          <a:prstGeom prst="rect">
            <a:avLst/>
          </a:prstGeom>
          <a:noFill/>
          <a:ln/>
        </p:spPr>
        <p:txBody>
          <a:bodyPr wrap="square" lIns="0" tIns="0" rIns="0" bIns="0" rtlCol="0" anchor="ctr"/>
          <a:lstStyle/>
          <a:p>
            <a:pPr marL="0" indent="0" algn="ctr">
              <a:lnSpc>
                <a:spcPct val="115000"/>
              </a:lnSpc>
              <a:buNone/>
            </a:pPr>
            <a:r>
              <a:rPr lang="en-US" sz="950" dirty="0">
                <a:solidFill>
                  <a:srgbClr val="9FB3C8"/>
                </a:solidFill>
                <a:latin typeface="Calibri" pitchFamily="34" charset="0"/>
                <a:ea typeface="Calibri" pitchFamily="34" charset="-122"/>
                <a:cs typeface="Calibri" pitchFamily="34" charset="-120"/>
              </a:rPr>
              <a:t>Onboard camera or Unity emulation over TCP</a:t>
            </a:r>
            <a:endParaRPr lang="en-US" sz="950" dirty="0"/>
          </a:p>
        </p:txBody>
      </p:sp>
      <p:sp>
        <p:nvSpPr>
          <p:cNvPr id="11" name="Text 8"/>
          <p:cNvSpPr txBox="1"/>
          <p:nvPr/>
        </p:nvSpPr>
        <p:spPr>
          <a:xfrm>
            <a:off x="489204" y="2432304"/>
            <a:ext cx="365760" cy="274320"/>
          </a:xfrm>
          <a:prstGeom prst="rect">
            <a:avLst/>
          </a:prstGeom>
          <a:noFill/>
          <a:ln/>
        </p:spPr>
        <p:txBody>
          <a:bodyPr wrap="square" lIns="0" tIns="0" rIns="0" bIns="0" rtlCol="0" anchor="ctr"/>
          <a:lstStyle/>
          <a:p>
            <a:pPr marL="0" indent="0">
              <a:buNone/>
            </a:pPr>
            <a:r>
              <a:rPr lang="en-US" sz="1000" b="1" dirty="0">
                <a:solidFill>
                  <a:srgbClr val="7488A3"/>
                </a:solidFill>
                <a:latin typeface="Calibri" pitchFamily="34" charset="0"/>
                <a:ea typeface="Calibri" pitchFamily="34" charset="-122"/>
                <a:cs typeface="Calibri" pitchFamily="34" charset="-120"/>
              </a:rPr>
              <a:t>1</a:t>
            </a:r>
            <a:endParaRPr lang="en-US" sz="1000" dirty="0"/>
          </a:p>
        </p:txBody>
      </p:sp>
      <p:sp>
        <p:nvSpPr>
          <p:cNvPr id="12" name="Text 9"/>
          <p:cNvSpPr txBox="1"/>
          <p:nvPr/>
        </p:nvSpPr>
        <p:spPr>
          <a:xfrm>
            <a:off x="1988820" y="3200400"/>
            <a:ext cx="384048" cy="640080"/>
          </a:xfrm>
          <a:prstGeom prst="rect">
            <a:avLst/>
          </a:prstGeom>
          <a:noFill/>
          <a:ln/>
        </p:spPr>
        <p:txBody>
          <a:bodyPr wrap="square" lIns="0" tIns="0" rIns="0" bIns="0" rtlCol="0" anchor="ctr"/>
          <a:lstStyle/>
          <a:p>
            <a:pPr marL="0" indent="0" algn="ctr">
              <a:buNone/>
            </a:pPr>
            <a:r>
              <a:rPr lang="en-US" sz="2200" dirty="0">
                <a:solidFill>
                  <a:srgbClr val="3DDCC7"/>
                </a:solidFill>
                <a:latin typeface="Calibri" pitchFamily="34" charset="0"/>
                <a:ea typeface="Calibri" pitchFamily="34" charset="-122"/>
                <a:cs typeface="Calibri" pitchFamily="34" charset="-120"/>
              </a:rPr>
              <a:t>→</a:t>
            </a:r>
            <a:endParaRPr lang="en-US" sz="2200" dirty="0"/>
          </a:p>
        </p:txBody>
      </p:sp>
      <p:sp>
        <p:nvSpPr>
          <p:cNvPr id="13" name="Shape 10"/>
          <p:cNvSpPr/>
          <p:nvPr/>
        </p:nvSpPr>
        <p:spPr>
          <a:xfrm>
            <a:off x="2372868" y="2377440"/>
            <a:ext cx="1572768" cy="2286000"/>
          </a:xfrm>
          <a:prstGeom prst="roundRect">
            <a:avLst>
              <a:gd name="adj" fmla="val 4651"/>
            </a:avLst>
          </a:prstGeom>
          <a:solidFill>
            <a:srgbClr val="10203D"/>
          </a:solidFill>
          <a:ln w="12700">
            <a:solidFill>
              <a:srgbClr val="223454"/>
            </a:solidFill>
            <a:prstDash val="solid"/>
          </a:ln>
        </p:spPr>
        <p:txBody>
          <a:bodyPr/>
          <a:lstStyle/>
          <a:p>
            <a:endParaRPr lang="en-US"/>
          </a:p>
        </p:txBody>
      </p:sp>
      <p:sp>
        <p:nvSpPr>
          <p:cNvPr id="14" name="Shape 11"/>
          <p:cNvSpPr/>
          <p:nvPr/>
        </p:nvSpPr>
        <p:spPr>
          <a:xfrm>
            <a:off x="2894076" y="2633472"/>
            <a:ext cx="530352" cy="530352"/>
          </a:xfrm>
          <a:prstGeom prst="ellipse">
            <a:avLst/>
          </a:prstGeom>
          <a:solidFill>
            <a:srgbClr val="16294A"/>
          </a:solidFill>
          <a:ln w="15875">
            <a:solidFill>
              <a:srgbClr val="3DDCC7"/>
            </a:solidFill>
            <a:prstDash val="solid"/>
          </a:ln>
        </p:spPr>
        <p:txBody>
          <a:bodyPr/>
          <a:lstStyle/>
          <a:p>
            <a:endParaRPr lang="en-US"/>
          </a:p>
        </p:txBody>
      </p:sp>
      <p:pic>
        <p:nvPicPr>
          <p:cNvPr id="15" name="Image 1" descr="icons/microchip.png"/>
          <p:cNvPicPr>
            <a:picLocks noChangeAspect="1"/>
          </p:cNvPicPr>
          <p:nvPr/>
        </p:nvPicPr>
        <p:blipFill>
          <a:blip r:embed="rId4"/>
          <a:stretch>
            <a:fillRect/>
          </a:stretch>
        </p:blipFill>
        <p:spPr>
          <a:xfrm>
            <a:off x="2957718" y="2697114"/>
            <a:ext cx="403068" cy="403068"/>
          </a:xfrm>
          <a:prstGeom prst="rect">
            <a:avLst/>
          </a:prstGeom>
        </p:spPr>
      </p:pic>
      <p:sp>
        <p:nvSpPr>
          <p:cNvPr id="16" name="Text 12"/>
          <p:cNvSpPr txBox="1"/>
          <p:nvPr/>
        </p:nvSpPr>
        <p:spPr>
          <a:xfrm>
            <a:off x="2446020" y="3310128"/>
            <a:ext cx="1426464" cy="502920"/>
          </a:xfrm>
          <a:prstGeom prst="rect">
            <a:avLst/>
          </a:prstGeom>
          <a:noFill/>
          <a:ln/>
        </p:spPr>
        <p:txBody>
          <a:bodyPr wrap="square" lIns="0" tIns="0" rIns="0" bIns="0" rtlCol="0" anchor="ctr"/>
          <a:lstStyle/>
          <a:p>
            <a:pPr marL="0" indent="0" algn="ctr">
              <a:buNone/>
            </a:pPr>
            <a:r>
              <a:rPr lang="en-US" sz="1250" b="1" dirty="0">
                <a:solidFill>
                  <a:srgbClr val="FFFFFF"/>
                </a:solidFill>
                <a:latin typeface="Cambria" pitchFamily="34" charset="0"/>
                <a:ea typeface="Cambria" pitchFamily="34" charset="-122"/>
                <a:cs typeface="Cambria" pitchFamily="34" charset="-120"/>
              </a:rPr>
              <a:t>Preprocess</a:t>
            </a:r>
            <a:endParaRPr lang="en-US" sz="1250" dirty="0"/>
          </a:p>
        </p:txBody>
      </p:sp>
      <p:sp>
        <p:nvSpPr>
          <p:cNvPr id="17" name="Text 13"/>
          <p:cNvSpPr txBox="1"/>
          <p:nvPr/>
        </p:nvSpPr>
        <p:spPr>
          <a:xfrm>
            <a:off x="2464308" y="3794760"/>
            <a:ext cx="1389888" cy="777240"/>
          </a:xfrm>
          <a:prstGeom prst="rect">
            <a:avLst/>
          </a:prstGeom>
          <a:noFill/>
          <a:ln/>
        </p:spPr>
        <p:txBody>
          <a:bodyPr wrap="square" lIns="0" tIns="0" rIns="0" bIns="0" rtlCol="0" anchor="ctr"/>
          <a:lstStyle/>
          <a:p>
            <a:pPr marL="0" indent="0" algn="ctr">
              <a:lnSpc>
                <a:spcPct val="115000"/>
              </a:lnSpc>
              <a:buNone/>
            </a:pPr>
            <a:r>
              <a:rPr lang="en-US" sz="950" dirty="0">
                <a:solidFill>
                  <a:srgbClr val="9FB3C8"/>
                </a:solidFill>
                <a:latin typeface="Calibri" pitchFamily="34" charset="0"/>
                <a:ea typeface="Calibri" pitchFamily="34" charset="-122"/>
                <a:cs typeface="Calibri" pitchFamily="34" charset="-120"/>
              </a:rPr>
              <a:t>OpenCV frame prep</a:t>
            </a:r>
            <a:endParaRPr lang="en-US" sz="950" dirty="0"/>
          </a:p>
        </p:txBody>
      </p:sp>
      <p:sp>
        <p:nvSpPr>
          <p:cNvPr id="18" name="Text 14"/>
          <p:cNvSpPr txBox="1"/>
          <p:nvPr/>
        </p:nvSpPr>
        <p:spPr>
          <a:xfrm>
            <a:off x="2446020" y="2432304"/>
            <a:ext cx="365760" cy="274320"/>
          </a:xfrm>
          <a:prstGeom prst="rect">
            <a:avLst/>
          </a:prstGeom>
          <a:noFill/>
          <a:ln/>
        </p:spPr>
        <p:txBody>
          <a:bodyPr wrap="square" lIns="0" tIns="0" rIns="0" bIns="0" rtlCol="0" anchor="ctr"/>
          <a:lstStyle/>
          <a:p>
            <a:pPr marL="0" indent="0">
              <a:buNone/>
            </a:pPr>
            <a:r>
              <a:rPr lang="en-US" sz="1000" b="1" dirty="0">
                <a:solidFill>
                  <a:srgbClr val="7488A3"/>
                </a:solidFill>
                <a:latin typeface="Calibri" pitchFamily="34" charset="0"/>
                <a:ea typeface="Calibri" pitchFamily="34" charset="-122"/>
                <a:cs typeface="Calibri" pitchFamily="34" charset="-120"/>
              </a:rPr>
              <a:t>2</a:t>
            </a:r>
            <a:endParaRPr lang="en-US" sz="1000" dirty="0"/>
          </a:p>
        </p:txBody>
      </p:sp>
      <p:sp>
        <p:nvSpPr>
          <p:cNvPr id="19" name="Text 15"/>
          <p:cNvSpPr txBox="1"/>
          <p:nvPr/>
        </p:nvSpPr>
        <p:spPr>
          <a:xfrm>
            <a:off x="3945636" y="3200400"/>
            <a:ext cx="384048" cy="640080"/>
          </a:xfrm>
          <a:prstGeom prst="rect">
            <a:avLst/>
          </a:prstGeom>
          <a:noFill/>
          <a:ln/>
        </p:spPr>
        <p:txBody>
          <a:bodyPr wrap="square" lIns="0" tIns="0" rIns="0" bIns="0" rtlCol="0" anchor="ctr"/>
          <a:lstStyle/>
          <a:p>
            <a:pPr marL="0" indent="0" algn="ctr">
              <a:buNone/>
            </a:pPr>
            <a:r>
              <a:rPr lang="en-US" sz="2200" dirty="0">
                <a:solidFill>
                  <a:srgbClr val="3DDCC7"/>
                </a:solidFill>
                <a:latin typeface="Calibri" pitchFamily="34" charset="0"/>
                <a:ea typeface="Calibri" pitchFamily="34" charset="-122"/>
                <a:cs typeface="Calibri" pitchFamily="34" charset="-120"/>
              </a:rPr>
              <a:t>→</a:t>
            </a:r>
            <a:endParaRPr lang="en-US" sz="2200" dirty="0"/>
          </a:p>
        </p:txBody>
      </p:sp>
      <p:sp>
        <p:nvSpPr>
          <p:cNvPr id="20" name="Shape 16"/>
          <p:cNvSpPr/>
          <p:nvPr/>
        </p:nvSpPr>
        <p:spPr>
          <a:xfrm>
            <a:off x="4329684" y="2377440"/>
            <a:ext cx="1572768" cy="2286000"/>
          </a:xfrm>
          <a:prstGeom prst="roundRect">
            <a:avLst>
              <a:gd name="adj" fmla="val 4651"/>
            </a:avLst>
          </a:prstGeom>
          <a:solidFill>
            <a:srgbClr val="10203D"/>
          </a:solidFill>
          <a:ln w="12700">
            <a:solidFill>
              <a:srgbClr val="223454"/>
            </a:solidFill>
            <a:prstDash val="solid"/>
          </a:ln>
        </p:spPr>
        <p:txBody>
          <a:bodyPr/>
          <a:lstStyle/>
          <a:p>
            <a:endParaRPr lang="en-US"/>
          </a:p>
        </p:txBody>
      </p:sp>
      <p:sp>
        <p:nvSpPr>
          <p:cNvPr id="21" name="Shape 17"/>
          <p:cNvSpPr/>
          <p:nvPr/>
        </p:nvSpPr>
        <p:spPr>
          <a:xfrm>
            <a:off x="4850892" y="2633472"/>
            <a:ext cx="530352" cy="530352"/>
          </a:xfrm>
          <a:prstGeom prst="ellipse">
            <a:avLst/>
          </a:prstGeom>
          <a:solidFill>
            <a:srgbClr val="16294A"/>
          </a:solidFill>
          <a:ln w="15875">
            <a:solidFill>
              <a:srgbClr val="3DDCC7"/>
            </a:solidFill>
            <a:prstDash val="solid"/>
          </a:ln>
        </p:spPr>
        <p:txBody>
          <a:bodyPr/>
          <a:lstStyle/>
          <a:p>
            <a:endParaRPr lang="en-US"/>
          </a:p>
        </p:txBody>
      </p:sp>
      <p:pic>
        <p:nvPicPr>
          <p:cNvPr id="22" name="Image 2" descr="icons/eye.png"/>
          <p:cNvPicPr>
            <a:picLocks noChangeAspect="1"/>
          </p:cNvPicPr>
          <p:nvPr/>
        </p:nvPicPr>
        <p:blipFill>
          <a:blip r:embed="rId5"/>
          <a:stretch>
            <a:fillRect/>
          </a:stretch>
        </p:blipFill>
        <p:spPr>
          <a:xfrm>
            <a:off x="4914534" y="2697114"/>
            <a:ext cx="403068" cy="403068"/>
          </a:xfrm>
          <a:prstGeom prst="rect">
            <a:avLst/>
          </a:prstGeom>
        </p:spPr>
      </p:pic>
      <p:sp>
        <p:nvSpPr>
          <p:cNvPr id="23" name="Text 18"/>
          <p:cNvSpPr txBox="1"/>
          <p:nvPr/>
        </p:nvSpPr>
        <p:spPr>
          <a:xfrm>
            <a:off x="4402836" y="3310128"/>
            <a:ext cx="1426464" cy="502920"/>
          </a:xfrm>
          <a:prstGeom prst="rect">
            <a:avLst/>
          </a:prstGeom>
          <a:noFill/>
          <a:ln/>
        </p:spPr>
        <p:txBody>
          <a:bodyPr wrap="square" lIns="0" tIns="0" rIns="0" bIns="0" rtlCol="0" anchor="ctr"/>
          <a:lstStyle/>
          <a:p>
            <a:pPr marL="0" indent="0" algn="ctr">
              <a:buNone/>
            </a:pPr>
            <a:r>
              <a:rPr lang="en-US" sz="1250" b="1" dirty="0">
                <a:solidFill>
                  <a:srgbClr val="FFFFFF"/>
                </a:solidFill>
                <a:latin typeface="Cambria" pitchFamily="34" charset="0"/>
                <a:ea typeface="Cambria" pitchFamily="34" charset="-122"/>
                <a:cs typeface="Cambria" pitchFamily="34" charset="-120"/>
              </a:rPr>
              <a:t>Detect</a:t>
            </a:r>
            <a:endParaRPr lang="en-US" sz="1250" dirty="0"/>
          </a:p>
        </p:txBody>
      </p:sp>
      <p:sp>
        <p:nvSpPr>
          <p:cNvPr id="24" name="Text 19"/>
          <p:cNvSpPr txBox="1"/>
          <p:nvPr/>
        </p:nvSpPr>
        <p:spPr>
          <a:xfrm>
            <a:off x="4421124" y="3794760"/>
            <a:ext cx="1389888" cy="777240"/>
          </a:xfrm>
          <a:prstGeom prst="rect">
            <a:avLst/>
          </a:prstGeom>
          <a:noFill/>
          <a:ln/>
        </p:spPr>
        <p:txBody>
          <a:bodyPr wrap="square" lIns="0" tIns="0" rIns="0" bIns="0" rtlCol="0" anchor="ctr"/>
          <a:lstStyle/>
          <a:p>
            <a:pPr marL="0" indent="0" algn="ctr">
              <a:lnSpc>
                <a:spcPct val="115000"/>
              </a:lnSpc>
              <a:buNone/>
            </a:pPr>
            <a:r>
              <a:rPr lang="en-US" sz="950" dirty="0">
                <a:solidFill>
                  <a:srgbClr val="9FB3C8"/>
                </a:solidFill>
                <a:latin typeface="Calibri" pitchFamily="34" charset="0"/>
                <a:ea typeface="Calibri" pitchFamily="34" charset="-122"/>
                <a:cs typeface="Calibri" pitchFamily="34" charset="-120"/>
              </a:rPr>
              <a:t>YOLO11n object detection</a:t>
            </a:r>
            <a:endParaRPr lang="en-US" sz="950" dirty="0"/>
          </a:p>
        </p:txBody>
      </p:sp>
      <p:sp>
        <p:nvSpPr>
          <p:cNvPr id="25" name="Text 20"/>
          <p:cNvSpPr txBox="1"/>
          <p:nvPr/>
        </p:nvSpPr>
        <p:spPr>
          <a:xfrm>
            <a:off x="4402836" y="2432304"/>
            <a:ext cx="365760" cy="274320"/>
          </a:xfrm>
          <a:prstGeom prst="rect">
            <a:avLst/>
          </a:prstGeom>
          <a:noFill/>
          <a:ln/>
        </p:spPr>
        <p:txBody>
          <a:bodyPr wrap="square" lIns="0" tIns="0" rIns="0" bIns="0" rtlCol="0" anchor="ctr"/>
          <a:lstStyle/>
          <a:p>
            <a:pPr marL="0" indent="0">
              <a:buNone/>
            </a:pPr>
            <a:r>
              <a:rPr lang="en-US" sz="1000" b="1" dirty="0">
                <a:solidFill>
                  <a:srgbClr val="7488A3"/>
                </a:solidFill>
                <a:latin typeface="Calibri" pitchFamily="34" charset="0"/>
                <a:ea typeface="Calibri" pitchFamily="34" charset="-122"/>
                <a:cs typeface="Calibri" pitchFamily="34" charset="-120"/>
              </a:rPr>
              <a:t>3</a:t>
            </a:r>
            <a:endParaRPr lang="en-US" sz="1000" dirty="0"/>
          </a:p>
        </p:txBody>
      </p:sp>
      <p:sp>
        <p:nvSpPr>
          <p:cNvPr id="26" name="Text 21"/>
          <p:cNvSpPr txBox="1"/>
          <p:nvPr/>
        </p:nvSpPr>
        <p:spPr>
          <a:xfrm>
            <a:off x="5902452" y="3200400"/>
            <a:ext cx="384048" cy="640080"/>
          </a:xfrm>
          <a:prstGeom prst="rect">
            <a:avLst/>
          </a:prstGeom>
          <a:noFill/>
          <a:ln/>
        </p:spPr>
        <p:txBody>
          <a:bodyPr wrap="square" lIns="0" tIns="0" rIns="0" bIns="0" rtlCol="0" anchor="ctr"/>
          <a:lstStyle/>
          <a:p>
            <a:pPr marL="0" indent="0" algn="ctr">
              <a:buNone/>
            </a:pPr>
            <a:r>
              <a:rPr lang="en-US" sz="2200" dirty="0">
                <a:solidFill>
                  <a:srgbClr val="3DDCC7"/>
                </a:solidFill>
                <a:latin typeface="Calibri" pitchFamily="34" charset="0"/>
                <a:ea typeface="Calibri" pitchFamily="34" charset="-122"/>
                <a:cs typeface="Calibri" pitchFamily="34" charset="-120"/>
              </a:rPr>
              <a:t>→</a:t>
            </a:r>
            <a:endParaRPr lang="en-US" sz="2200" dirty="0"/>
          </a:p>
        </p:txBody>
      </p:sp>
      <p:sp>
        <p:nvSpPr>
          <p:cNvPr id="27" name="Shape 22"/>
          <p:cNvSpPr/>
          <p:nvPr/>
        </p:nvSpPr>
        <p:spPr>
          <a:xfrm>
            <a:off x="6286500" y="2377440"/>
            <a:ext cx="1572768" cy="2286000"/>
          </a:xfrm>
          <a:prstGeom prst="roundRect">
            <a:avLst>
              <a:gd name="adj" fmla="val 4651"/>
            </a:avLst>
          </a:prstGeom>
          <a:solidFill>
            <a:srgbClr val="10203D"/>
          </a:solidFill>
          <a:ln w="12700">
            <a:solidFill>
              <a:srgbClr val="223454"/>
            </a:solidFill>
            <a:prstDash val="solid"/>
          </a:ln>
        </p:spPr>
        <p:txBody>
          <a:bodyPr/>
          <a:lstStyle/>
          <a:p>
            <a:endParaRPr lang="en-US"/>
          </a:p>
        </p:txBody>
      </p:sp>
      <p:sp>
        <p:nvSpPr>
          <p:cNvPr id="28" name="Shape 23"/>
          <p:cNvSpPr/>
          <p:nvPr/>
        </p:nvSpPr>
        <p:spPr>
          <a:xfrm>
            <a:off x="6807708" y="2633472"/>
            <a:ext cx="530352" cy="530352"/>
          </a:xfrm>
          <a:prstGeom prst="ellipse">
            <a:avLst/>
          </a:prstGeom>
          <a:solidFill>
            <a:srgbClr val="16294A"/>
          </a:solidFill>
          <a:ln w="15875">
            <a:solidFill>
              <a:srgbClr val="3DDCC7"/>
            </a:solidFill>
            <a:prstDash val="solid"/>
          </a:ln>
        </p:spPr>
        <p:txBody>
          <a:bodyPr/>
          <a:lstStyle/>
          <a:p>
            <a:endParaRPr lang="en-US"/>
          </a:p>
        </p:txBody>
      </p:sp>
      <p:pic>
        <p:nvPicPr>
          <p:cNvPr id="29" name="Image 3" descr="icons/route.png"/>
          <p:cNvPicPr>
            <a:picLocks noChangeAspect="1"/>
          </p:cNvPicPr>
          <p:nvPr/>
        </p:nvPicPr>
        <p:blipFill>
          <a:blip r:embed="rId6"/>
          <a:stretch>
            <a:fillRect/>
          </a:stretch>
        </p:blipFill>
        <p:spPr>
          <a:xfrm>
            <a:off x="6871350" y="2697114"/>
            <a:ext cx="403068" cy="403068"/>
          </a:xfrm>
          <a:prstGeom prst="rect">
            <a:avLst/>
          </a:prstGeom>
        </p:spPr>
      </p:pic>
      <p:sp>
        <p:nvSpPr>
          <p:cNvPr id="30" name="Text 24"/>
          <p:cNvSpPr txBox="1"/>
          <p:nvPr/>
        </p:nvSpPr>
        <p:spPr>
          <a:xfrm>
            <a:off x="6359652" y="3310128"/>
            <a:ext cx="1426464" cy="502920"/>
          </a:xfrm>
          <a:prstGeom prst="rect">
            <a:avLst/>
          </a:prstGeom>
          <a:noFill/>
          <a:ln/>
        </p:spPr>
        <p:txBody>
          <a:bodyPr wrap="square" lIns="0" tIns="0" rIns="0" bIns="0" rtlCol="0" anchor="ctr"/>
          <a:lstStyle/>
          <a:p>
            <a:pPr marL="0" indent="0" algn="ctr">
              <a:buNone/>
            </a:pPr>
            <a:r>
              <a:rPr lang="en-US" sz="1250" b="1" dirty="0">
                <a:solidFill>
                  <a:srgbClr val="FFFFFF"/>
                </a:solidFill>
                <a:latin typeface="Cambria" pitchFamily="34" charset="0"/>
                <a:ea typeface="Cambria" pitchFamily="34" charset="-122"/>
                <a:cs typeface="Cambria" pitchFamily="34" charset="-120"/>
              </a:rPr>
              <a:t>Track</a:t>
            </a:r>
            <a:endParaRPr lang="en-US" sz="1250" dirty="0"/>
          </a:p>
        </p:txBody>
      </p:sp>
      <p:sp>
        <p:nvSpPr>
          <p:cNvPr id="31" name="Text 25"/>
          <p:cNvSpPr txBox="1"/>
          <p:nvPr/>
        </p:nvSpPr>
        <p:spPr>
          <a:xfrm>
            <a:off x="6377940" y="3794760"/>
            <a:ext cx="1389888" cy="777240"/>
          </a:xfrm>
          <a:prstGeom prst="rect">
            <a:avLst/>
          </a:prstGeom>
          <a:noFill/>
          <a:ln/>
        </p:spPr>
        <p:txBody>
          <a:bodyPr wrap="square" lIns="0" tIns="0" rIns="0" bIns="0" rtlCol="0" anchor="ctr"/>
          <a:lstStyle/>
          <a:p>
            <a:pPr marL="0" indent="0" algn="ctr">
              <a:lnSpc>
                <a:spcPct val="115000"/>
              </a:lnSpc>
              <a:buNone/>
            </a:pPr>
            <a:r>
              <a:rPr lang="en-US" sz="950" dirty="0">
                <a:solidFill>
                  <a:srgbClr val="9FB3C8"/>
                </a:solidFill>
                <a:latin typeface="Calibri" pitchFamily="34" charset="0"/>
                <a:ea typeface="Calibri" pitchFamily="34" charset="-122"/>
                <a:cs typeface="Calibri" pitchFamily="34" charset="-120"/>
              </a:rPr>
              <a:t>ByteTrack + Kalman filter</a:t>
            </a:r>
            <a:endParaRPr lang="en-US" sz="950" dirty="0"/>
          </a:p>
        </p:txBody>
      </p:sp>
      <p:sp>
        <p:nvSpPr>
          <p:cNvPr id="32" name="Text 26"/>
          <p:cNvSpPr txBox="1"/>
          <p:nvPr/>
        </p:nvSpPr>
        <p:spPr>
          <a:xfrm>
            <a:off x="6359652" y="2432304"/>
            <a:ext cx="365760" cy="274320"/>
          </a:xfrm>
          <a:prstGeom prst="rect">
            <a:avLst/>
          </a:prstGeom>
          <a:noFill/>
          <a:ln/>
        </p:spPr>
        <p:txBody>
          <a:bodyPr wrap="square" lIns="0" tIns="0" rIns="0" bIns="0" rtlCol="0" anchor="ctr"/>
          <a:lstStyle/>
          <a:p>
            <a:pPr marL="0" indent="0">
              <a:buNone/>
            </a:pPr>
            <a:r>
              <a:rPr lang="en-US" sz="1000" b="1" dirty="0">
                <a:solidFill>
                  <a:srgbClr val="7488A3"/>
                </a:solidFill>
                <a:latin typeface="Calibri" pitchFamily="34" charset="0"/>
                <a:ea typeface="Calibri" pitchFamily="34" charset="-122"/>
                <a:cs typeface="Calibri" pitchFamily="34" charset="-120"/>
              </a:rPr>
              <a:t>4</a:t>
            </a:r>
            <a:endParaRPr lang="en-US" sz="1000" dirty="0"/>
          </a:p>
        </p:txBody>
      </p:sp>
      <p:sp>
        <p:nvSpPr>
          <p:cNvPr id="33" name="Text 27"/>
          <p:cNvSpPr txBox="1"/>
          <p:nvPr/>
        </p:nvSpPr>
        <p:spPr>
          <a:xfrm>
            <a:off x="7859268" y="3200400"/>
            <a:ext cx="384048" cy="640080"/>
          </a:xfrm>
          <a:prstGeom prst="rect">
            <a:avLst/>
          </a:prstGeom>
          <a:noFill/>
          <a:ln/>
        </p:spPr>
        <p:txBody>
          <a:bodyPr wrap="square" lIns="0" tIns="0" rIns="0" bIns="0" rtlCol="0" anchor="ctr"/>
          <a:lstStyle/>
          <a:p>
            <a:pPr marL="0" indent="0" algn="ctr">
              <a:buNone/>
            </a:pPr>
            <a:r>
              <a:rPr lang="en-US" sz="2200" dirty="0">
                <a:solidFill>
                  <a:srgbClr val="3DDCC7"/>
                </a:solidFill>
                <a:latin typeface="Calibri" pitchFamily="34" charset="0"/>
                <a:ea typeface="Calibri" pitchFamily="34" charset="-122"/>
                <a:cs typeface="Calibri" pitchFamily="34" charset="-120"/>
              </a:rPr>
              <a:t>→</a:t>
            </a:r>
            <a:endParaRPr lang="en-US" sz="2200" dirty="0"/>
          </a:p>
        </p:txBody>
      </p:sp>
      <p:sp>
        <p:nvSpPr>
          <p:cNvPr id="34" name="Shape 28"/>
          <p:cNvSpPr/>
          <p:nvPr/>
        </p:nvSpPr>
        <p:spPr>
          <a:xfrm>
            <a:off x="8243316" y="2377440"/>
            <a:ext cx="1572768" cy="2286000"/>
          </a:xfrm>
          <a:prstGeom prst="roundRect">
            <a:avLst>
              <a:gd name="adj" fmla="val 4651"/>
            </a:avLst>
          </a:prstGeom>
          <a:solidFill>
            <a:srgbClr val="10203D"/>
          </a:solidFill>
          <a:ln w="12700">
            <a:solidFill>
              <a:srgbClr val="223454"/>
            </a:solidFill>
            <a:prstDash val="solid"/>
          </a:ln>
        </p:spPr>
        <p:txBody>
          <a:bodyPr/>
          <a:lstStyle/>
          <a:p>
            <a:endParaRPr lang="en-US"/>
          </a:p>
        </p:txBody>
      </p:sp>
      <p:sp>
        <p:nvSpPr>
          <p:cNvPr id="35" name="Shape 29"/>
          <p:cNvSpPr/>
          <p:nvPr/>
        </p:nvSpPr>
        <p:spPr>
          <a:xfrm>
            <a:off x="8764524" y="2633472"/>
            <a:ext cx="530352" cy="530352"/>
          </a:xfrm>
          <a:prstGeom prst="ellipse">
            <a:avLst/>
          </a:prstGeom>
          <a:solidFill>
            <a:srgbClr val="16294A"/>
          </a:solidFill>
          <a:ln w="15875">
            <a:solidFill>
              <a:srgbClr val="F5B942"/>
            </a:solidFill>
            <a:prstDash val="solid"/>
          </a:ln>
        </p:spPr>
        <p:txBody>
          <a:bodyPr/>
          <a:lstStyle/>
          <a:p>
            <a:endParaRPr lang="en-US"/>
          </a:p>
        </p:txBody>
      </p:sp>
      <p:pic>
        <p:nvPicPr>
          <p:cNvPr id="36" name="Image 4" descr="icons/user.png"/>
          <p:cNvPicPr>
            <a:picLocks noChangeAspect="1"/>
          </p:cNvPicPr>
          <p:nvPr/>
        </p:nvPicPr>
        <p:blipFill>
          <a:blip r:embed="rId7"/>
          <a:stretch>
            <a:fillRect/>
          </a:stretch>
        </p:blipFill>
        <p:spPr>
          <a:xfrm>
            <a:off x="8828166" y="2697114"/>
            <a:ext cx="403068" cy="403068"/>
          </a:xfrm>
          <a:prstGeom prst="rect">
            <a:avLst/>
          </a:prstGeom>
        </p:spPr>
      </p:pic>
      <p:sp>
        <p:nvSpPr>
          <p:cNvPr id="37" name="Text 30"/>
          <p:cNvSpPr txBox="1"/>
          <p:nvPr/>
        </p:nvSpPr>
        <p:spPr>
          <a:xfrm>
            <a:off x="8316468" y="3310128"/>
            <a:ext cx="1426464" cy="502920"/>
          </a:xfrm>
          <a:prstGeom prst="rect">
            <a:avLst/>
          </a:prstGeom>
          <a:noFill/>
          <a:ln/>
        </p:spPr>
        <p:txBody>
          <a:bodyPr wrap="square" lIns="0" tIns="0" rIns="0" bIns="0" rtlCol="0" anchor="ctr"/>
          <a:lstStyle/>
          <a:p>
            <a:pPr marL="0" indent="0" algn="ctr">
              <a:buNone/>
            </a:pPr>
            <a:r>
              <a:rPr lang="en-US" sz="1250" b="1" dirty="0">
                <a:solidFill>
                  <a:srgbClr val="FFFFFF"/>
                </a:solidFill>
                <a:latin typeface="Cambria" pitchFamily="34" charset="0"/>
                <a:ea typeface="Cambria" pitchFamily="34" charset="-122"/>
                <a:cs typeface="Cambria" pitchFamily="34" charset="-120"/>
              </a:rPr>
              <a:t>Approve</a:t>
            </a:r>
            <a:endParaRPr lang="en-US" sz="1250" dirty="0"/>
          </a:p>
        </p:txBody>
      </p:sp>
      <p:sp>
        <p:nvSpPr>
          <p:cNvPr id="38" name="Text 31"/>
          <p:cNvSpPr txBox="1"/>
          <p:nvPr/>
        </p:nvSpPr>
        <p:spPr>
          <a:xfrm>
            <a:off x="8334756" y="3794760"/>
            <a:ext cx="1389888" cy="777240"/>
          </a:xfrm>
          <a:prstGeom prst="rect">
            <a:avLst/>
          </a:prstGeom>
          <a:noFill/>
          <a:ln/>
        </p:spPr>
        <p:txBody>
          <a:bodyPr wrap="square" lIns="0" tIns="0" rIns="0" bIns="0" rtlCol="0" anchor="ctr"/>
          <a:lstStyle/>
          <a:p>
            <a:pPr marL="0" indent="0" algn="ctr">
              <a:lnSpc>
                <a:spcPct val="115000"/>
              </a:lnSpc>
              <a:buNone/>
            </a:pPr>
            <a:r>
              <a:rPr lang="en-US" sz="950" dirty="0">
                <a:solidFill>
                  <a:srgbClr val="9FB3C8"/>
                </a:solidFill>
                <a:latin typeface="Calibri" pitchFamily="34" charset="0"/>
                <a:ea typeface="Calibri" pitchFamily="34" charset="-122"/>
                <a:cs typeface="Calibri" pitchFamily="34" charset="-120"/>
              </a:rPr>
              <a:t>Operator approves engagement, or takes manual override</a:t>
            </a:r>
            <a:endParaRPr lang="en-US" sz="950" dirty="0"/>
          </a:p>
        </p:txBody>
      </p:sp>
      <p:sp>
        <p:nvSpPr>
          <p:cNvPr id="39" name="Text 32"/>
          <p:cNvSpPr txBox="1"/>
          <p:nvPr/>
        </p:nvSpPr>
        <p:spPr>
          <a:xfrm>
            <a:off x="8316468" y="2432304"/>
            <a:ext cx="365760" cy="274320"/>
          </a:xfrm>
          <a:prstGeom prst="rect">
            <a:avLst/>
          </a:prstGeom>
          <a:noFill/>
          <a:ln/>
        </p:spPr>
        <p:txBody>
          <a:bodyPr wrap="square" lIns="0" tIns="0" rIns="0" bIns="0" rtlCol="0" anchor="ctr"/>
          <a:lstStyle/>
          <a:p>
            <a:pPr marL="0" indent="0">
              <a:buNone/>
            </a:pPr>
            <a:r>
              <a:rPr lang="en-US" sz="1000" b="1" dirty="0">
                <a:solidFill>
                  <a:srgbClr val="7488A3"/>
                </a:solidFill>
                <a:latin typeface="Calibri" pitchFamily="34" charset="0"/>
                <a:ea typeface="Calibri" pitchFamily="34" charset="-122"/>
                <a:cs typeface="Calibri" pitchFamily="34" charset="-120"/>
              </a:rPr>
              <a:t>5</a:t>
            </a:r>
            <a:endParaRPr lang="en-US" sz="1000" dirty="0"/>
          </a:p>
        </p:txBody>
      </p:sp>
      <p:sp>
        <p:nvSpPr>
          <p:cNvPr id="40" name="Text 33"/>
          <p:cNvSpPr txBox="1"/>
          <p:nvPr/>
        </p:nvSpPr>
        <p:spPr>
          <a:xfrm>
            <a:off x="9816084" y="3200400"/>
            <a:ext cx="384048" cy="640080"/>
          </a:xfrm>
          <a:prstGeom prst="rect">
            <a:avLst/>
          </a:prstGeom>
          <a:noFill/>
          <a:ln/>
        </p:spPr>
        <p:txBody>
          <a:bodyPr wrap="square" lIns="0" tIns="0" rIns="0" bIns="0" rtlCol="0" anchor="ctr"/>
          <a:lstStyle/>
          <a:p>
            <a:pPr marL="0" indent="0" algn="ctr">
              <a:buNone/>
            </a:pPr>
            <a:r>
              <a:rPr lang="en-US" sz="2200" dirty="0">
                <a:solidFill>
                  <a:srgbClr val="3DDCC7"/>
                </a:solidFill>
                <a:latin typeface="Calibri" pitchFamily="34" charset="0"/>
                <a:ea typeface="Calibri" pitchFamily="34" charset="-122"/>
                <a:cs typeface="Calibri" pitchFamily="34" charset="-120"/>
              </a:rPr>
              <a:t>→</a:t>
            </a:r>
            <a:endParaRPr lang="en-US" sz="2200" dirty="0"/>
          </a:p>
        </p:txBody>
      </p:sp>
      <p:sp>
        <p:nvSpPr>
          <p:cNvPr id="41" name="Shape 34"/>
          <p:cNvSpPr/>
          <p:nvPr/>
        </p:nvSpPr>
        <p:spPr>
          <a:xfrm>
            <a:off x="10200132" y="2377440"/>
            <a:ext cx="1572768" cy="2286000"/>
          </a:xfrm>
          <a:prstGeom prst="roundRect">
            <a:avLst>
              <a:gd name="adj" fmla="val 4651"/>
            </a:avLst>
          </a:prstGeom>
          <a:solidFill>
            <a:srgbClr val="16294A"/>
          </a:solidFill>
          <a:ln w="12700">
            <a:solidFill>
              <a:srgbClr val="223454"/>
            </a:solidFill>
            <a:prstDash val="solid"/>
          </a:ln>
        </p:spPr>
        <p:txBody>
          <a:bodyPr/>
          <a:lstStyle/>
          <a:p>
            <a:endParaRPr lang="en-US"/>
          </a:p>
        </p:txBody>
      </p:sp>
      <p:sp>
        <p:nvSpPr>
          <p:cNvPr id="42" name="Shape 35"/>
          <p:cNvSpPr/>
          <p:nvPr/>
        </p:nvSpPr>
        <p:spPr>
          <a:xfrm>
            <a:off x="10721340" y="2633472"/>
            <a:ext cx="530352" cy="530352"/>
          </a:xfrm>
          <a:prstGeom prst="ellipse">
            <a:avLst/>
          </a:prstGeom>
          <a:solidFill>
            <a:srgbClr val="16294A"/>
          </a:solidFill>
          <a:ln w="15875">
            <a:solidFill>
              <a:srgbClr val="3DDCC7"/>
            </a:solidFill>
            <a:prstDash val="solid"/>
          </a:ln>
        </p:spPr>
        <p:txBody>
          <a:bodyPr/>
          <a:lstStyle/>
          <a:p>
            <a:endParaRPr lang="en-US"/>
          </a:p>
        </p:txBody>
      </p:sp>
      <p:pic>
        <p:nvPicPr>
          <p:cNvPr id="43" name="Image 5" descr="icons/crosshairs.png"/>
          <p:cNvPicPr>
            <a:picLocks noChangeAspect="1"/>
          </p:cNvPicPr>
          <p:nvPr/>
        </p:nvPicPr>
        <p:blipFill>
          <a:blip r:embed="rId8"/>
          <a:stretch>
            <a:fillRect/>
          </a:stretch>
        </p:blipFill>
        <p:spPr>
          <a:xfrm>
            <a:off x="10784982" y="2697114"/>
            <a:ext cx="403068" cy="403068"/>
          </a:xfrm>
          <a:prstGeom prst="rect">
            <a:avLst/>
          </a:prstGeom>
        </p:spPr>
      </p:pic>
      <p:sp>
        <p:nvSpPr>
          <p:cNvPr id="44" name="Text 36"/>
          <p:cNvSpPr txBox="1"/>
          <p:nvPr/>
        </p:nvSpPr>
        <p:spPr>
          <a:xfrm>
            <a:off x="10273284" y="3310128"/>
            <a:ext cx="1426464" cy="502920"/>
          </a:xfrm>
          <a:prstGeom prst="rect">
            <a:avLst/>
          </a:prstGeom>
          <a:noFill/>
          <a:ln/>
        </p:spPr>
        <p:txBody>
          <a:bodyPr wrap="square" lIns="0" tIns="0" rIns="0" bIns="0" rtlCol="0" anchor="ctr"/>
          <a:lstStyle/>
          <a:p>
            <a:pPr marL="0" indent="0" algn="ctr">
              <a:buNone/>
            </a:pPr>
            <a:r>
              <a:rPr lang="en-US" sz="1250" b="1" dirty="0">
                <a:solidFill>
                  <a:srgbClr val="FFFFFF"/>
                </a:solidFill>
                <a:latin typeface="Cambria" pitchFamily="34" charset="0"/>
                <a:ea typeface="Cambria" pitchFamily="34" charset="-122"/>
                <a:cs typeface="Cambria" pitchFamily="34" charset="-120"/>
              </a:rPr>
              <a:t>Engage</a:t>
            </a:r>
            <a:endParaRPr lang="en-US" sz="1250" dirty="0"/>
          </a:p>
        </p:txBody>
      </p:sp>
      <p:sp>
        <p:nvSpPr>
          <p:cNvPr id="45" name="Text 37"/>
          <p:cNvSpPr txBox="1"/>
          <p:nvPr/>
        </p:nvSpPr>
        <p:spPr>
          <a:xfrm>
            <a:off x="10291572" y="3794760"/>
            <a:ext cx="1389888" cy="777240"/>
          </a:xfrm>
          <a:prstGeom prst="rect">
            <a:avLst/>
          </a:prstGeom>
          <a:noFill/>
          <a:ln/>
        </p:spPr>
        <p:txBody>
          <a:bodyPr wrap="square" lIns="0" tIns="0" rIns="0" bIns="0" rtlCol="0" anchor="ctr"/>
          <a:lstStyle/>
          <a:p>
            <a:pPr marL="0" indent="0" algn="ctr">
              <a:lnSpc>
                <a:spcPct val="115000"/>
              </a:lnSpc>
              <a:buNone/>
            </a:pPr>
            <a:r>
              <a:rPr lang="en-US" sz="950" dirty="0">
                <a:solidFill>
                  <a:srgbClr val="9FB3C8"/>
                </a:solidFill>
                <a:latin typeface="Calibri" pitchFamily="34" charset="0"/>
                <a:ea typeface="Calibri" pitchFamily="34" charset="-122"/>
                <a:cs typeface="Calibri" pitchFamily="34" charset="-120"/>
              </a:rPr>
              <a:t>Autonomous track + intercept, no ground link needed</a:t>
            </a:r>
            <a:endParaRPr lang="en-US" sz="950" dirty="0"/>
          </a:p>
        </p:txBody>
      </p:sp>
      <p:sp>
        <p:nvSpPr>
          <p:cNvPr id="46" name="Text 38"/>
          <p:cNvSpPr txBox="1"/>
          <p:nvPr/>
        </p:nvSpPr>
        <p:spPr>
          <a:xfrm>
            <a:off x="10273284" y="2432304"/>
            <a:ext cx="365760" cy="274320"/>
          </a:xfrm>
          <a:prstGeom prst="rect">
            <a:avLst/>
          </a:prstGeom>
          <a:noFill/>
          <a:ln/>
        </p:spPr>
        <p:txBody>
          <a:bodyPr wrap="square" lIns="0" tIns="0" rIns="0" bIns="0" rtlCol="0" anchor="ctr"/>
          <a:lstStyle/>
          <a:p>
            <a:pPr marL="0" indent="0">
              <a:buNone/>
            </a:pPr>
            <a:r>
              <a:rPr lang="en-US" sz="1000" b="1" dirty="0">
                <a:solidFill>
                  <a:srgbClr val="7488A3"/>
                </a:solidFill>
                <a:latin typeface="Calibri" pitchFamily="34" charset="0"/>
                <a:ea typeface="Calibri" pitchFamily="34" charset="-122"/>
                <a:cs typeface="Calibri" pitchFamily="34" charset="-120"/>
              </a:rPr>
              <a:t>6</a:t>
            </a:r>
            <a:endParaRPr lang="en-US" sz="1000" dirty="0"/>
          </a:p>
        </p:txBody>
      </p:sp>
      <p:sp>
        <p:nvSpPr>
          <p:cNvPr id="47" name="Text 39"/>
          <p:cNvSpPr txBox="1"/>
          <p:nvPr/>
        </p:nvSpPr>
        <p:spPr>
          <a:xfrm>
            <a:off x="548640" y="5120640"/>
            <a:ext cx="11064240" cy="457200"/>
          </a:xfrm>
          <a:prstGeom prst="rect">
            <a:avLst/>
          </a:prstGeom>
          <a:noFill/>
          <a:ln/>
        </p:spPr>
        <p:txBody>
          <a:bodyPr wrap="square" lIns="0" tIns="0" rIns="0" bIns="0" rtlCol="0" anchor="ctr"/>
          <a:lstStyle/>
          <a:p>
            <a:pPr marL="0" indent="0">
              <a:buNone/>
            </a:pPr>
            <a:r>
              <a:rPr lang="en-US" sz="1300" i="1" dirty="0">
                <a:solidFill>
                  <a:srgbClr val="3DDCC7"/>
                </a:solidFill>
                <a:latin typeface="Calibri" pitchFamily="34" charset="0"/>
                <a:ea typeface="Calibri" pitchFamily="34" charset="-122"/>
                <a:cs typeface="Calibri" pitchFamily="34" charset="-120"/>
              </a:rPr>
              <a:t>Semi-autonomous by design: detection prompts a human to approve engagement, then tracking and interception run onboard with no live link back to a ground controller.</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B1730"/>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9144000" cy="292608"/>
          </a:xfrm>
          <a:prstGeom prst="rect">
            <a:avLst/>
          </a:prstGeom>
          <a:noFill/>
          <a:ln/>
        </p:spPr>
        <p:txBody>
          <a:bodyPr wrap="square" lIns="0" tIns="0" rIns="0" bIns="0" rtlCol="0" anchor="ctr"/>
          <a:lstStyle/>
          <a:p>
            <a:pPr marL="0" indent="0">
              <a:buNone/>
            </a:pPr>
            <a:r>
              <a:rPr lang="en-US" sz="1300" b="1" kern="0" spc="200" dirty="0">
                <a:solidFill>
                  <a:srgbClr val="3DDCC7"/>
                </a:solidFill>
                <a:latin typeface="Calibri" pitchFamily="34" charset="0"/>
                <a:ea typeface="Calibri" pitchFamily="34" charset="-122"/>
                <a:cs typeface="Calibri" pitchFamily="34" charset="-120"/>
              </a:rPr>
              <a:t>DETECTION</a:t>
            </a:r>
            <a:endParaRPr lang="en-US" sz="1300" dirty="0"/>
          </a:p>
        </p:txBody>
      </p:sp>
      <p:sp>
        <p:nvSpPr>
          <p:cNvPr id="3" name="Text 1"/>
          <p:cNvSpPr txBox="1"/>
          <p:nvPr/>
        </p:nvSpPr>
        <p:spPr>
          <a:xfrm>
            <a:off x="548640" y="658368"/>
            <a:ext cx="10515600" cy="731520"/>
          </a:xfrm>
          <a:prstGeom prst="rect">
            <a:avLst/>
          </a:prstGeom>
          <a:noFill/>
          <a:ln/>
        </p:spPr>
        <p:txBody>
          <a:bodyPr wrap="square" lIns="0" tIns="0" rIns="0" bIns="0" rtlCol="0" anchor="ctr"/>
          <a:lstStyle/>
          <a:p>
            <a:pPr marL="0" indent="0">
              <a:buNone/>
            </a:pPr>
            <a:r>
              <a:rPr lang="en-US" sz="3200" b="1" dirty="0">
                <a:solidFill>
                  <a:srgbClr val="FFFFFF"/>
                </a:solidFill>
                <a:latin typeface="Cambria" pitchFamily="34" charset="0"/>
                <a:ea typeface="Cambria" pitchFamily="34" charset="-122"/>
                <a:cs typeface="Cambria" pitchFamily="34" charset="-120"/>
              </a:rPr>
              <a:t>Detection subsystem</a:t>
            </a:r>
            <a:endParaRPr lang="en-US" sz="3200" dirty="0"/>
          </a:p>
        </p:txBody>
      </p:sp>
      <p:sp>
        <p:nvSpPr>
          <p:cNvPr id="4" name="Text 2"/>
          <p:cNvSpPr txBox="1"/>
          <p:nvPr/>
        </p:nvSpPr>
        <p:spPr>
          <a:xfrm>
            <a:off x="11475720" y="6510528"/>
            <a:ext cx="548640" cy="274320"/>
          </a:xfrm>
          <a:prstGeom prst="rect">
            <a:avLst/>
          </a:prstGeom>
          <a:noFill/>
          <a:ln/>
        </p:spPr>
        <p:txBody>
          <a:bodyPr wrap="square" lIns="0" tIns="0" rIns="0" bIns="0" rtlCol="0" anchor="ctr"/>
          <a:lstStyle/>
          <a:p>
            <a:pPr marL="0" indent="0" algn="r">
              <a:buNone/>
            </a:pPr>
            <a:r>
              <a:rPr lang="en-US" sz="900" dirty="0">
                <a:solidFill>
                  <a:srgbClr val="7488A3"/>
                </a:solidFill>
                <a:latin typeface="Calibri" pitchFamily="34" charset="0"/>
                <a:ea typeface="Calibri" pitchFamily="34" charset="-122"/>
                <a:cs typeface="Calibri" pitchFamily="34" charset="-120"/>
              </a:rPr>
              <a:t>6 / 14</a:t>
            </a:r>
            <a:endParaRPr lang="en-US" sz="900" dirty="0"/>
          </a:p>
        </p:txBody>
      </p:sp>
      <p:sp>
        <p:nvSpPr>
          <p:cNvPr id="5" name="Text 3"/>
          <p:cNvSpPr txBox="1"/>
          <p:nvPr/>
        </p:nvSpPr>
        <p:spPr>
          <a:xfrm>
            <a:off x="457200" y="6510528"/>
            <a:ext cx="5486400" cy="274320"/>
          </a:xfrm>
          <a:prstGeom prst="rect">
            <a:avLst/>
          </a:prstGeom>
          <a:noFill/>
          <a:ln/>
        </p:spPr>
        <p:txBody>
          <a:bodyPr wrap="square" lIns="0" tIns="0" rIns="0" bIns="0" rtlCol="0" anchor="ctr"/>
          <a:lstStyle/>
          <a:p>
            <a:pPr marL="0" indent="0" algn="l">
              <a:buNone/>
            </a:pPr>
            <a:r>
              <a:rPr lang="en-US" sz="900" dirty="0">
                <a:solidFill>
                  <a:srgbClr val="7488A3"/>
                </a:solidFill>
                <a:latin typeface="Calibri" pitchFamily="34" charset="0"/>
                <a:ea typeface="Calibri" pitchFamily="34" charset="-122"/>
                <a:cs typeface="Calibri" pitchFamily="34" charset="-120"/>
              </a:rPr>
              <a:t>SHIELD — Software &amp; Autonomy Overview</a:t>
            </a:r>
            <a:endParaRPr lang="en-US" sz="900" dirty="0"/>
          </a:p>
        </p:txBody>
      </p:sp>
      <p:sp>
        <p:nvSpPr>
          <p:cNvPr id="6" name="Shape 4"/>
          <p:cNvSpPr/>
          <p:nvPr/>
        </p:nvSpPr>
        <p:spPr>
          <a:xfrm>
            <a:off x="548640" y="1600200"/>
            <a:ext cx="5577840" cy="4206240"/>
          </a:xfrm>
          <a:prstGeom prst="roundRect">
            <a:avLst>
              <a:gd name="adj" fmla="val 1957"/>
            </a:avLst>
          </a:prstGeom>
          <a:solidFill>
            <a:srgbClr val="10203D"/>
          </a:solidFill>
          <a:ln/>
        </p:spPr>
        <p:txBody>
          <a:bodyPr/>
          <a:lstStyle/>
          <a:p>
            <a:endParaRPr lang="en-US"/>
          </a:p>
        </p:txBody>
      </p:sp>
      <p:sp>
        <p:nvSpPr>
          <p:cNvPr id="7" name="Shape 5"/>
          <p:cNvSpPr/>
          <p:nvPr/>
        </p:nvSpPr>
        <p:spPr>
          <a:xfrm>
            <a:off x="868680" y="1920240"/>
            <a:ext cx="566928" cy="566928"/>
          </a:xfrm>
          <a:prstGeom prst="ellipse">
            <a:avLst/>
          </a:prstGeom>
          <a:solidFill>
            <a:srgbClr val="16294A"/>
          </a:solidFill>
          <a:ln w="15875">
            <a:solidFill>
              <a:srgbClr val="3DDCC7"/>
            </a:solidFill>
            <a:prstDash val="solid"/>
          </a:ln>
        </p:spPr>
        <p:txBody>
          <a:bodyPr/>
          <a:lstStyle/>
          <a:p>
            <a:endParaRPr lang="en-US"/>
          </a:p>
        </p:txBody>
      </p:sp>
      <p:pic>
        <p:nvPicPr>
          <p:cNvPr id="8" name="Image 0" descr="icons/eye.png"/>
          <p:cNvPicPr>
            <a:picLocks noChangeAspect="1"/>
          </p:cNvPicPr>
          <p:nvPr/>
        </p:nvPicPr>
        <p:blipFill>
          <a:blip r:embed="rId3"/>
          <a:stretch>
            <a:fillRect/>
          </a:stretch>
        </p:blipFill>
        <p:spPr>
          <a:xfrm>
            <a:off x="936711" y="1988271"/>
            <a:ext cx="430865" cy="430865"/>
          </a:xfrm>
          <a:prstGeom prst="rect">
            <a:avLst/>
          </a:prstGeom>
        </p:spPr>
      </p:pic>
      <p:sp>
        <p:nvSpPr>
          <p:cNvPr id="9" name="Text 6"/>
          <p:cNvSpPr txBox="1"/>
          <p:nvPr/>
        </p:nvSpPr>
        <p:spPr>
          <a:xfrm>
            <a:off x="1600200" y="1965960"/>
            <a:ext cx="4297680" cy="502920"/>
          </a:xfrm>
          <a:prstGeom prst="rect">
            <a:avLst/>
          </a:prstGeom>
          <a:noFill/>
          <a:ln/>
        </p:spPr>
        <p:txBody>
          <a:bodyPr wrap="square" lIns="0" tIns="0" rIns="0" bIns="0" rtlCol="0" anchor="ctr"/>
          <a:lstStyle/>
          <a:p>
            <a:pPr marL="0" indent="0">
              <a:buNone/>
            </a:pPr>
            <a:r>
              <a:rPr lang="en-US" sz="1700" b="1" dirty="0">
                <a:solidFill>
                  <a:srgbClr val="FFFFFF"/>
                </a:solidFill>
                <a:latin typeface="Cambria" pitchFamily="34" charset="0"/>
                <a:ea typeface="Cambria" pitchFamily="34" charset="-122"/>
                <a:cs typeface="Cambria" pitchFamily="34" charset="-120"/>
              </a:rPr>
              <a:t>Ultralytics YOLO (yolo11n.pt)</a:t>
            </a:r>
            <a:endParaRPr lang="en-US" sz="1700" dirty="0"/>
          </a:p>
        </p:txBody>
      </p:sp>
      <p:sp>
        <p:nvSpPr>
          <p:cNvPr id="10" name="Shape 7"/>
          <p:cNvSpPr/>
          <p:nvPr/>
        </p:nvSpPr>
        <p:spPr>
          <a:xfrm>
            <a:off x="914400" y="2862072"/>
            <a:ext cx="91440" cy="91440"/>
          </a:xfrm>
          <a:prstGeom prst="ellipse">
            <a:avLst/>
          </a:prstGeom>
          <a:solidFill>
            <a:srgbClr val="3DDCC7"/>
          </a:solidFill>
          <a:ln/>
        </p:spPr>
        <p:txBody>
          <a:bodyPr/>
          <a:lstStyle/>
          <a:p>
            <a:endParaRPr lang="en-US"/>
          </a:p>
        </p:txBody>
      </p:sp>
      <p:sp>
        <p:nvSpPr>
          <p:cNvPr id="11" name="Text 8"/>
          <p:cNvSpPr txBox="1"/>
          <p:nvPr/>
        </p:nvSpPr>
        <p:spPr>
          <a:xfrm>
            <a:off x="1143000" y="2715768"/>
            <a:ext cx="4617720" cy="594360"/>
          </a:xfrm>
          <a:prstGeom prst="rect">
            <a:avLst/>
          </a:prstGeom>
          <a:noFill/>
          <a:ln/>
        </p:spPr>
        <p:txBody>
          <a:bodyPr wrap="square" lIns="0" tIns="0" rIns="0" bIns="0" rtlCol="0" anchor="ctr"/>
          <a:lstStyle/>
          <a:p>
            <a:pPr marL="0" indent="0">
              <a:lnSpc>
                <a:spcPct val="115000"/>
              </a:lnSpc>
              <a:buNone/>
            </a:pPr>
            <a:r>
              <a:rPr lang="en-US" sz="1300" dirty="0">
                <a:solidFill>
                  <a:srgbClr val="9FB3C8"/>
                </a:solidFill>
                <a:latin typeface="Calibri" pitchFamily="34" charset="0"/>
                <a:ea typeface="Calibri" pitchFamily="34" charset="-122"/>
                <a:cs typeface="Calibri" pitchFamily="34" charset="-120"/>
              </a:rPr>
              <a:t>Real-time object detection run on every incoming video frame</a:t>
            </a:r>
            <a:endParaRPr lang="en-US" sz="1300" dirty="0"/>
          </a:p>
        </p:txBody>
      </p:sp>
      <p:sp>
        <p:nvSpPr>
          <p:cNvPr id="12" name="Shape 9"/>
          <p:cNvSpPr/>
          <p:nvPr/>
        </p:nvSpPr>
        <p:spPr>
          <a:xfrm>
            <a:off x="914400" y="3575304"/>
            <a:ext cx="91440" cy="91440"/>
          </a:xfrm>
          <a:prstGeom prst="ellipse">
            <a:avLst/>
          </a:prstGeom>
          <a:solidFill>
            <a:srgbClr val="3DDCC7"/>
          </a:solidFill>
          <a:ln/>
        </p:spPr>
        <p:txBody>
          <a:bodyPr/>
          <a:lstStyle/>
          <a:p>
            <a:endParaRPr lang="en-US"/>
          </a:p>
        </p:txBody>
      </p:sp>
      <p:sp>
        <p:nvSpPr>
          <p:cNvPr id="13" name="Text 10"/>
          <p:cNvSpPr txBox="1"/>
          <p:nvPr/>
        </p:nvSpPr>
        <p:spPr>
          <a:xfrm>
            <a:off x="1143000" y="3429000"/>
            <a:ext cx="4617720" cy="594360"/>
          </a:xfrm>
          <a:prstGeom prst="rect">
            <a:avLst/>
          </a:prstGeom>
          <a:noFill/>
          <a:ln/>
        </p:spPr>
        <p:txBody>
          <a:bodyPr wrap="square" lIns="0" tIns="0" rIns="0" bIns="0" rtlCol="0" anchor="ctr"/>
          <a:lstStyle/>
          <a:p>
            <a:pPr marL="0" indent="0">
              <a:lnSpc>
                <a:spcPct val="115000"/>
              </a:lnSpc>
              <a:buNone/>
            </a:pPr>
            <a:r>
              <a:rPr lang="en-US" sz="1300" dirty="0">
                <a:solidFill>
                  <a:srgbClr val="9FB3C8"/>
                </a:solidFill>
                <a:latin typeface="Calibri" pitchFamily="34" charset="0"/>
                <a:ea typeface="Calibri" pitchFamily="34" charset="-122"/>
                <a:cs typeface="Calibri" pitchFamily="34" charset="-120"/>
              </a:rPr>
              <a:t>Starts from generic COCO-pretrained weights</a:t>
            </a:r>
            <a:endParaRPr lang="en-US" sz="1300" dirty="0"/>
          </a:p>
        </p:txBody>
      </p:sp>
      <p:sp>
        <p:nvSpPr>
          <p:cNvPr id="14" name="Shape 11"/>
          <p:cNvSpPr/>
          <p:nvPr/>
        </p:nvSpPr>
        <p:spPr>
          <a:xfrm>
            <a:off x="914400" y="4288536"/>
            <a:ext cx="91440" cy="91440"/>
          </a:xfrm>
          <a:prstGeom prst="ellipse">
            <a:avLst/>
          </a:prstGeom>
          <a:solidFill>
            <a:srgbClr val="3DDCC7"/>
          </a:solidFill>
          <a:ln/>
        </p:spPr>
        <p:txBody>
          <a:bodyPr/>
          <a:lstStyle/>
          <a:p>
            <a:endParaRPr lang="en-US"/>
          </a:p>
        </p:txBody>
      </p:sp>
      <p:sp>
        <p:nvSpPr>
          <p:cNvPr id="15" name="Text 12"/>
          <p:cNvSpPr txBox="1"/>
          <p:nvPr/>
        </p:nvSpPr>
        <p:spPr>
          <a:xfrm>
            <a:off x="1143000" y="4142232"/>
            <a:ext cx="4617720" cy="594360"/>
          </a:xfrm>
          <a:prstGeom prst="rect">
            <a:avLst/>
          </a:prstGeom>
          <a:noFill/>
          <a:ln/>
        </p:spPr>
        <p:txBody>
          <a:bodyPr wrap="square" lIns="0" tIns="0" rIns="0" bIns="0" rtlCol="0" anchor="ctr"/>
          <a:lstStyle/>
          <a:p>
            <a:pPr marL="0" indent="0">
              <a:lnSpc>
                <a:spcPct val="115000"/>
              </a:lnSpc>
              <a:buNone/>
            </a:pPr>
            <a:r>
              <a:rPr lang="en-US" sz="1300" dirty="0">
                <a:solidFill>
                  <a:srgbClr val="9FB3C8"/>
                </a:solidFill>
                <a:latin typeface="Calibri" pitchFamily="34" charset="0"/>
                <a:ea typeface="Calibri" pitchFamily="34" charset="-122"/>
                <a:cs typeface="Calibri" pitchFamily="34" charset="-120"/>
              </a:rPr>
              <a:t>Being replaced with a custom drone/balloon-trained model for this specific task</a:t>
            </a:r>
            <a:endParaRPr lang="en-US" sz="1300" dirty="0"/>
          </a:p>
        </p:txBody>
      </p:sp>
      <p:sp>
        <p:nvSpPr>
          <p:cNvPr id="16" name="Shape 13"/>
          <p:cNvSpPr/>
          <p:nvPr/>
        </p:nvSpPr>
        <p:spPr>
          <a:xfrm>
            <a:off x="914400" y="5001768"/>
            <a:ext cx="91440" cy="91440"/>
          </a:xfrm>
          <a:prstGeom prst="ellipse">
            <a:avLst/>
          </a:prstGeom>
          <a:solidFill>
            <a:srgbClr val="3DDCC7"/>
          </a:solidFill>
          <a:ln/>
        </p:spPr>
        <p:txBody>
          <a:bodyPr/>
          <a:lstStyle/>
          <a:p>
            <a:endParaRPr lang="en-US"/>
          </a:p>
        </p:txBody>
      </p:sp>
      <p:sp>
        <p:nvSpPr>
          <p:cNvPr id="17" name="Text 14"/>
          <p:cNvSpPr txBox="1"/>
          <p:nvPr/>
        </p:nvSpPr>
        <p:spPr>
          <a:xfrm>
            <a:off x="1143000" y="4855464"/>
            <a:ext cx="4617720" cy="594360"/>
          </a:xfrm>
          <a:prstGeom prst="rect">
            <a:avLst/>
          </a:prstGeom>
          <a:noFill/>
          <a:ln/>
        </p:spPr>
        <p:txBody>
          <a:bodyPr wrap="square" lIns="0" tIns="0" rIns="0" bIns="0" rtlCol="0" anchor="ctr"/>
          <a:lstStyle/>
          <a:p>
            <a:pPr marL="0" indent="0">
              <a:lnSpc>
                <a:spcPct val="115000"/>
              </a:lnSpc>
              <a:buNone/>
            </a:pPr>
            <a:r>
              <a:rPr lang="en-US" sz="1300" dirty="0">
                <a:solidFill>
                  <a:srgbClr val="9FB3C8"/>
                </a:solidFill>
                <a:latin typeface="Calibri" pitchFamily="34" charset="0"/>
                <a:ea typeface="Calibri" pitchFamily="34" charset="-122"/>
                <a:cs typeface="Calibri" pitchFamily="34" charset="-120"/>
              </a:rPr>
              <a:t>Target: ≥90% detection confidence (requirement SYS.07)</a:t>
            </a:r>
            <a:endParaRPr lang="en-US" sz="1300" dirty="0"/>
          </a:p>
        </p:txBody>
      </p:sp>
      <p:sp>
        <p:nvSpPr>
          <p:cNvPr id="18" name="Shape 15"/>
          <p:cNvSpPr/>
          <p:nvPr/>
        </p:nvSpPr>
        <p:spPr>
          <a:xfrm>
            <a:off x="6400800" y="1600200"/>
            <a:ext cx="5239512" cy="4206240"/>
          </a:xfrm>
          <a:prstGeom prst="roundRect">
            <a:avLst>
              <a:gd name="adj" fmla="val 1957"/>
            </a:avLst>
          </a:prstGeom>
          <a:solidFill>
            <a:srgbClr val="16294A"/>
          </a:solidFill>
          <a:ln w="12700">
            <a:solidFill>
              <a:srgbClr val="223454"/>
            </a:solidFill>
            <a:prstDash val="solid"/>
          </a:ln>
        </p:spPr>
        <p:txBody>
          <a:bodyPr/>
          <a:lstStyle/>
          <a:p>
            <a:endParaRPr lang="en-US"/>
          </a:p>
        </p:txBody>
      </p:sp>
      <p:sp>
        <p:nvSpPr>
          <p:cNvPr id="19" name="Text 16"/>
          <p:cNvSpPr txBox="1"/>
          <p:nvPr/>
        </p:nvSpPr>
        <p:spPr>
          <a:xfrm>
            <a:off x="6766560" y="1920240"/>
            <a:ext cx="4507992" cy="365760"/>
          </a:xfrm>
          <a:prstGeom prst="rect">
            <a:avLst/>
          </a:prstGeom>
          <a:noFill/>
          <a:ln/>
        </p:spPr>
        <p:txBody>
          <a:bodyPr wrap="square" lIns="0" tIns="0" rIns="0" bIns="0" rtlCol="0" anchor="ctr"/>
          <a:lstStyle/>
          <a:p>
            <a:pPr marL="0" indent="0">
              <a:buNone/>
            </a:pPr>
            <a:r>
              <a:rPr lang="en-US" sz="1300" b="1" kern="0" spc="200" dirty="0">
                <a:solidFill>
                  <a:srgbClr val="7488A3"/>
                </a:solidFill>
                <a:latin typeface="Calibri" pitchFamily="34" charset="0"/>
                <a:ea typeface="Calibri" pitchFamily="34" charset="-122"/>
                <a:cs typeface="Calibri" pitchFamily="34" charset="-120"/>
              </a:rPr>
              <a:t>SYS.07</a:t>
            </a:r>
            <a:endParaRPr lang="en-US" sz="1300" dirty="0"/>
          </a:p>
        </p:txBody>
      </p:sp>
      <p:sp>
        <p:nvSpPr>
          <p:cNvPr id="20" name="Text 17"/>
          <p:cNvSpPr txBox="1"/>
          <p:nvPr/>
        </p:nvSpPr>
        <p:spPr>
          <a:xfrm>
            <a:off x="6766560" y="2240280"/>
            <a:ext cx="4507992" cy="1371600"/>
          </a:xfrm>
          <a:prstGeom prst="rect">
            <a:avLst/>
          </a:prstGeom>
          <a:noFill/>
          <a:ln/>
        </p:spPr>
        <p:txBody>
          <a:bodyPr wrap="square" lIns="0" tIns="0" rIns="0" bIns="0" rtlCol="0" anchor="ctr"/>
          <a:lstStyle/>
          <a:p>
            <a:pPr marL="0" indent="0">
              <a:buNone/>
            </a:pPr>
            <a:r>
              <a:rPr lang="en-US" sz="7200" b="1" dirty="0">
                <a:solidFill>
                  <a:srgbClr val="F5B942"/>
                </a:solidFill>
                <a:latin typeface="Cambria" pitchFamily="34" charset="0"/>
                <a:ea typeface="Cambria" pitchFamily="34" charset="-122"/>
                <a:cs typeface="Cambria" pitchFamily="34" charset="-120"/>
              </a:rPr>
              <a:t>≥90%</a:t>
            </a:r>
            <a:endParaRPr lang="en-US" sz="7200" dirty="0"/>
          </a:p>
        </p:txBody>
      </p:sp>
      <p:sp>
        <p:nvSpPr>
          <p:cNvPr id="21" name="Text 18"/>
          <p:cNvSpPr txBox="1"/>
          <p:nvPr/>
        </p:nvSpPr>
        <p:spPr>
          <a:xfrm>
            <a:off x="6766560" y="3657600"/>
            <a:ext cx="4507992" cy="822960"/>
          </a:xfrm>
          <a:prstGeom prst="rect">
            <a:avLst/>
          </a:prstGeom>
          <a:noFill/>
          <a:ln/>
        </p:spPr>
        <p:txBody>
          <a:bodyPr wrap="square" lIns="0" tIns="0" rIns="0" bIns="0" rtlCol="0" anchor="ctr"/>
          <a:lstStyle/>
          <a:p>
            <a:pPr marL="0" indent="0">
              <a:lnSpc>
                <a:spcPct val="125000"/>
              </a:lnSpc>
              <a:buNone/>
            </a:pPr>
            <a:r>
              <a:rPr lang="en-US" sz="1300" dirty="0">
                <a:solidFill>
                  <a:srgbClr val="FFFFFF"/>
                </a:solidFill>
                <a:latin typeface="Calibri" pitchFamily="34" charset="0"/>
                <a:ea typeface="Calibri" pitchFamily="34" charset="-122"/>
                <a:cs typeface="Calibri" pitchFamily="34" charset="-120"/>
              </a:rPr>
              <a:t>minimum detection confidence required before the system is trusted to engage autonomously</a:t>
            </a:r>
            <a:endParaRPr lang="en-US" sz="1300" dirty="0"/>
          </a:p>
        </p:txBody>
      </p:sp>
      <p:sp>
        <p:nvSpPr>
          <p:cNvPr id="22" name="Shape 19"/>
          <p:cNvSpPr/>
          <p:nvPr/>
        </p:nvSpPr>
        <p:spPr>
          <a:xfrm>
            <a:off x="6766560" y="4572000"/>
            <a:ext cx="4507992" cy="0"/>
          </a:xfrm>
          <a:prstGeom prst="line">
            <a:avLst/>
          </a:prstGeom>
          <a:noFill/>
          <a:ln w="12700">
            <a:solidFill>
              <a:srgbClr val="223454"/>
            </a:solidFill>
            <a:prstDash val="solid"/>
          </a:ln>
        </p:spPr>
        <p:txBody>
          <a:bodyPr/>
          <a:lstStyle/>
          <a:p>
            <a:endParaRPr lang="en-US"/>
          </a:p>
        </p:txBody>
      </p:sp>
      <p:sp>
        <p:nvSpPr>
          <p:cNvPr id="23" name="Text 20"/>
          <p:cNvSpPr txBox="1"/>
          <p:nvPr/>
        </p:nvSpPr>
        <p:spPr>
          <a:xfrm>
            <a:off x="6766560" y="4800600"/>
            <a:ext cx="4507992" cy="914400"/>
          </a:xfrm>
          <a:prstGeom prst="rect">
            <a:avLst/>
          </a:prstGeom>
          <a:noFill/>
          <a:ln/>
        </p:spPr>
        <p:txBody>
          <a:bodyPr wrap="square" lIns="0" tIns="0" rIns="0" bIns="0" rtlCol="0" anchor="ctr"/>
          <a:lstStyle/>
          <a:p>
            <a:pPr marL="0" indent="0">
              <a:lnSpc>
                <a:spcPct val="125000"/>
              </a:lnSpc>
              <a:buNone/>
            </a:pPr>
            <a:r>
              <a:rPr lang="en-US" sz="1200" i="1" dirty="0">
                <a:solidFill>
                  <a:srgbClr val="9FB3C8"/>
                </a:solidFill>
                <a:latin typeface="Calibri" pitchFamily="34" charset="0"/>
                <a:ea typeface="Calibri" pitchFamily="34" charset="-122"/>
                <a:cs typeface="Calibri" pitchFamily="34" charset="-120"/>
              </a:rPr>
              <a:t>This is the hardest requirement to hit and the one most likely to need revisiting as custom-model training matures.</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B1730"/>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9144000" cy="292608"/>
          </a:xfrm>
          <a:prstGeom prst="rect">
            <a:avLst/>
          </a:prstGeom>
          <a:noFill/>
          <a:ln/>
        </p:spPr>
        <p:txBody>
          <a:bodyPr wrap="square" lIns="0" tIns="0" rIns="0" bIns="0" rtlCol="0" anchor="ctr"/>
          <a:lstStyle/>
          <a:p>
            <a:pPr marL="0" indent="0">
              <a:buNone/>
            </a:pPr>
            <a:r>
              <a:rPr lang="en-US" sz="1300" b="1" kern="0" spc="200" dirty="0">
                <a:solidFill>
                  <a:srgbClr val="3DDCC7"/>
                </a:solidFill>
                <a:latin typeface="Calibri" pitchFamily="34" charset="0"/>
                <a:ea typeface="Calibri" pitchFamily="34" charset="-122"/>
                <a:cs typeface="Calibri" pitchFamily="34" charset="-120"/>
              </a:rPr>
              <a:t>TRACKING</a:t>
            </a:r>
            <a:endParaRPr lang="en-US" sz="1300" dirty="0"/>
          </a:p>
        </p:txBody>
      </p:sp>
      <p:sp>
        <p:nvSpPr>
          <p:cNvPr id="3" name="Text 1"/>
          <p:cNvSpPr txBox="1"/>
          <p:nvPr/>
        </p:nvSpPr>
        <p:spPr>
          <a:xfrm>
            <a:off x="548640" y="658368"/>
            <a:ext cx="10515600" cy="731520"/>
          </a:xfrm>
          <a:prstGeom prst="rect">
            <a:avLst/>
          </a:prstGeom>
          <a:noFill/>
          <a:ln/>
        </p:spPr>
        <p:txBody>
          <a:bodyPr wrap="square" lIns="0" tIns="0" rIns="0" bIns="0" rtlCol="0" anchor="ctr"/>
          <a:lstStyle/>
          <a:p>
            <a:pPr marL="0" indent="0">
              <a:buNone/>
            </a:pPr>
            <a:r>
              <a:rPr lang="en-US" sz="3200" b="1" dirty="0">
                <a:solidFill>
                  <a:srgbClr val="FFFFFF"/>
                </a:solidFill>
                <a:latin typeface="Cambria" pitchFamily="34" charset="0"/>
                <a:ea typeface="Cambria" pitchFamily="34" charset="-122"/>
                <a:cs typeface="Cambria" pitchFamily="34" charset="-120"/>
              </a:rPr>
              <a:t>Tracking subsystem</a:t>
            </a:r>
            <a:endParaRPr lang="en-US" sz="3200" dirty="0"/>
          </a:p>
        </p:txBody>
      </p:sp>
      <p:sp>
        <p:nvSpPr>
          <p:cNvPr id="4" name="Text 2"/>
          <p:cNvSpPr txBox="1"/>
          <p:nvPr/>
        </p:nvSpPr>
        <p:spPr>
          <a:xfrm>
            <a:off x="11475720" y="6510528"/>
            <a:ext cx="548640" cy="274320"/>
          </a:xfrm>
          <a:prstGeom prst="rect">
            <a:avLst/>
          </a:prstGeom>
          <a:noFill/>
          <a:ln/>
        </p:spPr>
        <p:txBody>
          <a:bodyPr wrap="square" lIns="0" tIns="0" rIns="0" bIns="0" rtlCol="0" anchor="ctr"/>
          <a:lstStyle/>
          <a:p>
            <a:pPr marL="0" indent="0" algn="r">
              <a:buNone/>
            </a:pPr>
            <a:r>
              <a:rPr lang="en-US" sz="900" dirty="0">
                <a:solidFill>
                  <a:srgbClr val="7488A3"/>
                </a:solidFill>
                <a:latin typeface="Calibri" pitchFamily="34" charset="0"/>
                <a:ea typeface="Calibri" pitchFamily="34" charset="-122"/>
                <a:cs typeface="Calibri" pitchFamily="34" charset="-120"/>
              </a:rPr>
              <a:t>7 / 14</a:t>
            </a:r>
            <a:endParaRPr lang="en-US" sz="900" dirty="0"/>
          </a:p>
        </p:txBody>
      </p:sp>
      <p:sp>
        <p:nvSpPr>
          <p:cNvPr id="5" name="Text 3"/>
          <p:cNvSpPr txBox="1"/>
          <p:nvPr/>
        </p:nvSpPr>
        <p:spPr>
          <a:xfrm>
            <a:off x="457200" y="6510528"/>
            <a:ext cx="5486400" cy="274320"/>
          </a:xfrm>
          <a:prstGeom prst="rect">
            <a:avLst/>
          </a:prstGeom>
          <a:noFill/>
          <a:ln/>
        </p:spPr>
        <p:txBody>
          <a:bodyPr wrap="square" lIns="0" tIns="0" rIns="0" bIns="0" rtlCol="0" anchor="ctr"/>
          <a:lstStyle/>
          <a:p>
            <a:pPr marL="0" indent="0" algn="l">
              <a:buNone/>
            </a:pPr>
            <a:r>
              <a:rPr lang="en-US" sz="900" dirty="0">
                <a:solidFill>
                  <a:srgbClr val="7488A3"/>
                </a:solidFill>
                <a:latin typeface="Calibri" pitchFamily="34" charset="0"/>
                <a:ea typeface="Calibri" pitchFamily="34" charset="-122"/>
                <a:cs typeface="Calibri" pitchFamily="34" charset="-120"/>
              </a:rPr>
              <a:t>SHIELD — Software &amp; Autonomy Overview</a:t>
            </a:r>
            <a:endParaRPr lang="en-US" sz="900" dirty="0"/>
          </a:p>
        </p:txBody>
      </p:sp>
      <p:sp>
        <p:nvSpPr>
          <p:cNvPr id="6" name="Shape 4"/>
          <p:cNvSpPr/>
          <p:nvPr/>
        </p:nvSpPr>
        <p:spPr>
          <a:xfrm>
            <a:off x="548640" y="1600200"/>
            <a:ext cx="5577840" cy="4206240"/>
          </a:xfrm>
          <a:prstGeom prst="roundRect">
            <a:avLst>
              <a:gd name="adj" fmla="val 1957"/>
            </a:avLst>
          </a:prstGeom>
          <a:solidFill>
            <a:srgbClr val="10203D"/>
          </a:solidFill>
          <a:ln/>
        </p:spPr>
        <p:txBody>
          <a:bodyPr/>
          <a:lstStyle/>
          <a:p>
            <a:endParaRPr lang="en-US"/>
          </a:p>
        </p:txBody>
      </p:sp>
      <p:sp>
        <p:nvSpPr>
          <p:cNvPr id="7" name="Shape 5"/>
          <p:cNvSpPr/>
          <p:nvPr/>
        </p:nvSpPr>
        <p:spPr>
          <a:xfrm>
            <a:off x="868680" y="1920240"/>
            <a:ext cx="566928" cy="566928"/>
          </a:xfrm>
          <a:prstGeom prst="ellipse">
            <a:avLst/>
          </a:prstGeom>
          <a:solidFill>
            <a:srgbClr val="16294A"/>
          </a:solidFill>
          <a:ln w="15875">
            <a:solidFill>
              <a:srgbClr val="3DDCC7"/>
            </a:solidFill>
            <a:prstDash val="solid"/>
          </a:ln>
        </p:spPr>
        <p:txBody>
          <a:bodyPr/>
          <a:lstStyle/>
          <a:p>
            <a:endParaRPr lang="en-US"/>
          </a:p>
        </p:txBody>
      </p:sp>
      <p:pic>
        <p:nvPicPr>
          <p:cNvPr id="8" name="Image 0" descr="icons/route.png"/>
          <p:cNvPicPr>
            <a:picLocks noChangeAspect="1"/>
          </p:cNvPicPr>
          <p:nvPr/>
        </p:nvPicPr>
        <p:blipFill>
          <a:blip r:embed="rId3"/>
          <a:stretch>
            <a:fillRect/>
          </a:stretch>
        </p:blipFill>
        <p:spPr>
          <a:xfrm>
            <a:off x="936711" y="1988271"/>
            <a:ext cx="430865" cy="430865"/>
          </a:xfrm>
          <a:prstGeom prst="rect">
            <a:avLst/>
          </a:prstGeom>
        </p:spPr>
      </p:pic>
      <p:sp>
        <p:nvSpPr>
          <p:cNvPr id="9" name="Text 6"/>
          <p:cNvSpPr txBox="1"/>
          <p:nvPr/>
        </p:nvSpPr>
        <p:spPr>
          <a:xfrm>
            <a:off x="1600200" y="1965960"/>
            <a:ext cx="4297680" cy="502920"/>
          </a:xfrm>
          <a:prstGeom prst="rect">
            <a:avLst/>
          </a:prstGeom>
          <a:noFill/>
          <a:ln/>
        </p:spPr>
        <p:txBody>
          <a:bodyPr wrap="square" lIns="0" tIns="0" rIns="0" bIns="0" rtlCol="0" anchor="ctr"/>
          <a:lstStyle/>
          <a:p>
            <a:pPr marL="0" indent="0">
              <a:buNone/>
            </a:pPr>
            <a:r>
              <a:rPr lang="en-US" sz="1700" b="1" dirty="0">
                <a:solidFill>
                  <a:srgbClr val="FFFFFF"/>
                </a:solidFill>
                <a:latin typeface="Cambria" pitchFamily="34" charset="0"/>
                <a:ea typeface="Cambria" pitchFamily="34" charset="-122"/>
                <a:cs typeface="Cambria" pitchFamily="34" charset="-120"/>
              </a:rPr>
              <a:t>ByteTrack + Kalman filtering</a:t>
            </a:r>
            <a:endParaRPr lang="en-US" sz="1700" dirty="0"/>
          </a:p>
        </p:txBody>
      </p:sp>
      <p:sp>
        <p:nvSpPr>
          <p:cNvPr id="10" name="Shape 7"/>
          <p:cNvSpPr/>
          <p:nvPr/>
        </p:nvSpPr>
        <p:spPr>
          <a:xfrm>
            <a:off x="914400" y="2862072"/>
            <a:ext cx="91440" cy="91440"/>
          </a:xfrm>
          <a:prstGeom prst="ellipse">
            <a:avLst/>
          </a:prstGeom>
          <a:solidFill>
            <a:srgbClr val="3DDCC7"/>
          </a:solidFill>
          <a:ln/>
        </p:spPr>
        <p:txBody>
          <a:bodyPr/>
          <a:lstStyle/>
          <a:p>
            <a:endParaRPr lang="en-US"/>
          </a:p>
        </p:txBody>
      </p:sp>
      <p:sp>
        <p:nvSpPr>
          <p:cNvPr id="11" name="Text 8"/>
          <p:cNvSpPr txBox="1"/>
          <p:nvPr/>
        </p:nvSpPr>
        <p:spPr>
          <a:xfrm>
            <a:off x="1143000" y="2715768"/>
            <a:ext cx="4617720" cy="594360"/>
          </a:xfrm>
          <a:prstGeom prst="rect">
            <a:avLst/>
          </a:prstGeom>
          <a:noFill/>
          <a:ln/>
        </p:spPr>
        <p:txBody>
          <a:bodyPr wrap="square" lIns="0" tIns="0" rIns="0" bIns="0" rtlCol="0" anchor="ctr"/>
          <a:lstStyle/>
          <a:p>
            <a:pPr marL="0" indent="0">
              <a:lnSpc>
                <a:spcPct val="115000"/>
              </a:lnSpc>
              <a:buNone/>
            </a:pPr>
            <a:r>
              <a:rPr lang="en-US" sz="1300" dirty="0">
                <a:solidFill>
                  <a:srgbClr val="9FB3C8"/>
                </a:solidFill>
                <a:latin typeface="Calibri" pitchFamily="34" charset="0"/>
                <a:ea typeface="Calibri" pitchFamily="34" charset="-122"/>
                <a:cs typeface="Calibri" pitchFamily="34" charset="-120"/>
              </a:rPr>
              <a:t>ByteTrack maintains a persistent identity for each tracked target</a:t>
            </a:r>
            <a:endParaRPr lang="en-US" sz="1300" dirty="0"/>
          </a:p>
        </p:txBody>
      </p:sp>
      <p:sp>
        <p:nvSpPr>
          <p:cNvPr id="12" name="Shape 9"/>
          <p:cNvSpPr/>
          <p:nvPr/>
        </p:nvSpPr>
        <p:spPr>
          <a:xfrm>
            <a:off x="914400" y="3575304"/>
            <a:ext cx="91440" cy="91440"/>
          </a:xfrm>
          <a:prstGeom prst="ellipse">
            <a:avLst/>
          </a:prstGeom>
          <a:solidFill>
            <a:srgbClr val="3DDCC7"/>
          </a:solidFill>
          <a:ln/>
        </p:spPr>
        <p:txBody>
          <a:bodyPr/>
          <a:lstStyle/>
          <a:p>
            <a:endParaRPr lang="en-US"/>
          </a:p>
        </p:txBody>
      </p:sp>
      <p:sp>
        <p:nvSpPr>
          <p:cNvPr id="13" name="Text 10"/>
          <p:cNvSpPr txBox="1"/>
          <p:nvPr/>
        </p:nvSpPr>
        <p:spPr>
          <a:xfrm>
            <a:off x="1143000" y="3429000"/>
            <a:ext cx="4617720" cy="594360"/>
          </a:xfrm>
          <a:prstGeom prst="rect">
            <a:avLst/>
          </a:prstGeom>
          <a:noFill/>
          <a:ln/>
        </p:spPr>
        <p:txBody>
          <a:bodyPr wrap="square" lIns="0" tIns="0" rIns="0" bIns="0" rtlCol="0" anchor="ctr"/>
          <a:lstStyle/>
          <a:p>
            <a:pPr marL="0" indent="0">
              <a:lnSpc>
                <a:spcPct val="115000"/>
              </a:lnSpc>
              <a:buNone/>
            </a:pPr>
            <a:r>
              <a:rPr lang="en-US" sz="1300" dirty="0">
                <a:solidFill>
                  <a:srgbClr val="9FB3C8"/>
                </a:solidFill>
                <a:latin typeface="Calibri" pitchFamily="34" charset="0"/>
                <a:ea typeface="Calibri" pitchFamily="34" charset="-122"/>
                <a:cs typeface="Calibri" pitchFamily="34" charset="-120"/>
              </a:rPr>
              <a:t>OpenCV Kalman filtering predicts motion and smooths noisy frames</a:t>
            </a:r>
            <a:endParaRPr lang="en-US" sz="1300" dirty="0"/>
          </a:p>
        </p:txBody>
      </p:sp>
      <p:sp>
        <p:nvSpPr>
          <p:cNvPr id="14" name="Shape 11"/>
          <p:cNvSpPr/>
          <p:nvPr/>
        </p:nvSpPr>
        <p:spPr>
          <a:xfrm>
            <a:off x="914400" y="4288536"/>
            <a:ext cx="91440" cy="91440"/>
          </a:xfrm>
          <a:prstGeom prst="ellipse">
            <a:avLst/>
          </a:prstGeom>
          <a:solidFill>
            <a:srgbClr val="3DDCC7"/>
          </a:solidFill>
          <a:ln/>
        </p:spPr>
        <p:txBody>
          <a:bodyPr/>
          <a:lstStyle/>
          <a:p>
            <a:endParaRPr lang="en-US"/>
          </a:p>
        </p:txBody>
      </p:sp>
      <p:sp>
        <p:nvSpPr>
          <p:cNvPr id="15" name="Text 12"/>
          <p:cNvSpPr txBox="1"/>
          <p:nvPr/>
        </p:nvSpPr>
        <p:spPr>
          <a:xfrm>
            <a:off x="1143000" y="4142232"/>
            <a:ext cx="4617720" cy="594360"/>
          </a:xfrm>
          <a:prstGeom prst="rect">
            <a:avLst/>
          </a:prstGeom>
          <a:noFill/>
          <a:ln/>
        </p:spPr>
        <p:txBody>
          <a:bodyPr wrap="square" lIns="0" tIns="0" rIns="0" bIns="0" rtlCol="0" anchor="ctr"/>
          <a:lstStyle/>
          <a:p>
            <a:pPr marL="0" indent="0">
              <a:lnSpc>
                <a:spcPct val="115000"/>
              </a:lnSpc>
              <a:buNone/>
            </a:pPr>
            <a:r>
              <a:rPr lang="en-US" sz="1300" dirty="0">
                <a:solidFill>
                  <a:srgbClr val="9FB3C8"/>
                </a:solidFill>
                <a:latin typeface="Calibri" pitchFamily="34" charset="0"/>
                <a:ea typeface="Calibri" pitchFamily="34" charset="-122"/>
                <a:cs typeface="Calibri" pitchFamily="34" charset="-120"/>
              </a:rPr>
              <a:t>Target stays locked on through brief obstructions, no reinitialization needed</a:t>
            </a:r>
            <a:endParaRPr lang="en-US" sz="1300" dirty="0"/>
          </a:p>
        </p:txBody>
      </p:sp>
      <p:sp>
        <p:nvSpPr>
          <p:cNvPr id="16" name="Shape 13"/>
          <p:cNvSpPr/>
          <p:nvPr/>
        </p:nvSpPr>
        <p:spPr>
          <a:xfrm>
            <a:off x="914400" y="5001768"/>
            <a:ext cx="91440" cy="91440"/>
          </a:xfrm>
          <a:prstGeom prst="ellipse">
            <a:avLst/>
          </a:prstGeom>
          <a:solidFill>
            <a:srgbClr val="3DDCC7"/>
          </a:solidFill>
          <a:ln/>
        </p:spPr>
        <p:txBody>
          <a:bodyPr/>
          <a:lstStyle/>
          <a:p>
            <a:endParaRPr lang="en-US"/>
          </a:p>
        </p:txBody>
      </p:sp>
      <p:sp>
        <p:nvSpPr>
          <p:cNvPr id="17" name="Text 14"/>
          <p:cNvSpPr txBox="1"/>
          <p:nvPr/>
        </p:nvSpPr>
        <p:spPr>
          <a:xfrm>
            <a:off x="1143000" y="4855464"/>
            <a:ext cx="4617720" cy="594360"/>
          </a:xfrm>
          <a:prstGeom prst="rect">
            <a:avLst/>
          </a:prstGeom>
          <a:noFill/>
          <a:ln/>
        </p:spPr>
        <p:txBody>
          <a:bodyPr wrap="square" lIns="0" tIns="0" rIns="0" bIns="0" rtlCol="0" anchor="ctr"/>
          <a:lstStyle/>
          <a:p>
            <a:pPr marL="0" indent="0">
              <a:lnSpc>
                <a:spcPct val="115000"/>
              </a:lnSpc>
              <a:buNone/>
            </a:pPr>
            <a:r>
              <a:rPr lang="en-US" sz="1300" dirty="0">
                <a:solidFill>
                  <a:srgbClr val="9FB3C8"/>
                </a:solidFill>
                <a:latin typeface="Calibri" pitchFamily="34" charset="0"/>
                <a:ea typeface="Calibri" pitchFamily="34" charset="-122"/>
                <a:cs typeface="Calibri" pitchFamily="34" charset="-120"/>
              </a:rPr>
              <a:t>Feeds continuous position/velocity to the engagement decision logic</a:t>
            </a:r>
            <a:endParaRPr lang="en-US" sz="1300" dirty="0"/>
          </a:p>
        </p:txBody>
      </p:sp>
      <p:sp>
        <p:nvSpPr>
          <p:cNvPr id="18" name="Shape 15"/>
          <p:cNvSpPr/>
          <p:nvPr/>
        </p:nvSpPr>
        <p:spPr>
          <a:xfrm>
            <a:off x="6400800" y="1600200"/>
            <a:ext cx="5239512" cy="4206240"/>
          </a:xfrm>
          <a:prstGeom prst="roundRect">
            <a:avLst>
              <a:gd name="adj" fmla="val 1957"/>
            </a:avLst>
          </a:prstGeom>
          <a:solidFill>
            <a:srgbClr val="16294A"/>
          </a:solidFill>
          <a:ln w="12700">
            <a:solidFill>
              <a:srgbClr val="223454"/>
            </a:solidFill>
            <a:prstDash val="solid"/>
          </a:ln>
        </p:spPr>
        <p:txBody>
          <a:bodyPr/>
          <a:lstStyle/>
          <a:p>
            <a:endParaRPr lang="en-US"/>
          </a:p>
        </p:txBody>
      </p:sp>
      <p:sp>
        <p:nvSpPr>
          <p:cNvPr id="19" name="Shape 16"/>
          <p:cNvSpPr/>
          <p:nvPr/>
        </p:nvSpPr>
        <p:spPr>
          <a:xfrm>
            <a:off x="6766560" y="1920240"/>
            <a:ext cx="548640" cy="548640"/>
          </a:xfrm>
          <a:prstGeom prst="ellipse">
            <a:avLst/>
          </a:prstGeom>
          <a:solidFill>
            <a:srgbClr val="16294A"/>
          </a:solidFill>
          <a:ln w="15875">
            <a:solidFill>
              <a:srgbClr val="F5B942"/>
            </a:solidFill>
            <a:prstDash val="solid"/>
          </a:ln>
        </p:spPr>
        <p:txBody>
          <a:bodyPr/>
          <a:lstStyle/>
          <a:p>
            <a:endParaRPr lang="en-US"/>
          </a:p>
        </p:txBody>
      </p:sp>
      <p:pic>
        <p:nvPicPr>
          <p:cNvPr id="20" name="Image 1" descr="icons/shield.png"/>
          <p:cNvPicPr>
            <a:picLocks noChangeAspect="1"/>
          </p:cNvPicPr>
          <p:nvPr/>
        </p:nvPicPr>
        <p:blipFill>
          <a:blip r:embed="rId4"/>
          <a:stretch>
            <a:fillRect/>
          </a:stretch>
        </p:blipFill>
        <p:spPr>
          <a:xfrm>
            <a:off x="6832397" y="1986077"/>
            <a:ext cx="416966" cy="416966"/>
          </a:xfrm>
          <a:prstGeom prst="rect">
            <a:avLst/>
          </a:prstGeom>
        </p:spPr>
      </p:pic>
      <p:sp>
        <p:nvSpPr>
          <p:cNvPr id="21" name="Text 17"/>
          <p:cNvSpPr txBox="1"/>
          <p:nvPr/>
        </p:nvSpPr>
        <p:spPr>
          <a:xfrm>
            <a:off x="7498080" y="1965960"/>
            <a:ext cx="3867912" cy="457200"/>
          </a:xfrm>
          <a:prstGeom prst="rect">
            <a:avLst/>
          </a:prstGeom>
          <a:noFill/>
          <a:ln/>
        </p:spPr>
        <p:txBody>
          <a:bodyPr wrap="square" lIns="0" tIns="0" rIns="0" bIns="0" rtlCol="0" anchor="ctr"/>
          <a:lstStyle/>
          <a:p>
            <a:pPr marL="0" indent="0">
              <a:buNone/>
            </a:pPr>
            <a:r>
              <a:rPr lang="en-US" sz="1550" b="1" dirty="0">
                <a:solidFill>
                  <a:srgbClr val="FFFFFF"/>
                </a:solidFill>
                <a:latin typeface="Cambria" pitchFamily="34" charset="0"/>
                <a:ea typeface="Cambria" pitchFamily="34" charset="-122"/>
                <a:cs typeface="Cambria" pitchFamily="34" charset="-120"/>
              </a:rPr>
              <a:t>Why persistence matters</a:t>
            </a:r>
            <a:endParaRPr lang="en-US" sz="1550" dirty="0"/>
          </a:p>
        </p:txBody>
      </p:sp>
      <p:sp>
        <p:nvSpPr>
          <p:cNvPr id="22" name="Text 18"/>
          <p:cNvSpPr txBox="1"/>
          <p:nvPr/>
        </p:nvSpPr>
        <p:spPr>
          <a:xfrm>
            <a:off x="6766560" y="2651760"/>
            <a:ext cx="4507992" cy="914400"/>
          </a:xfrm>
          <a:prstGeom prst="rect">
            <a:avLst/>
          </a:prstGeom>
          <a:noFill/>
          <a:ln/>
        </p:spPr>
        <p:txBody>
          <a:bodyPr wrap="square" lIns="0" tIns="0" rIns="0" bIns="0" rtlCol="0" anchor="ctr"/>
          <a:lstStyle/>
          <a:p>
            <a:pPr marL="0" indent="0">
              <a:lnSpc>
                <a:spcPct val="125000"/>
              </a:lnSpc>
              <a:buNone/>
            </a:pPr>
            <a:r>
              <a:rPr lang="en-US" sz="1300" dirty="0">
                <a:solidFill>
                  <a:srgbClr val="9FB3C8"/>
                </a:solidFill>
                <a:latin typeface="Calibri" pitchFamily="34" charset="0"/>
                <a:ea typeface="Calibri" pitchFamily="34" charset="-122"/>
                <a:cs typeface="Calibri" pitchFamily="34" charset="-120"/>
              </a:rPr>
              <a:t>Once an operator approves engagement, SHIELD tracks and intercepts on its own — no human reacquiring the target if the lock is lost. Tracking has to survive:</a:t>
            </a:r>
            <a:endParaRPr lang="en-US" sz="1300" dirty="0"/>
          </a:p>
        </p:txBody>
      </p:sp>
      <p:sp>
        <p:nvSpPr>
          <p:cNvPr id="23" name="Text 19"/>
          <p:cNvSpPr txBox="1"/>
          <p:nvPr/>
        </p:nvSpPr>
        <p:spPr>
          <a:xfrm>
            <a:off x="6766560" y="3703320"/>
            <a:ext cx="228600" cy="365760"/>
          </a:xfrm>
          <a:prstGeom prst="rect">
            <a:avLst/>
          </a:prstGeom>
          <a:noFill/>
          <a:ln/>
        </p:spPr>
        <p:txBody>
          <a:bodyPr wrap="square" lIns="0" tIns="0" rIns="0" bIns="0" rtlCol="0" anchor="ctr"/>
          <a:lstStyle/>
          <a:p>
            <a:pPr marL="0" indent="0">
              <a:buNone/>
            </a:pPr>
            <a:r>
              <a:rPr lang="en-US" sz="1300" dirty="0">
                <a:solidFill>
                  <a:srgbClr val="F5B942"/>
                </a:solidFill>
                <a:latin typeface="Calibri" pitchFamily="34" charset="0"/>
                <a:ea typeface="Calibri" pitchFamily="34" charset="-122"/>
                <a:cs typeface="Calibri" pitchFamily="34" charset="-120"/>
              </a:rPr>
              <a:t>–</a:t>
            </a:r>
            <a:endParaRPr lang="en-US" sz="1300" dirty="0"/>
          </a:p>
        </p:txBody>
      </p:sp>
      <p:sp>
        <p:nvSpPr>
          <p:cNvPr id="24" name="Text 20"/>
          <p:cNvSpPr txBox="1"/>
          <p:nvPr/>
        </p:nvSpPr>
        <p:spPr>
          <a:xfrm>
            <a:off x="7022592" y="3703320"/>
            <a:ext cx="4233672" cy="457200"/>
          </a:xfrm>
          <a:prstGeom prst="rect">
            <a:avLst/>
          </a:prstGeom>
          <a:noFill/>
          <a:ln/>
        </p:spPr>
        <p:txBody>
          <a:bodyPr wrap="square" lIns="0" tIns="0" rIns="0" bIns="0" rtlCol="0" anchor="ctr"/>
          <a:lstStyle/>
          <a:p>
            <a:pPr marL="0" indent="0">
              <a:buNone/>
            </a:pPr>
            <a:r>
              <a:rPr lang="en-US" sz="1250" dirty="0">
                <a:solidFill>
                  <a:srgbClr val="FFFFFF"/>
                </a:solidFill>
                <a:latin typeface="Calibri" pitchFamily="34" charset="0"/>
                <a:ea typeface="Calibri" pitchFamily="34" charset="-122"/>
                <a:cs typeface="Calibri" pitchFamily="34" charset="-120"/>
              </a:rPr>
              <a:t>Brief visual obstructions (trees, terrain, glare)</a:t>
            </a:r>
            <a:endParaRPr lang="en-US" sz="1250" dirty="0"/>
          </a:p>
        </p:txBody>
      </p:sp>
      <p:sp>
        <p:nvSpPr>
          <p:cNvPr id="25" name="Text 21"/>
          <p:cNvSpPr txBox="1"/>
          <p:nvPr/>
        </p:nvSpPr>
        <p:spPr>
          <a:xfrm>
            <a:off x="6766560" y="4206240"/>
            <a:ext cx="228600" cy="365760"/>
          </a:xfrm>
          <a:prstGeom prst="rect">
            <a:avLst/>
          </a:prstGeom>
          <a:noFill/>
          <a:ln/>
        </p:spPr>
        <p:txBody>
          <a:bodyPr wrap="square" lIns="0" tIns="0" rIns="0" bIns="0" rtlCol="0" anchor="ctr"/>
          <a:lstStyle/>
          <a:p>
            <a:pPr marL="0" indent="0">
              <a:buNone/>
            </a:pPr>
            <a:r>
              <a:rPr lang="en-US" sz="1300" dirty="0">
                <a:solidFill>
                  <a:srgbClr val="F5B942"/>
                </a:solidFill>
                <a:latin typeface="Calibri" pitchFamily="34" charset="0"/>
                <a:ea typeface="Calibri" pitchFamily="34" charset="-122"/>
                <a:cs typeface="Calibri" pitchFamily="34" charset="-120"/>
              </a:rPr>
              <a:t>–</a:t>
            </a:r>
            <a:endParaRPr lang="en-US" sz="1300" dirty="0"/>
          </a:p>
        </p:txBody>
      </p:sp>
      <p:sp>
        <p:nvSpPr>
          <p:cNvPr id="26" name="Text 22"/>
          <p:cNvSpPr txBox="1"/>
          <p:nvPr/>
        </p:nvSpPr>
        <p:spPr>
          <a:xfrm>
            <a:off x="7022592" y="4206240"/>
            <a:ext cx="4233672" cy="457200"/>
          </a:xfrm>
          <a:prstGeom prst="rect">
            <a:avLst/>
          </a:prstGeom>
          <a:noFill/>
          <a:ln/>
        </p:spPr>
        <p:txBody>
          <a:bodyPr wrap="square" lIns="0" tIns="0" rIns="0" bIns="0" rtlCol="0" anchor="ctr"/>
          <a:lstStyle/>
          <a:p>
            <a:pPr marL="0" indent="0">
              <a:buNone/>
            </a:pPr>
            <a:r>
              <a:rPr lang="en-US" sz="1250" dirty="0">
                <a:solidFill>
                  <a:srgbClr val="FFFFFF"/>
                </a:solidFill>
                <a:latin typeface="Calibri" pitchFamily="34" charset="0"/>
                <a:ea typeface="Calibri" pitchFamily="34" charset="-122"/>
                <a:cs typeface="Calibri" pitchFamily="34" charset="-120"/>
              </a:rPr>
              <a:t>Rapid or erratic target maneuvers</a:t>
            </a:r>
            <a:endParaRPr lang="en-US" sz="1250" dirty="0"/>
          </a:p>
        </p:txBody>
      </p:sp>
      <p:sp>
        <p:nvSpPr>
          <p:cNvPr id="27" name="Text 23"/>
          <p:cNvSpPr txBox="1"/>
          <p:nvPr/>
        </p:nvSpPr>
        <p:spPr>
          <a:xfrm>
            <a:off x="6766560" y="4709160"/>
            <a:ext cx="228600" cy="365760"/>
          </a:xfrm>
          <a:prstGeom prst="rect">
            <a:avLst/>
          </a:prstGeom>
          <a:noFill/>
          <a:ln/>
        </p:spPr>
        <p:txBody>
          <a:bodyPr wrap="square" lIns="0" tIns="0" rIns="0" bIns="0" rtlCol="0" anchor="ctr"/>
          <a:lstStyle/>
          <a:p>
            <a:pPr marL="0" indent="0">
              <a:buNone/>
            </a:pPr>
            <a:r>
              <a:rPr lang="en-US" sz="1300" dirty="0">
                <a:solidFill>
                  <a:srgbClr val="F5B942"/>
                </a:solidFill>
                <a:latin typeface="Calibri" pitchFamily="34" charset="0"/>
                <a:ea typeface="Calibri" pitchFamily="34" charset="-122"/>
                <a:cs typeface="Calibri" pitchFamily="34" charset="-120"/>
              </a:rPr>
              <a:t>–</a:t>
            </a:r>
            <a:endParaRPr lang="en-US" sz="1300" dirty="0"/>
          </a:p>
        </p:txBody>
      </p:sp>
      <p:sp>
        <p:nvSpPr>
          <p:cNvPr id="28" name="Text 24"/>
          <p:cNvSpPr txBox="1"/>
          <p:nvPr/>
        </p:nvSpPr>
        <p:spPr>
          <a:xfrm>
            <a:off x="7022592" y="4709160"/>
            <a:ext cx="4233672" cy="457200"/>
          </a:xfrm>
          <a:prstGeom prst="rect">
            <a:avLst/>
          </a:prstGeom>
          <a:noFill/>
          <a:ln/>
        </p:spPr>
        <p:txBody>
          <a:bodyPr wrap="square" lIns="0" tIns="0" rIns="0" bIns="0" rtlCol="0" anchor="ctr"/>
          <a:lstStyle/>
          <a:p>
            <a:pPr marL="0" indent="0">
              <a:buNone/>
            </a:pPr>
            <a:r>
              <a:rPr lang="en-US" sz="1250" dirty="0">
                <a:solidFill>
                  <a:srgbClr val="FFFFFF"/>
                </a:solidFill>
                <a:latin typeface="Calibri" pitchFamily="34" charset="0"/>
                <a:ea typeface="Calibri" pitchFamily="34" charset="-122"/>
                <a:cs typeface="Calibri" pitchFamily="34" charset="-120"/>
              </a:rPr>
              <a:t>Sensor noise on embedded hardware</a:t>
            </a:r>
            <a:endParaRPr lang="en-US" sz="12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B1730"/>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9144000" cy="292608"/>
          </a:xfrm>
          <a:prstGeom prst="rect">
            <a:avLst/>
          </a:prstGeom>
          <a:noFill/>
          <a:ln/>
        </p:spPr>
        <p:txBody>
          <a:bodyPr wrap="square" lIns="0" tIns="0" rIns="0" bIns="0" rtlCol="0" anchor="ctr"/>
          <a:lstStyle/>
          <a:p>
            <a:pPr marL="0" indent="0">
              <a:buNone/>
            </a:pPr>
            <a:r>
              <a:rPr lang="en-US" sz="1300" b="1" kern="0" spc="200" dirty="0">
                <a:solidFill>
                  <a:srgbClr val="3DDCC7"/>
                </a:solidFill>
                <a:latin typeface="Calibri" pitchFamily="34" charset="0"/>
                <a:ea typeface="Calibri" pitchFamily="34" charset="-122"/>
                <a:cs typeface="Calibri" pitchFamily="34" charset="-120"/>
              </a:rPr>
              <a:t>PLATFORMS</a:t>
            </a:r>
            <a:endParaRPr lang="en-US" sz="1300" dirty="0"/>
          </a:p>
        </p:txBody>
      </p:sp>
      <p:sp>
        <p:nvSpPr>
          <p:cNvPr id="3" name="Text 1"/>
          <p:cNvSpPr txBox="1"/>
          <p:nvPr/>
        </p:nvSpPr>
        <p:spPr>
          <a:xfrm>
            <a:off x="548640" y="658368"/>
            <a:ext cx="10515600" cy="731520"/>
          </a:xfrm>
          <a:prstGeom prst="rect">
            <a:avLst/>
          </a:prstGeom>
          <a:noFill/>
          <a:ln/>
        </p:spPr>
        <p:txBody>
          <a:bodyPr wrap="square" lIns="0" tIns="0" rIns="0" bIns="0" rtlCol="0" anchor="ctr"/>
          <a:lstStyle/>
          <a:p>
            <a:pPr marL="0" indent="0">
              <a:buNone/>
            </a:pPr>
            <a:r>
              <a:rPr lang="en-US" sz="3200" b="1" dirty="0">
                <a:solidFill>
                  <a:srgbClr val="FFFFFF"/>
                </a:solidFill>
                <a:latin typeface="Cambria" pitchFamily="34" charset="0"/>
                <a:ea typeface="Cambria" pitchFamily="34" charset="-122"/>
                <a:cs typeface="Cambria" pitchFamily="34" charset="-120"/>
              </a:rPr>
              <a:t>Where the software runs</a:t>
            </a:r>
            <a:endParaRPr lang="en-US" sz="3200" dirty="0"/>
          </a:p>
        </p:txBody>
      </p:sp>
      <p:sp>
        <p:nvSpPr>
          <p:cNvPr id="4" name="Text 2"/>
          <p:cNvSpPr txBox="1"/>
          <p:nvPr/>
        </p:nvSpPr>
        <p:spPr>
          <a:xfrm>
            <a:off x="11475720" y="6510528"/>
            <a:ext cx="548640" cy="274320"/>
          </a:xfrm>
          <a:prstGeom prst="rect">
            <a:avLst/>
          </a:prstGeom>
          <a:noFill/>
          <a:ln/>
        </p:spPr>
        <p:txBody>
          <a:bodyPr wrap="square" lIns="0" tIns="0" rIns="0" bIns="0" rtlCol="0" anchor="ctr"/>
          <a:lstStyle/>
          <a:p>
            <a:pPr marL="0" indent="0" algn="r">
              <a:buNone/>
            </a:pPr>
            <a:r>
              <a:rPr lang="en-US" sz="900" dirty="0">
                <a:solidFill>
                  <a:srgbClr val="7488A3"/>
                </a:solidFill>
                <a:latin typeface="Calibri" pitchFamily="34" charset="0"/>
                <a:ea typeface="Calibri" pitchFamily="34" charset="-122"/>
                <a:cs typeface="Calibri" pitchFamily="34" charset="-120"/>
              </a:rPr>
              <a:t>8 / 14</a:t>
            </a:r>
            <a:endParaRPr lang="en-US" sz="900" dirty="0"/>
          </a:p>
        </p:txBody>
      </p:sp>
      <p:sp>
        <p:nvSpPr>
          <p:cNvPr id="5" name="Text 3"/>
          <p:cNvSpPr txBox="1"/>
          <p:nvPr/>
        </p:nvSpPr>
        <p:spPr>
          <a:xfrm>
            <a:off x="457200" y="6510528"/>
            <a:ext cx="5486400" cy="274320"/>
          </a:xfrm>
          <a:prstGeom prst="rect">
            <a:avLst/>
          </a:prstGeom>
          <a:noFill/>
          <a:ln/>
        </p:spPr>
        <p:txBody>
          <a:bodyPr wrap="square" lIns="0" tIns="0" rIns="0" bIns="0" rtlCol="0" anchor="ctr"/>
          <a:lstStyle/>
          <a:p>
            <a:pPr marL="0" indent="0" algn="l">
              <a:buNone/>
            </a:pPr>
            <a:r>
              <a:rPr lang="en-US" sz="900" dirty="0">
                <a:solidFill>
                  <a:srgbClr val="7488A3"/>
                </a:solidFill>
                <a:latin typeface="Calibri" pitchFamily="34" charset="0"/>
                <a:ea typeface="Calibri" pitchFamily="34" charset="-122"/>
                <a:cs typeface="Calibri" pitchFamily="34" charset="-120"/>
              </a:rPr>
              <a:t>SHIELD — Software &amp; Autonomy Overview</a:t>
            </a:r>
            <a:endParaRPr lang="en-US" sz="900" dirty="0"/>
          </a:p>
        </p:txBody>
      </p:sp>
      <p:sp>
        <p:nvSpPr>
          <p:cNvPr id="6" name="Shape 4"/>
          <p:cNvSpPr/>
          <p:nvPr/>
        </p:nvSpPr>
        <p:spPr>
          <a:xfrm>
            <a:off x="548640" y="1828800"/>
            <a:ext cx="3566160" cy="4023360"/>
          </a:xfrm>
          <a:prstGeom prst="roundRect">
            <a:avLst>
              <a:gd name="adj" fmla="val 2051"/>
            </a:avLst>
          </a:prstGeom>
          <a:solidFill>
            <a:srgbClr val="10203D"/>
          </a:solidFill>
          <a:ln/>
        </p:spPr>
        <p:txBody>
          <a:bodyPr/>
          <a:lstStyle/>
          <a:p>
            <a:endParaRPr lang="en-US"/>
          </a:p>
        </p:txBody>
      </p:sp>
      <p:sp>
        <p:nvSpPr>
          <p:cNvPr id="7" name="Shape 5"/>
          <p:cNvSpPr/>
          <p:nvPr/>
        </p:nvSpPr>
        <p:spPr>
          <a:xfrm>
            <a:off x="822960" y="2103120"/>
            <a:ext cx="530352" cy="530352"/>
          </a:xfrm>
          <a:prstGeom prst="ellipse">
            <a:avLst/>
          </a:prstGeom>
          <a:solidFill>
            <a:srgbClr val="16294A"/>
          </a:solidFill>
          <a:ln w="15875">
            <a:solidFill>
              <a:srgbClr val="3DDCC7"/>
            </a:solidFill>
            <a:prstDash val="solid"/>
          </a:ln>
        </p:spPr>
        <p:txBody>
          <a:bodyPr/>
          <a:lstStyle/>
          <a:p>
            <a:endParaRPr lang="en-US"/>
          </a:p>
        </p:txBody>
      </p:sp>
      <p:pic>
        <p:nvPicPr>
          <p:cNvPr id="8" name="Image 0" descr="icons/microchip.png"/>
          <p:cNvPicPr>
            <a:picLocks noChangeAspect="1"/>
          </p:cNvPicPr>
          <p:nvPr/>
        </p:nvPicPr>
        <p:blipFill>
          <a:blip r:embed="rId3"/>
          <a:stretch>
            <a:fillRect/>
          </a:stretch>
        </p:blipFill>
        <p:spPr>
          <a:xfrm>
            <a:off x="886602" y="2166762"/>
            <a:ext cx="403068" cy="403068"/>
          </a:xfrm>
          <a:prstGeom prst="rect">
            <a:avLst/>
          </a:prstGeom>
        </p:spPr>
      </p:pic>
      <p:sp>
        <p:nvSpPr>
          <p:cNvPr id="9" name="Text 6"/>
          <p:cNvSpPr txBox="1"/>
          <p:nvPr/>
        </p:nvSpPr>
        <p:spPr>
          <a:xfrm>
            <a:off x="822960" y="2761488"/>
            <a:ext cx="3017520" cy="411480"/>
          </a:xfrm>
          <a:prstGeom prst="rect">
            <a:avLst/>
          </a:prstGeom>
          <a:noFill/>
          <a:ln/>
        </p:spPr>
        <p:txBody>
          <a:bodyPr wrap="square" lIns="0" tIns="0" rIns="0" bIns="0" rtlCol="0" anchor="ctr"/>
          <a:lstStyle/>
          <a:p>
            <a:pPr marL="0" indent="0">
              <a:buNone/>
            </a:pPr>
            <a:r>
              <a:rPr lang="en-US" sz="1550" b="1" dirty="0">
                <a:solidFill>
                  <a:srgbClr val="FFFFFF"/>
                </a:solidFill>
                <a:latin typeface="Cambria" pitchFamily="34" charset="0"/>
                <a:ea typeface="Cambria" pitchFamily="34" charset="-122"/>
                <a:cs typeface="Cambria" pitchFamily="34" charset="-120"/>
              </a:rPr>
              <a:t>Target hardware</a:t>
            </a:r>
            <a:endParaRPr lang="en-US" sz="1550" dirty="0"/>
          </a:p>
        </p:txBody>
      </p:sp>
      <p:sp>
        <p:nvSpPr>
          <p:cNvPr id="10" name="Shape 7"/>
          <p:cNvSpPr/>
          <p:nvPr/>
        </p:nvSpPr>
        <p:spPr>
          <a:xfrm>
            <a:off x="841248" y="3355848"/>
            <a:ext cx="82296" cy="82296"/>
          </a:xfrm>
          <a:prstGeom prst="ellipse">
            <a:avLst/>
          </a:prstGeom>
          <a:solidFill>
            <a:srgbClr val="F5B942"/>
          </a:solidFill>
          <a:ln/>
        </p:spPr>
        <p:txBody>
          <a:bodyPr/>
          <a:lstStyle/>
          <a:p>
            <a:endParaRPr lang="en-US"/>
          </a:p>
        </p:txBody>
      </p:sp>
      <p:sp>
        <p:nvSpPr>
          <p:cNvPr id="11" name="Text 8"/>
          <p:cNvSpPr txBox="1"/>
          <p:nvPr/>
        </p:nvSpPr>
        <p:spPr>
          <a:xfrm>
            <a:off x="1051560" y="3209544"/>
            <a:ext cx="2788920" cy="411480"/>
          </a:xfrm>
          <a:prstGeom prst="rect">
            <a:avLst/>
          </a:prstGeom>
          <a:noFill/>
          <a:ln/>
        </p:spPr>
        <p:txBody>
          <a:bodyPr wrap="square" lIns="0" tIns="0" rIns="0" bIns="0" rtlCol="0" anchor="ctr"/>
          <a:lstStyle/>
          <a:p>
            <a:pPr marL="0" indent="0">
              <a:buNone/>
            </a:pPr>
            <a:r>
              <a:rPr lang="en-US" sz="1200" dirty="0">
                <a:solidFill>
                  <a:srgbClr val="9FB3C8"/>
                </a:solidFill>
                <a:latin typeface="Calibri" pitchFamily="34" charset="0"/>
                <a:ea typeface="Calibri" pitchFamily="34" charset="-122"/>
                <a:cs typeface="Calibri" pitchFamily="34" charset="-120"/>
              </a:rPr>
              <a:t>Raspberry Pi 5</a:t>
            </a:r>
            <a:endParaRPr lang="en-US" sz="1200" dirty="0"/>
          </a:p>
        </p:txBody>
      </p:sp>
      <p:sp>
        <p:nvSpPr>
          <p:cNvPr id="12" name="Shape 9"/>
          <p:cNvSpPr/>
          <p:nvPr/>
        </p:nvSpPr>
        <p:spPr>
          <a:xfrm>
            <a:off x="841248" y="3813048"/>
            <a:ext cx="82296" cy="82296"/>
          </a:xfrm>
          <a:prstGeom prst="ellipse">
            <a:avLst/>
          </a:prstGeom>
          <a:solidFill>
            <a:srgbClr val="F5B942"/>
          </a:solidFill>
          <a:ln/>
        </p:spPr>
        <p:txBody>
          <a:bodyPr/>
          <a:lstStyle/>
          <a:p>
            <a:endParaRPr lang="en-US"/>
          </a:p>
        </p:txBody>
      </p:sp>
      <p:sp>
        <p:nvSpPr>
          <p:cNvPr id="13" name="Text 10"/>
          <p:cNvSpPr txBox="1"/>
          <p:nvPr/>
        </p:nvSpPr>
        <p:spPr>
          <a:xfrm>
            <a:off x="1051560" y="3666744"/>
            <a:ext cx="2788920" cy="411480"/>
          </a:xfrm>
          <a:prstGeom prst="rect">
            <a:avLst/>
          </a:prstGeom>
          <a:noFill/>
          <a:ln/>
        </p:spPr>
        <p:txBody>
          <a:bodyPr wrap="square" lIns="0" tIns="0" rIns="0" bIns="0" rtlCol="0" anchor="ctr"/>
          <a:lstStyle/>
          <a:p>
            <a:pPr marL="0" indent="0">
              <a:buNone/>
            </a:pPr>
            <a:r>
              <a:rPr lang="en-US" sz="1200" dirty="0">
                <a:solidFill>
                  <a:srgbClr val="9FB3C8"/>
                </a:solidFill>
                <a:latin typeface="Calibri" pitchFamily="34" charset="0"/>
                <a:ea typeface="Calibri" pitchFamily="34" charset="-122"/>
                <a:cs typeface="Calibri" pitchFamily="34" charset="-120"/>
              </a:rPr>
              <a:t>AI HAT+ (Hailo accelerator)</a:t>
            </a:r>
            <a:endParaRPr lang="en-US" sz="1200" dirty="0"/>
          </a:p>
        </p:txBody>
      </p:sp>
      <p:sp>
        <p:nvSpPr>
          <p:cNvPr id="14" name="Shape 11"/>
          <p:cNvSpPr/>
          <p:nvPr/>
        </p:nvSpPr>
        <p:spPr>
          <a:xfrm>
            <a:off x="841248" y="4270248"/>
            <a:ext cx="82296" cy="82296"/>
          </a:xfrm>
          <a:prstGeom prst="ellipse">
            <a:avLst/>
          </a:prstGeom>
          <a:solidFill>
            <a:srgbClr val="F5B942"/>
          </a:solidFill>
          <a:ln/>
        </p:spPr>
        <p:txBody>
          <a:bodyPr/>
          <a:lstStyle/>
          <a:p>
            <a:endParaRPr lang="en-US"/>
          </a:p>
        </p:txBody>
      </p:sp>
      <p:sp>
        <p:nvSpPr>
          <p:cNvPr id="15" name="Text 12"/>
          <p:cNvSpPr txBox="1"/>
          <p:nvPr/>
        </p:nvSpPr>
        <p:spPr>
          <a:xfrm>
            <a:off x="1051560" y="4123944"/>
            <a:ext cx="2788920" cy="411480"/>
          </a:xfrm>
          <a:prstGeom prst="rect">
            <a:avLst/>
          </a:prstGeom>
          <a:noFill/>
          <a:ln/>
        </p:spPr>
        <p:txBody>
          <a:bodyPr wrap="square" lIns="0" tIns="0" rIns="0" bIns="0" rtlCol="0" anchor="ctr"/>
          <a:lstStyle/>
          <a:p>
            <a:pPr marL="0" indent="0">
              <a:buNone/>
            </a:pPr>
            <a:r>
              <a:rPr lang="en-US" sz="1200" dirty="0">
                <a:solidFill>
                  <a:srgbClr val="9FB3C8"/>
                </a:solidFill>
                <a:latin typeface="Calibri" pitchFamily="34" charset="0"/>
                <a:ea typeface="Calibri" pitchFamily="34" charset="-122"/>
                <a:cs typeface="Calibri" pitchFamily="34" charset="-120"/>
              </a:rPr>
              <a:t>Camera Module 3</a:t>
            </a:r>
            <a:endParaRPr lang="en-US" sz="1200" dirty="0"/>
          </a:p>
        </p:txBody>
      </p:sp>
      <p:sp>
        <p:nvSpPr>
          <p:cNvPr id="16" name="Shape 13"/>
          <p:cNvSpPr/>
          <p:nvPr/>
        </p:nvSpPr>
        <p:spPr>
          <a:xfrm>
            <a:off x="822960" y="4983480"/>
            <a:ext cx="3017520" cy="0"/>
          </a:xfrm>
          <a:prstGeom prst="line">
            <a:avLst/>
          </a:prstGeom>
          <a:noFill/>
          <a:ln w="12700">
            <a:solidFill>
              <a:srgbClr val="223454"/>
            </a:solidFill>
            <a:prstDash val="solid"/>
          </a:ln>
        </p:spPr>
        <p:txBody>
          <a:bodyPr/>
          <a:lstStyle/>
          <a:p>
            <a:endParaRPr lang="en-US"/>
          </a:p>
        </p:txBody>
      </p:sp>
      <p:sp>
        <p:nvSpPr>
          <p:cNvPr id="17" name="Text 14"/>
          <p:cNvSpPr txBox="1"/>
          <p:nvPr/>
        </p:nvSpPr>
        <p:spPr>
          <a:xfrm>
            <a:off x="822960" y="5120640"/>
            <a:ext cx="3017520" cy="640080"/>
          </a:xfrm>
          <a:prstGeom prst="rect">
            <a:avLst/>
          </a:prstGeom>
          <a:noFill/>
          <a:ln/>
        </p:spPr>
        <p:txBody>
          <a:bodyPr wrap="square" lIns="0" tIns="0" rIns="0" bIns="0" rtlCol="0" anchor="ctr"/>
          <a:lstStyle/>
          <a:p>
            <a:pPr marL="0" indent="0">
              <a:lnSpc>
                <a:spcPct val="120000"/>
              </a:lnSpc>
              <a:buNone/>
            </a:pPr>
            <a:r>
              <a:rPr lang="en-US" sz="1150" i="1" dirty="0">
                <a:solidFill>
                  <a:srgbClr val="7488A3"/>
                </a:solidFill>
                <a:latin typeface="Calibri" pitchFamily="34" charset="0"/>
                <a:ea typeface="Calibri" pitchFamily="34" charset="-122"/>
                <a:cs typeface="Calibri" pitchFamily="34" charset="-120"/>
              </a:rPr>
              <a:t>Where the final system must run in real time.</a:t>
            </a:r>
            <a:endParaRPr lang="en-US" sz="1150" dirty="0"/>
          </a:p>
        </p:txBody>
      </p:sp>
      <p:sp>
        <p:nvSpPr>
          <p:cNvPr id="18" name="Shape 15"/>
          <p:cNvSpPr/>
          <p:nvPr/>
        </p:nvSpPr>
        <p:spPr>
          <a:xfrm>
            <a:off x="4315968" y="1828800"/>
            <a:ext cx="3566160" cy="4023360"/>
          </a:xfrm>
          <a:prstGeom prst="roundRect">
            <a:avLst>
              <a:gd name="adj" fmla="val 2051"/>
            </a:avLst>
          </a:prstGeom>
          <a:solidFill>
            <a:srgbClr val="10203D"/>
          </a:solidFill>
          <a:ln/>
        </p:spPr>
        <p:txBody>
          <a:bodyPr/>
          <a:lstStyle/>
          <a:p>
            <a:endParaRPr lang="en-US"/>
          </a:p>
        </p:txBody>
      </p:sp>
      <p:sp>
        <p:nvSpPr>
          <p:cNvPr id="19" name="Shape 16"/>
          <p:cNvSpPr/>
          <p:nvPr/>
        </p:nvSpPr>
        <p:spPr>
          <a:xfrm>
            <a:off x="4590288" y="2103120"/>
            <a:ext cx="530352" cy="530352"/>
          </a:xfrm>
          <a:prstGeom prst="ellipse">
            <a:avLst/>
          </a:prstGeom>
          <a:solidFill>
            <a:srgbClr val="16294A"/>
          </a:solidFill>
          <a:ln w="15875">
            <a:solidFill>
              <a:srgbClr val="3DDCC7"/>
            </a:solidFill>
            <a:prstDash val="solid"/>
          </a:ln>
        </p:spPr>
        <p:txBody>
          <a:bodyPr/>
          <a:lstStyle/>
          <a:p>
            <a:endParaRPr lang="en-US"/>
          </a:p>
        </p:txBody>
      </p:sp>
      <p:pic>
        <p:nvPicPr>
          <p:cNvPr id="20" name="Image 1" descr="icons/project.png"/>
          <p:cNvPicPr>
            <a:picLocks noChangeAspect="1"/>
          </p:cNvPicPr>
          <p:nvPr/>
        </p:nvPicPr>
        <p:blipFill>
          <a:blip r:embed="rId4"/>
          <a:stretch>
            <a:fillRect/>
          </a:stretch>
        </p:blipFill>
        <p:spPr>
          <a:xfrm>
            <a:off x="4653930" y="2166762"/>
            <a:ext cx="403068" cy="403068"/>
          </a:xfrm>
          <a:prstGeom prst="rect">
            <a:avLst/>
          </a:prstGeom>
        </p:spPr>
      </p:pic>
      <p:sp>
        <p:nvSpPr>
          <p:cNvPr id="21" name="Text 17"/>
          <p:cNvSpPr txBox="1"/>
          <p:nvPr/>
        </p:nvSpPr>
        <p:spPr>
          <a:xfrm>
            <a:off x="4590288" y="2761488"/>
            <a:ext cx="3017520" cy="411480"/>
          </a:xfrm>
          <a:prstGeom prst="rect">
            <a:avLst/>
          </a:prstGeom>
          <a:noFill/>
          <a:ln/>
        </p:spPr>
        <p:txBody>
          <a:bodyPr wrap="square" lIns="0" tIns="0" rIns="0" bIns="0" rtlCol="0" anchor="ctr"/>
          <a:lstStyle/>
          <a:p>
            <a:pPr marL="0" indent="0">
              <a:buNone/>
            </a:pPr>
            <a:r>
              <a:rPr lang="en-US" sz="1550" b="1" dirty="0">
                <a:solidFill>
                  <a:srgbClr val="FFFFFF"/>
                </a:solidFill>
                <a:latin typeface="Cambria" pitchFamily="34" charset="0"/>
                <a:ea typeface="Cambria" pitchFamily="34" charset="-122"/>
                <a:cs typeface="Cambria" pitchFamily="34" charset="-120"/>
              </a:rPr>
              <a:t>Emulation</a:t>
            </a:r>
            <a:endParaRPr lang="en-US" sz="1550" dirty="0"/>
          </a:p>
        </p:txBody>
      </p:sp>
      <p:sp>
        <p:nvSpPr>
          <p:cNvPr id="22" name="Shape 18"/>
          <p:cNvSpPr/>
          <p:nvPr/>
        </p:nvSpPr>
        <p:spPr>
          <a:xfrm>
            <a:off x="4608576" y="3355848"/>
            <a:ext cx="82296" cy="82296"/>
          </a:xfrm>
          <a:prstGeom prst="ellipse">
            <a:avLst/>
          </a:prstGeom>
          <a:solidFill>
            <a:srgbClr val="F5B942"/>
          </a:solidFill>
          <a:ln/>
        </p:spPr>
        <p:txBody>
          <a:bodyPr/>
          <a:lstStyle/>
          <a:p>
            <a:endParaRPr lang="en-US"/>
          </a:p>
        </p:txBody>
      </p:sp>
      <p:sp>
        <p:nvSpPr>
          <p:cNvPr id="23" name="Text 19"/>
          <p:cNvSpPr txBox="1"/>
          <p:nvPr/>
        </p:nvSpPr>
        <p:spPr>
          <a:xfrm>
            <a:off x="4818888" y="3209544"/>
            <a:ext cx="2788920" cy="411480"/>
          </a:xfrm>
          <a:prstGeom prst="rect">
            <a:avLst/>
          </a:prstGeom>
          <a:noFill/>
          <a:ln/>
        </p:spPr>
        <p:txBody>
          <a:bodyPr wrap="square" lIns="0" tIns="0" rIns="0" bIns="0" rtlCol="0" anchor="ctr"/>
          <a:lstStyle/>
          <a:p>
            <a:pPr marL="0" indent="0">
              <a:buNone/>
            </a:pPr>
            <a:r>
              <a:rPr lang="en-US" sz="1200" dirty="0">
                <a:solidFill>
                  <a:srgbClr val="9FB3C8"/>
                </a:solidFill>
                <a:latin typeface="Calibri" pitchFamily="34" charset="0"/>
                <a:ea typeface="Calibri" pitchFamily="34" charset="-122"/>
                <a:cs typeface="Calibri" pitchFamily="34" charset="-120"/>
              </a:rPr>
              <a:t>"SHIELD Virtual Camera" in Unity</a:t>
            </a:r>
            <a:endParaRPr lang="en-US" sz="1200" dirty="0"/>
          </a:p>
        </p:txBody>
      </p:sp>
      <p:sp>
        <p:nvSpPr>
          <p:cNvPr id="24" name="Shape 20"/>
          <p:cNvSpPr/>
          <p:nvPr/>
        </p:nvSpPr>
        <p:spPr>
          <a:xfrm>
            <a:off x="4608576" y="3813048"/>
            <a:ext cx="82296" cy="82296"/>
          </a:xfrm>
          <a:prstGeom prst="ellipse">
            <a:avLst/>
          </a:prstGeom>
          <a:solidFill>
            <a:srgbClr val="F5B942"/>
          </a:solidFill>
          <a:ln/>
        </p:spPr>
        <p:txBody>
          <a:bodyPr/>
          <a:lstStyle/>
          <a:p>
            <a:endParaRPr lang="en-US"/>
          </a:p>
        </p:txBody>
      </p:sp>
      <p:sp>
        <p:nvSpPr>
          <p:cNvPr id="25" name="Text 21"/>
          <p:cNvSpPr txBox="1"/>
          <p:nvPr/>
        </p:nvSpPr>
        <p:spPr>
          <a:xfrm>
            <a:off x="4818888" y="3666744"/>
            <a:ext cx="2788920" cy="411480"/>
          </a:xfrm>
          <a:prstGeom prst="rect">
            <a:avLst/>
          </a:prstGeom>
          <a:noFill/>
          <a:ln/>
        </p:spPr>
        <p:txBody>
          <a:bodyPr wrap="square" lIns="0" tIns="0" rIns="0" bIns="0" rtlCol="0" anchor="ctr"/>
          <a:lstStyle/>
          <a:p>
            <a:pPr marL="0" indent="0">
              <a:buNone/>
            </a:pPr>
            <a:r>
              <a:rPr lang="en-US" sz="1200" dirty="0">
                <a:solidFill>
                  <a:srgbClr val="9FB3C8"/>
                </a:solidFill>
                <a:latin typeface="Calibri" pitchFamily="34" charset="0"/>
                <a:ea typeface="Calibri" pitchFamily="34" charset="-122"/>
                <a:cs typeface="Calibri" pitchFamily="34" charset="-120"/>
              </a:rPr>
              <a:t>Streamed to Python over TCP</a:t>
            </a:r>
            <a:endParaRPr lang="en-US" sz="1200" dirty="0"/>
          </a:p>
        </p:txBody>
      </p:sp>
      <p:sp>
        <p:nvSpPr>
          <p:cNvPr id="26" name="Shape 22"/>
          <p:cNvSpPr/>
          <p:nvPr/>
        </p:nvSpPr>
        <p:spPr>
          <a:xfrm>
            <a:off x="4608576" y="4270248"/>
            <a:ext cx="82296" cy="82296"/>
          </a:xfrm>
          <a:prstGeom prst="ellipse">
            <a:avLst/>
          </a:prstGeom>
          <a:solidFill>
            <a:srgbClr val="F5B942"/>
          </a:solidFill>
          <a:ln/>
        </p:spPr>
        <p:txBody>
          <a:bodyPr/>
          <a:lstStyle/>
          <a:p>
            <a:endParaRPr lang="en-US"/>
          </a:p>
        </p:txBody>
      </p:sp>
      <p:sp>
        <p:nvSpPr>
          <p:cNvPr id="27" name="Text 23"/>
          <p:cNvSpPr txBox="1"/>
          <p:nvPr/>
        </p:nvSpPr>
        <p:spPr>
          <a:xfrm>
            <a:off x="4818888" y="4123944"/>
            <a:ext cx="2788920" cy="411480"/>
          </a:xfrm>
          <a:prstGeom prst="rect">
            <a:avLst/>
          </a:prstGeom>
          <a:noFill/>
          <a:ln/>
        </p:spPr>
        <p:txBody>
          <a:bodyPr wrap="square" lIns="0" tIns="0" rIns="0" bIns="0" rtlCol="0" anchor="ctr"/>
          <a:lstStyle/>
          <a:p>
            <a:pPr marL="0" indent="0">
              <a:buNone/>
            </a:pPr>
            <a:r>
              <a:rPr lang="en-US" sz="1200" dirty="0">
                <a:solidFill>
                  <a:srgbClr val="9FB3C8"/>
                </a:solidFill>
                <a:latin typeface="Calibri" pitchFamily="34" charset="0"/>
                <a:ea typeface="Calibri" pitchFamily="34" charset="-122"/>
                <a:cs typeface="Calibri" pitchFamily="34" charset="-120"/>
              </a:rPr>
              <a:t>Used before hardware is ready</a:t>
            </a:r>
            <a:endParaRPr lang="en-US" sz="1200" dirty="0"/>
          </a:p>
        </p:txBody>
      </p:sp>
      <p:sp>
        <p:nvSpPr>
          <p:cNvPr id="28" name="Shape 24"/>
          <p:cNvSpPr/>
          <p:nvPr/>
        </p:nvSpPr>
        <p:spPr>
          <a:xfrm>
            <a:off x="4590288" y="4983480"/>
            <a:ext cx="3017520" cy="0"/>
          </a:xfrm>
          <a:prstGeom prst="line">
            <a:avLst/>
          </a:prstGeom>
          <a:noFill/>
          <a:ln w="12700">
            <a:solidFill>
              <a:srgbClr val="223454"/>
            </a:solidFill>
            <a:prstDash val="solid"/>
          </a:ln>
        </p:spPr>
        <p:txBody>
          <a:bodyPr/>
          <a:lstStyle/>
          <a:p>
            <a:endParaRPr lang="en-US"/>
          </a:p>
        </p:txBody>
      </p:sp>
      <p:sp>
        <p:nvSpPr>
          <p:cNvPr id="29" name="Text 25"/>
          <p:cNvSpPr txBox="1"/>
          <p:nvPr/>
        </p:nvSpPr>
        <p:spPr>
          <a:xfrm>
            <a:off x="4590288" y="5120640"/>
            <a:ext cx="3017520" cy="640080"/>
          </a:xfrm>
          <a:prstGeom prst="rect">
            <a:avLst/>
          </a:prstGeom>
          <a:noFill/>
          <a:ln/>
        </p:spPr>
        <p:txBody>
          <a:bodyPr wrap="square" lIns="0" tIns="0" rIns="0" bIns="0" rtlCol="0" anchor="ctr"/>
          <a:lstStyle/>
          <a:p>
            <a:pPr marL="0" indent="0">
              <a:lnSpc>
                <a:spcPct val="120000"/>
              </a:lnSpc>
              <a:buNone/>
            </a:pPr>
            <a:r>
              <a:rPr lang="en-US" sz="1150" i="1" dirty="0">
                <a:solidFill>
                  <a:srgbClr val="7488A3"/>
                </a:solidFill>
                <a:latin typeface="Calibri" pitchFamily="34" charset="0"/>
                <a:ea typeface="Calibri" pitchFamily="34" charset="-122"/>
                <a:cs typeface="Calibri" pitchFamily="34" charset="-120"/>
              </a:rPr>
              <a:t>Lets the pipeline be validated before flight hardware.</a:t>
            </a:r>
            <a:endParaRPr lang="en-US" sz="1150" dirty="0"/>
          </a:p>
        </p:txBody>
      </p:sp>
      <p:sp>
        <p:nvSpPr>
          <p:cNvPr id="30" name="Shape 26"/>
          <p:cNvSpPr/>
          <p:nvPr/>
        </p:nvSpPr>
        <p:spPr>
          <a:xfrm>
            <a:off x="8083296" y="1828800"/>
            <a:ext cx="3566160" cy="4023360"/>
          </a:xfrm>
          <a:prstGeom prst="roundRect">
            <a:avLst>
              <a:gd name="adj" fmla="val 2051"/>
            </a:avLst>
          </a:prstGeom>
          <a:solidFill>
            <a:srgbClr val="10203D"/>
          </a:solidFill>
          <a:ln/>
        </p:spPr>
        <p:txBody>
          <a:bodyPr/>
          <a:lstStyle/>
          <a:p>
            <a:endParaRPr lang="en-US"/>
          </a:p>
        </p:txBody>
      </p:sp>
      <p:sp>
        <p:nvSpPr>
          <p:cNvPr id="31" name="Shape 27"/>
          <p:cNvSpPr/>
          <p:nvPr/>
        </p:nvSpPr>
        <p:spPr>
          <a:xfrm>
            <a:off x="8357616" y="2103120"/>
            <a:ext cx="530352" cy="530352"/>
          </a:xfrm>
          <a:prstGeom prst="ellipse">
            <a:avLst/>
          </a:prstGeom>
          <a:solidFill>
            <a:srgbClr val="16294A"/>
          </a:solidFill>
          <a:ln w="15875">
            <a:solidFill>
              <a:srgbClr val="3DDCC7"/>
            </a:solidFill>
            <a:prstDash val="solid"/>
          </a:ln>
        </p:spPr>
        <p:txBody>
          <a:bodyPr/>
          <a:lstStyle/>
          <a:p>
            <a:endParaRPr lang="en-US"/>
          </a:p>
        </p:txBody>
      </p:sp>
      <p:pic>
        <p:nvPicPr>
          <p:cNvPr id="32" name="Image 2" descr="icons/clipboard.png"/>
          <p:cNvPicPr>
            <a:picLocks noChangeAspect="1"/>
          </p:cNvPicPr>
          <p:nvPr/>
        </p:nvPicPr>
        <p:blipFill>
          <a:blip r:embed="rId5"/>
          <a:stretch>
            <a:fillRect/>
          </a:stretch>
        </p:blipFill>
        <p:spPr>
          <a:xfrm>
            <a:off x="8421258" y="2166762"/>
            <a:ext cx="403068" cy="403068"/>
          </a:xfrm>
          <a:prstGeom prst="rect">
            <a:avLst/>
          </a:prstGeom>
        </p:spPr>
      </p:pic>
      <p:sp>
        <p:nvSpPr>
          <p:cNvPr id="33" name="Text 28"/>
          <p:cNvSpPr txBox="1"/>
          <p:nvPr/>
        </p:nvSpPr>
        <p:spPr>
          <a:xfrm>
            <a:off x="8357616" y="2761488"/>
            <a:ext cx="3017520" cy="411480"/>
          </a:xfrm>
          <a:prstGeom prst="rect">
            <a:avLst/>
          </a:prstGeom>
          <a:noFill/>
          <a:ln/>
        </p:spPr>
        <p:txBody>
          <a:bodyPr wrap="square" lIns="0" tIns="0" rIns="0" bIns="0" rtlCol="0" anchor="ctr"/>
          <a:lstStyle/>
          <a:p>
            <a:pPr marL="0" indent="0">
              <a:buNone/>
            </a:pPr>
            <a:r>
              <a:rPr lang="en-US" sz="1550" b="1" dirty="0">
                <a:solidFill>
                  <a:srgbClr val="FFFFFF"/>
                </a:solidFill>
                <a:latin typeface="Cambria" pitchFamily="34" charset="0"/>
                <a:ea typeface="Cambria" pitchFamily="34" charset="-122"/>
                <a:cs typeface="Cambria" pitchFamily="34" charset="-120"/>
              </a:rPr>
              <a:t>STE test harness</a:t>
            </a:r>
            <a:endParaRPr lang="en-US" sz="1550" dirty="0"/>
          </a:p>
        </p:txBody>
      </p:sp>
      <p:sp>
        <p:nvSpPr>
          <p:cNvPr id="34" name="Shape 29"/>
          <p:cNvSpPr/>
          <p:nvPr/>
        </p:nvSpPr>
        <p:spPr>
          <a:xfrm>
            <a:off x="8375904" y="3355848"/>
            <a:ext cx="82296" cy="82296"/>
          </a:xfrm>
          <a:prstGeom prst="ellipse">
            <a:avLst/>
          </a:prstGeom>
          <a:solidFill>
            <a:srgbClr val="F5B942"/>
          </a:solidFill>
          <a:ln/>
        </p:spPr>
        <p:txBody>
          <a:bodyPr/>
          <a:lstStyle/>
          <a:p>
            <a:endParaRPr lang="en-US"/>
          </a:p>
        </p:txBody>
      </p:sp>
      <p:sp>
        <p:nvSpPr>
          <p:cNvPr id="35" name="Text 30"/>
          <p:cNvSpPr txBox="1"/>
          <p:nvPr/>
        </p:nvSpPr>
        <p:spPr>
          <a:xfrm>
            <a:off x="8586216" y="3209544"/>
            <a:ext cx="2788920" cy="411480"/>
          </a:xfrm>
          <a:prstGeom prst="rect">
            <a:avLst/>
          </a:prstGeom>
          <a:noFill/>
          <a:ln/>
        </p:spPr>
        <p:txBody>
          <a:bodyPr wrap="square" lIns="0" tIns="0" rIns="0" bIns="0" rtlCol="0" anchor="ctr"/>
          <a:lstStyle/>
          <a:p>
            <a:pPr marL="0" indent="0">
              <a:buNone/>
            </a:pPr>
            <a:r>
              <a:rPr lang="en-US" sz="1200" dirty="0">
                <a:solidFill>
                  <a:srgbClr val="9FB3C8"/>
                </a:solidFill>
                <a:latin typeface="Calibri" pitchFamily="34" charset="0"/>
                <a:ea typeface="Calibri" pitchFamily="34" charset="-122"/>
                <a:cs typeface="Calibri" pitchFamily="34" charset="-120"/>
              </a:rPr>
              <a:t>VB.NET / C# test application</a:t>
            </a:r>
            <a:endParaRPr lang="en-US" sz="1200" dirty="0"/>
          </a:p>
        </p:txBody>
      </p:sp>
      <p:sp>
        <p:nvSpPr>
          <p:cNvPr id="36" name="Shape 31"/>
          <p:cNvSpPr/>
          <p:nvPr/>
        </p:nvSpPr>
        <p:spPr>
          <a:xfrm>
            <a:off x="8375904" y="3813048"/>
            <a:ext cx="82296" cy="82296"/>
          </a:xfrm>
          <a:prstGeom prst="ellipse">
            <a:avLst/>
          </a:prstGeom>
          <a:solidFill>
            <a:srgbClr val="F5B942"/>
          </a:solidFill>
          <a:ln/>
        </p:spPr>
        <p:txBody>
          <a:bodyPr/>
          <a:lstStyle/>
          <a:p>
            <a:endParaRPr lang="en-US"/>
          </a:p>
        </p:txBody>
      </p:sp>
      <p:sp>
        <p:nvSpPr>
          <p:cNvPr id="37" name="Text 32"/>
          <p:cNvSpPr txBox="1"/>
          <p:nvPr/>
        </p:nvSpPr>
        <p:spPr>
          <a:xfrm>
            <a:off x="8586216" y="3666744"/>
            <a:ext cx="2788920" cy="411480"/>
          </a:xfrm>
          <a:prstGeom prst="rect">
            <a:avLst/>
          </a:prstGeom>
          <a:noFill/>
          <a:ln/>
        </p:spPr>
        <p:txBody>
          <a:bodyPr wrap="square" lIns="0" tIns="0" rIns="0" bIns="0" rtlCol="0" anchor="ctr"/>
          <a:lstStyle/>
          <a:p>
            <a:pPr marL="0" indent="0">
              <a:buNone/>
            </a:pPr>
            <a:r>
              <a:rPr lang="en-US" sz="1200" dirty="0">
                <a:solidFill>
                  <a:srgbClr val="9FB3C8"/>
                </a:solidFill>
                <a:latin typeface="Calibri" pitchFamily="34" charset="0"/>
                <a:ea typeface="Calibri" pitchFamily="34" charset="-122"/>
                <a:cs typeface="Calibri" pitchFamily="34" charset="-120"/>
              </a:rPr>
              <a:t>Runs scripted FMS &amp; SYS test cases</a:t>
            </a:r>
            <a:endParaRPr lang="en-US" sz="1200" dirty="0"/>
          </a:p>
        </p:txBody>
      </p:sp>
      <p:sp>
        <p:nvSpPr>
          <p:cNvPr id="38" name="Shape 33"/>
          <p:cNvSpPr/>
          <p:nvPr/>
        </p:nvSpPr>
        <p:spPr>
          <a:xfrm>
            <a:off x="8375904" y="4270248"/>
            <a:ext cx="82296" cy="82296"/>
          </a:xfrm>
          <a:prstGeom prst="ellipse">
            <a:avLst/>
          </a:prstGeom>
          <a:solidFill>
            <a:srgbClr val="F5B942"/>
          </a:solidFill>
          <a:ln/>
        </p:spPr>
        <p:txBody>
          <a:bodyPr/>
          <a:lstStyle/>
          <a:p>
            <a:endParaRPr lang="en-US"/>
          </a:p>
        </p:txBody>
      </p:sp>
      <p:sp>
        <p:nvSpPr>
          <p:cNvPr id="39" name="Text 34"/>
          <p:cNvSpPr txBox="1"/>
          <p:nvPr/>
        </p:nvSpPr>
        <p:spPr>
          <a:xfrm>
            <a:off x="8586216" y="4123944"/>
            <a:ext cx="2788920" cy="411480"/>
          </a:xfrm>
          <a:prstGeom prst="rect">
            <a:avLst/>
          </a:prstGeom>
          <a:noFill/>
          <a:ln/>
        </p:spPr>
        <p:txBody>
          <a:bodyPr wrap="square" lIns="0" tIns="0" rIns="0" bIns="0" rtlCol="0" anchor="ctr"/>
          <a:lstStyle/>
          <a:p>
            <a:pPr marL="0" indent="0">
              <a:buNone/>
            </a:pPr>
            <a:r>
              <a:rPr lang="en-US" sz="1200" dirty="0">
                <a:solidFill>
                  <a:srgbClr val="9FB3C8"/>
                </a:solidFill>
                <a:latin typeface="Calibri" pitchFamily="34" charset="0"/>
                <a:ea typeface="Calibri" pitchFamily="34" charset="-122"/>
                <a:cs typeface="Calibri" pitchFamily="34" charset="-120"/>
              </a:rPr>
              <a:t>Verifies requirements automatically</a:t>
            </a:r>
            <a:endParaRPr lang="en-US" sz="1200" dirty="0"/>
          </a:p>
        </p:txBody>
      </p:sp>
      <p:sp>
        <p:nvSpPr>
          <p:cNvPr id="40" name="Shape 35"/>
          <p:cNvSpPr/>
          <p:nvPr/>
        </p:nvSpPr>
        <p:spPr>
          <a:xfrm>
            <a:off x="8357616" y="4983480"/>
            <a:ext cx="3017520" cy="0"/>
          </a:xfrm>
          <a:prstGeom prst="line">
            <a:avLst/>
          </a:prstGeom>
          <a:noFill/>
          <a:ln w="12700">
            <a:solidFill>
              <a:srgbClr val="223454"/>
            </a:solidFill>
            <a:prstDash val="solid"/>
          </a:ln>
        </p:spPr>
        <p:txBody>
          <a:bodyPr/>
          <a:lstStyle/>
          <a:p>
            <a:endParaRPr lang="en-US"/>
          </a:p>
        </p:txBody>
      </p:sp>
      <p:sp>
        <p:nvSpPr>
          <p:cNvPr id="41" name="Text 36"/>
          <p:cNvSpPr txBox="1"/>
          <p:nvPr/>
        </p:nvSpPr>
        <p:spPr>
          <a:xfrm>
            <a:off x="8357616" y="5120640"/>
            <a:ext cx="3017520" cy="640080"/>
          </a:xfrm>
          <a:prstGeom prst="rect">
            <a:avLst/>
          </a:prstGeom>
          <a:noFill/>
          <a:ln/>
        </p:spPr>
        <p:txBody>
          <a:bodyPr wrap="square" lIns="0" tIns="0" rIns="0" bIns="0" rtlCol="0" anchor="ctr"/>
          <a:lstStyle/>
          <a:p>
            <a:pPr marL="0" indent="0">
              <a:lnSpc>
                <a:spcPct val="120000"/>
              </a:lnSpc>
              <a:buNone/>
            </a:pPr>
            <a:r>
              <a:rPr lang="en-US" sz="1150" i="1" dirty="0">
                <a:solidFill>
                  <a:srgbClr val="7488A3"/>
                </a:solidFill>
                <a:latin typeface="Calibri" pitchFamily="34" charset="0"/>
                <a:ea typeface="Calibri" pitchFamily="34" charset="-122"/>
                <a:cs typeface="Calibri" pitchFamily="34" charset="-120"/>
              </a:rPr>
              <a:t>The bridge between requirements and evidence.</a:t>
            </a:r>
            <a:endParaRPr lang="en-US" sz="11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B1730"/>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9144000" cy="292608"/>
          </a:xfrm>
          <a:prstGeom prst="rect">
            <a:avLst/>
          </a:prstGeom>
          <a:noFill/>
          <a:ln/>
        </p:spPr>
        <p:txBody>
          <a:bodyPr wrap="square" lIns="0" tIns="0" rIns="0" bIns="0" rtlCol="0" anchor="ctr"/>
          <a:lstStyle/>
          <a:p>
            <a:pPr marL="0" indent="0">
              <a:buNone/>
            </a:pPr>
            <a:r>
              <a:rPr lang="en-US" sz="1300" b="1" kern="0" spc="200" dirty="0">
                <a:solidFill>
                  <a:srgbClr val="3DDCC7"/>
                </a:solidFill>
                <a:latin typeface="Calibri" pitchFamily="34" charset="0"/>
                <a:ea typeface="Calibri" pitchFamily="34" charset="-122"/>
                <a:cs typeface="Calibri" pitchFamily="34" charset="-120"/>
              </a:rPr>
              <a:t>REQUIREMENTS</a:t>
            </a:r>
            <a:endParaRPr lang="en-US" sz="1300" dirty="0"/>
          </a:p>
        </p:txBody>
      </p:sp>
      <p:sp>
        <p:nvSpPr>
          <p:cNvPr id="3" name="Text 1"/>
          <p:cNvSpPr txBox="1"/>
          <p:nvPr/>
        </p:nvSpPr>
        <p:spPr>
          <a:xfrm>
            <a:off x="548640" y="658368"/>
            <a:ext cx="10515600" cy="731520"/>
          </a:xfrm>
          <a:prstGeom prst="rect">
            <a:avLst/>
          </a:prstGeom>
          <a:noFill/>
          <a:ln/>
        </p:spPr>
        <p:txBody>
          <a:bodyPr wrap="square" lIns="0" tIns="0" rIns="0" bIns="0" rtlCol="0" anchor="ctr"/>
          <a:lstStyle/>
          <a:p>
            <a:pPr marL="0" indent="0">
              <a:buNone/>
            </a:pPr>
            <a:r>
              <a:rPr lang="en-US" sz="3200" b="1" dirty="0">
                <a:solidFill>
                  <a:srgbClr val="FFFFFF"/>
                </a:solidFill>
                <a:latin typeface="Cambria" pitchFamily="34" charset="0"/>
                <a:ea typeface="Cambria" pitchFamily="34" charset="-122"/>
                <a:cs typeface="Cambria" pitchFamily="34" charset="-120"/>
              </a:rPr>
              <a:t>What the software has to guarantee</a:t>
            </a:r>
            <a:endParaRPr lang="en-US" sz="3200" dirty="0"/>
          </a:p>
        </p:txBody>
      </p:sp>
      <p:sp>
        <p:nvSpPr>
          <p:cNvPr id="4" name="Text 2"/>
          <p:cNvSpPr txBox="1"/>
          <p:nvPr/>
        </p:nvSpPr>
        <p:spPr>
          <a:xfrm>
            <a:off x="11475720" y="6510528"/>
            <a:ext cx="548640" cy="274320"/>
          </a:xfrm>
          <a:prstGeom prst="rect">
            <a:avLst/>
          </a:prstGeom>
          <a:noFill/>
          <a:ln/>
        </p:spPr>
        <p:txBody>
          <a:bodyPr wrap="square" lIns="0" tIns="0" rIns="0" bIns="0" rtlCol="0" anchor="ctr"/>
          <a:lstStyle/>
          <a:p>
            <a:pPr marL="0" indent="0" algn="r">
              <a:buNone/>
            </a:pPr>
            <a:r>
              <a:rPr lang="en-US" sz="900" dirty="0">
                <a:solidFill>
                  <a:srgbClr val="7488A3"/>
                </a:solidFill>
                <a:latin typeface="Calibri" pitchFamily="34" charset="0"/>
                <a:ea typeface="Calibri" pitchFamily="34" charset="-122"/>
                <a:cs typeface="Calibri" pitchFamily="34" charset="-120"/>
              </a:rPr>
              <a:t>9 / 14</a:t>
            </a:r>
            <a:endParaRPr lang="en-US" sz="900" dirty="0"/>
          </a:p>
        </p:txBody>
      </p:sp>
      <p:sp>
        <p:nvSpPr>
          <p:cNvPr id="5" name="Text 3"/>
          <p:cNvSpPr txBox="1"/>
          <p:nvPr/>
        </p:nvSpPr>
        <p:spPr>
          <a:xfrm>
            <a:off x="457200" y="6510528"/>
            <a:ext cx="5486400" cy="274320"/>
          </a:xfrm>
          <a:prstGeom prst="rect">
            <a:avLst/>
          </a:prstGeom>
          <a:noFill/>
          <a:ln/>
        </p:spPr>
        <p:txBody>
          <a:bodyPr wrap="square" lIns="0" tIns="0" rIns="0" bIns="0" rtlCol="0" anchor="ctr"/>
          <a:lstStyle/>
          <a:p>
            <a:pPr marL="0" indent="0" algn="l">
              <a:buNone/>
            </a:pPr>
            <a:r>
              <a:rPr lang="en-US" sz="900" dirty="0">
                <a:solidFill>
                  <a:srgbClr val="7488A3"/>
                </a:solidFill>
                <a:latin typeface="Calibri" pitchFamily="34" charset="0"/>
                <a:ea typeface="Calibri" pitchFamily="34" charset="-122"/>
                <a:cs typeface="Calibri" pitchFamily="34" charset="-120"/>
              </a:rPr>
              <a:t>SHIELD — Software &amp; Autonomy Overview</a:t>
            </a:r>
            <a:endParaRPr lang="en-US" sz="900" dirty="0"/>
          </a:p>
        </p:txBody>
      </p:sp>
      <p:sp>
        <p:nvSpPr>
          <p:cNvPr id="6" name="Shape 4"/>
          <p:cNvSpPr/>
          <p:nvPr/>
        </p:nvSpPr>
        <p:spPr>
          <a:xfrm>
            <a:off x="548640" y="1691640"/>
            <a:ext cx="5349240" cy="1874520"/>
          </a:xfrm>
          <a:prstGeom prst="roundRect">
            <a:avLst>
              <a:gd name="adj" fmla="val 3902"/>
            </a:avLst>
          </a:prstGeom>
          <a:solidFill>
            <a:srgbClr val="10203D"/>
          </a:solidFill>
          <a:ln/>
        </p:spPr>
        <p:txBody>
          <a:bodyPr/>
          <a:lstStyle/>
          <a:p>
            <a:endParaRPr lang="en-US"/>
          </a:p>
        </p:txBody>
      </p:sp>
      <p:sp>
        <p:nvSpPr>
          <p:cNvPr id="7" name="Shape 5"/>
          <p:cNvSpPr/>
          <p:nvPr/>
        </p:nvSpPr>
        <p:spPr>
          <a:xfrm>
            <a:off x="822960" y="1947672"/>
            <a:ext cx="1051560" cy="384048"/>
          </a:xfrm>
          <a:prstGeom prst="roundRect">
            <a:avLst>
              <a:gd name="adj" fmla="val 14286"/>
            </a:avLst>
          </a:prstGeom>
          <a:solidFill>
            <a:srgbClr val="16294A"/>
          </a:solidFill>
          <a:ln w="12700">
            <a:solidFill>
              <a:srgbClr val="3DDCC7"/>
            </a:solidFill>
            <a:prstDash val="solid"/>
          </a:ln>
        </p:spPr>
        <p:txBody>
          <a:bodyPr/>
          <a:lstStyle/>
          <a:p>
            <a:endParaRPr lang="en-US"/>
          </a:p>
        </p:txBody>
      </p:sp>
      <p:sp>
        <p:nvSpPr>
          <p:cNvPr id="8" name="Text 6"/>
          <p:cNvSpPr txBox="1"/>
          <p:nvPr/>
        </p:nvSpPr>
        <p:spPr>
          <a:xfrm>
            <a:off x="822960" y="1947672"/>
            <a:ext cx="1051560" cy="384048"/>
          </a:xfrm>
          <a:prstGeom prst="rect">
            <a:avLst/>
          </a:prstGeom>
          <a:noFill/>
          <a:ln/>
        </p:spPr>
        <p:txBody>
          <a:bodyPr wrap="square" lIns="0" tIns="0" rIns="0" bIns="0" rtlCol="0" anchor="ctr"/>
          <a:lstStyle/>
          <a:p>
            <a:pPr marL="0" indent="0" algn="ctr">
              <a:buNone/>
            </a:pPr>
            <a:r>
              <a:rPr lang="en-US" sz="1100" b="1" dirty="0">
                <a:solidFill>
                  <a:srgbClr val="3DDCC7"/>
                </a:solidFill>
                <a:latin typeface="Calibri" pitchFamily="34" charset="0"/>
                <a:ea typeface="Calibri" pitchFamily="34" charset="-122"/>
                <a:cs typeface="Calibri" pitchFamily="34" charset="-120"/>
              </a:rPr>
              <a:t>SYS.07</a:t>
            </a:r>
            <a:endParaRPr lang="en-US" sz="1100" dirty="0"/>
          </a:p>
        </p:txBody>
      </p:sp>
      <p:sp>
        <p:nvSpPr>
          <p:cNvPr id="9" name="Text 7"/>
          <p:cNvSpPr txBox="1"/>
          <p:nvPr/>
        </p:nvSpPr>
        <p:spPr>
          <a:xfrm>
            <a:off x="822960" y="2468880"/>
            <a:ext cx="4800600" cy="411480"/>
          </a:xfrm>
          <a:prstGeom prst="rect">
            <a:avLst/>
          </a:prstGeom>
          <a:noFill/>
          <a:ln/>
        </p:spPr>
        <p:txBody>
          <a:bodyPr wrap="square" lIns="0" tIns="0" rIns="0" bIns="0" rtlCol="0" anchor="ctr"/>
          <a:lstStyle/>
          <a:p>
            <a:pPr marL="0" indent="0">
              <a:buNone/>
            </a:pPr>
            <a:r>
              <a:rPr lang="en-US" sz="1600" b="1" dirty="0">
                <a:solidFill>
                  <a:srgbClr val="FFFFFF"/>
                </a:solidFill>
                <a:latin typeface="Cambria" pitchFamily="34" charset="0"/>
                <a:ea typeface="Cambria" pitchFamily="34" charset="-122"/>
                <a:cs typeface="Cambria" pitchFamily="34" charset="-120"/>
              </a:rPr>
              <a:t>Detection confidence</a:t>
            </a:r>
            <a:endParaRPr lang="en-US" sz="1600" dirty="0"/>
          </a:p>
        </p:txBody>
      </p:sp>
      <p:sp>
        <p:nvSpPr>
          <p:cNvPr id="10" name="Text 8"/>
          <p:cNvSpPr txBox="1"/>
          <p:nvPr/>
        </p:nvSpPr>
        <p:spPr>
          <a:xfrm>
            <a:off x="822960" y="2880360"/>
            <a:ext cx="4800600" cy="594360"/>
          </a:xfrm>
          <a:prstGeom prst="rect">
            <a:avLst/>
          </a:prstGeom>
          <a:noFill/>
          <a:ln/>
        </p:spPr>
        <p:txBody>
          <a:bodyPr wrap="square" lIns="0" tIns="0" rIns="0" bIns="0" rtlCol="0" anchor="ctr"/>
          <a:lstStyle/>
          <a:p>
            <a:pPr marL="0" indent="0">
              <a:lnSpc>
                <a:spcPct val="120000"/>
              </a:lnSpc>
              <a:buNone/>
            </a:pPr>
            <a:r>
              <a:rPr lang="en-US" sz="1250" dirty="0">
                <a:solidFill>
                  <a:srgbClr val="9FB3C8"/>
                </a:solidFill>
                <a:latin typeface="Calibri" pitchFamily="34" charset="0"/>
                <a:ea typeface="Calibri" pitchFamily="34" charset="-122"/>
                <a:cs typeface="Calibri" pitchFamily="34" charset="-120"/>
              </a:rPr>
              <a:t>Detect targets with ≥90% confidence before engagement is authorized.</a:t>
            </a:r>
            <a:endParaRPr lang="en-US" sz="1250" dirty="0"/>
          </a:p>
        </p:txBody>
      </p:sp>
      <p:sp>
        <p:nvSpPr>
          <p:cNvPr id="11" name="Shape 9"/>
          <p:cNvSpPr/>
          <p:nvPr/>
        </p:nvSpPr>
        <p:spPr>
          <a:xfrm>
            <a:off x="6172200" y="1691640"/>
            <a:ext cx="5349240" cy="1874520"/>
          </a:xfrm>
          <a:prstGeom prst="roundRect">
            <a:avLst>
              <a:gd name="adj" fmla="val 3902"/>
            </a:avLst>
          </a:prstGeom>
          <a:solidFill>
            <a:srgbClr val="10203D"/>
          </a:solidFill>
          <a:ln/>
        </p:spPr>
        <p:txBody>
          <a:bodyPr/>
          <a:lstStyle/>
          <a:p>
            <a:endParaRPr lang="en-US"/>
          </a:p>
        </p:txBody>
      </p:sp>
      <p:sp>
        <p:nvSpPr>
          <p:cNvPr id="12" name="Shape 10"/>
          <p:cNvSpPr/>
          <p:nvPr/>
        </p:nvSpPr>
        <p:spPr>
          <a:xfrm>
            <a:off x="6446520" y="1947672"/>
            <a:ext cx="1051560" cy="384048"/>
          </a:xfrm>
          <a:prstGeom prst="roundRect">
            <a:avLst>
              <a:gd name="adj" fmla="val 14286"/>
            </a:avLst>
          </a:prstGeom>
          <a:solidFill>
            <a:srgbClr val="16294A"/>
          </a:solidFill>
          <a:ln w="12700">
            <a:solidFill>
              <a:srgbClr val="3DDCC7"/>
            </a:solidFill>
            <a:prstDash val="solid"/>
          </a:ln>
        </p:spPr>
        <p:txBody>
          <a:bodyPr/>
          <a:lstStyle/>
          <a:p>
            <a:endParaRPr lang="en-US"/>
          </a:p>
        </p:txBody>
      </p:sp>
      <p:sp>
        <p:nvSpPr>
          <p:cNvPr id="13" name="Text 11"/>
          <p:cNvSpPr txBox="1"/>
          <p:nvPr/>
        </p:nvSpPr>
        <p:spPr>
          <a:xfrm>
            <a:off x="6446520" y="1947672"/>
            <a:ext cx="1051560" cy="384048"/>
          </a:xfrm>
          <a:prstGeom prst="rect">
            <a:avLst/>
          </a:prstGeom>
          <a:noFill/>
          <a:ln/>
        </p:spPr>
        <p:txBody>
          <a:bodyPr wrap="square" lIns="0" tIns="0" rIns="0" bIns="0" rtlCol="0" anchor="ctr"/>
          <a:lstStyle/>
          <a:p>
            <a:pPr marL="0" indent="0" algn="ctr">
              <a:buNone/>
            </a:pPr>
            <a:r>
              <a:rPr lang="en-US" sz="1100" b="1" dirty="0">
                <a:solidFill>
                  <a:srgbClr val="3DDCC7"/>
                </a:solidFill>
                <a:latin typeface="Calibri" pitchFamily="34" charset="0"/>
                <a:ea typeface="Calibri" pitchFamily="34" charset="-122"/>
                <a:cs typeface="Calibri" pitchFamily="34" charset="-120"/>
              </a:rPr>
              <a:t>REQ</a:t>
            </a:r>
            <a:endParaRPr lang="en-US" sz="1100" dirty="0"/>
          </a:p>
        </p:txBody>
      </p:sp>
      <p:sp>
        <p:nvSpPr>
          <p:cNvPr id="14" name="Text 12"/>
          <p:cNvSpPr txBox="1"/>
          <p:nvPr/>
        </p:nvSpPr>
        <p:spPr>
          <a:xfrm>
            <a:off x="6446520" y="2468880"/>
            <a:ext cx="4800600" cy="411480"/>
          </a:xfrm>
          <a:prstGeom prst="rect">
            <a:avLst/>
          </a:prstGeom>
          <a:noFill/>
          <a:ln/>
        </p:spPr>
        <p:txBody>
          <a:bodyPr wrap="square" lIns="0" tIns="0" rIns="0" bIns="0" rtlCol="0" anchor="ctr"/>
          <a:lstStyle/>
          <a:p>
            <a:pPr marL="0" indent="0">
              <a:buNone/>
            </a:pPr>
            <a:r>
              <a:rPr lang="en-US" sz="1600" b="1" dirty="0">
                <a:solidFill>
                  <a:srgbClr val="FFFFFF"/>
                </a:solidFill>
                <a:latin typeface="Cambria" pitchFamily="34" charset="0"/>
                <a:ea typeface="Cambria" pitchFamily="34" charset="-122"/>
                <a:cs typeface="Cambria" pitchFamily="34" charset="-120"/>
              </a:rPr>
              <a:t>Continuous tracking</a:t>
            </a:r>
            <a:endParaRPr lang="en-US" sz="1600" dirty="0"/>
          </a:p>
        </p:txBody>
      </p:sp>
      <p:sp>
        <p:nvSpPr>
          <p:cNvPr id="15" name="Text 13"/>
          <p:cNvSpPr txBox="1"/>
          <p:nvPr/>
        </p:nvSpPr>
        <p:spPr>
          <a:xfrm>
            <a:off x="6446520" y="2880360"/>
            <a:ext cx="4800600" cy="594360"/>
          </a:xfrm>
          <a:prstGeom prst="rect">
            <a:avLst/>
          </a:prstGeom>
          <a:noFill/>
          <a:ln/>
        </p:spPr>
        <p:txBody>
          <a:bodyPr wrap="square" lIns="0" tIns="0" rIns="0" bIns="0" rtlCol="0" anchor="ctr"/>
          <a:lstStyle/>
          <a:p>
            <a:pPr marL="0" indent="0">
              <a:lnSpc>
                <a:spcPct val="120000"/>
              </a:lnSpc>
              <a:buNone/>
            </a:pPr>
            <a:r>
              <a:rPr lang="en-US" sz="1250" dirty="0">
                <a:solidFill>
                  <a:srgbClr val="9FB3C8"/>
                </a:solidFill>
                <a:latin typeface="Calibri" pitchFamily="34" charset="0"/>
                <a:ea typeface="Calibri" pitchFamily="34" charset="-122"/>
                <a:cs typeface="Calibri" pitchFamily="34" charset="-120"/>
              </a:rPr>
              <a:t>Maintain a lock on the target through brief visual obstruction.</a:t>
            </a:r>
            <a:endParaRPr lang="en-US" sz="1250" dirty="0"/>
          </a:p>
        </p:txBody>
      </p:sp>
      <p:sp>
        <p:nvSpPr>
          <p:cNvPr id="16" name="Shape 14"/>
          <p:cNvSpPr/>
          <p:nvPr/>
        </p:nvSpPr>
        <p:spPr>
          <a:xfrm>
            <a:off x="548640" y="3840480"/>
            <a:ext cx="5349240" cy="1874520"/>
          </a:xfrm>
          <a:prstGeom prst="roundRect">
            <a:avLst>
              <a:gd name="adj" fmla="val 3902"/>
            </a:avLst>
          </a:prstGeom>
          <a:solidFill>
            <a:srgbClr val="10203D"/>
          </a:solidFill>
          <a:ln/>
        </p:spPr>
        <p:txBody>
          <a:bodyPr/>
          <a:lstStyle/>
          <a:p>
            <a:endParaRPr lang="en-US"/>
          </a:p>
        </p:txBody>
      </p:sp>
      <p:sp>
        <p:nvSpPr>
          <p:cNvPr id="17" name="Shape 15"/>
          <p:cNvSpPr/>
          <p:nvPr/>
        </p:nvSpPr>
        <p:spPr>
          <a:xfrm>
            <a:off x="822960" y="4096512"/>
            <a:ext cx="1051560" cy="384048"/>
          </a:xfrm>
          <a:prstGeom prst="roundRect">
            <a:avLst>
              <a:gd name="adj" fmla="val 14286"/>
            </a:avLst>
          </a:prstGeom>
          <a:solidFill>
            <a:srgbClr val="16294A"/>
          </a:solidFill>
          <a:ln w="12700">
            <a:solidFill>
              <a:srgbClr val="3DDCC7"/>
            </a:solidFill>
            <a:prstDash val="solid"/>
          </a:ln>
        </p:spPr>
        <p:txBody>
          <a:bodyPr/>
          <a:lstStyle/>
          <a:p>
            <a:endParaRPr lang="en-US"/>
          </a:p>
        </p:txBody>
      </p:sp>
      <p:sp>
        <p:nvSpPr>
          <p:cNvPr id="18" name="Text 16"/>
          <p:cNvSpPr txBox="1"/>
          <p:nvPr/>
        </p:nvSpPr>
        <p:spPr>
          <a:xfrm>
            <a:off x="822960" y="4096512"/>
            <a:ext cx="1051560" cy="384048"/>
          </a:xfrm>
          <a:prstGeom prst="rect">
            <a:avLst/>
          </a:prstGeom>
          <a:noFill/>
          <a:ln/>
        </p:spPr>
        <p:txBody>
          <a:bodyPr wrap="square" lIns="0" tIns="0" rIns="0" bIns="0" rtlCol="0" anchor="ctr"/>
          <a:lstStyle/>
          <a:p>
            <a:pPr marL="0" indent="0" algn="ctr">
              <a:buNone/>
            </a:pPr>
            <a:r>
              <a:rPr lang="en-US" sz="1100" b="1" dirty="0">
                <a:solidFill>
                  <a:srgbClr val="3DDCC7"/>
                </a:solidFill>
                <a:latin typeface="Calibri" pitchFamily="34" charset="0"/>
                <a:ea typeface="Calibri" pitchFamily="34" charset="-122"/>
                <a:cs typeface="Calibri" pitchFamily="34" charset="-120"/>
              </a:rPr>
              <a:t>REQ</a:t>
            </a:r>
            <a:endParaRPr lang="en-US" sz="1100" dirty="0"/>
          </a:p>
        </p:txBody>
      </p:sp>
      <p:sp>
        <p:nvSpPr>
          <p:cNvPr id="19" name="Text 17"/>
          <p:cNvSpPr txBox="1"/>
          <p:nvPr/>
        </p:nvSpPr>
        <p:spPr>
          <a:xfrm>
            <a:off x="822960" y="4617720"/>
            <a:ext cx="4800600" cy="411480"/>
          </a:xfrm>
          <a:prstGeom prst="rect">
            <a:avLst/>
          </a:prstGeom>
          <a:noFill/>
          <a:ln/>
        </p:spPr>
        <p:txBody>
          <a:bodyPr wrap="square" lIns="0" tIns="0" rIns="0" bIns="0" rtlCol="0" anchor="ctr"/>
          <a:lstStyle/>
          <a:p>
            <a:pPr marL="0" indent="0">
              <a:buNone/>
            </a:pPr>
            <a:r>
              <a:rPr lang="en-US" sz="1600" b="1" dirty="0">
                <a:solidFill>
                  <a:srgbClr val="FFFFFF"/>
                </a:solidFill>
                <a:latin typeface="Cambria" pitchFamily="34" charset="0"/>
                <a:ea typeface="Cambria" pitchFamily="34" charset="-122"/>
                <a:cs typeface="Cambria" pitchFamily="34" charset="-120"/>
              </a:rPr>
              <a:t>Semi-autonomous engagement</a:t>
            </a:r>
            <a:endParaRPr lang="en-US" sz="1600" dirty="0"/>
          </a:p>
        </p:txBody>
      </p:sp>
      <p:sp>
        <p:nvSpPr>
          <p:cNvPr id="20" name="Text 18"/>
          <p:cNvSpPr txBox="1"/>
          <p:nvPr/>
        </p:nvSpPr>
        <p:spPr>
          <a:xfrm>
            <a:off x="822960" y="5029200"/>
            <a:ext cx="4800600" cy="594360"/>
          </a:xfrm>
          <a:prstGeom prst="rect">
            <a:avLst/>
          </a:prstGeom>
          <a:noFill/>
          <a:ln/>
        </p:spPr>
        <p:txBody>
          <a:bodyPr wrap="square" lIns="0" tIns="0" rIns="0" bIns="0" rtlCol="0" anchor="ctr"/>
          <a:lstStyle/>
          <a:p>
            <a:pPr marL="0" indent="0">
              <a:lnSpc>
                <a:spcPct val="120000"/>
              </a:lnSpc>
              <a:buNone/>
            </a:pPr>
            <a:r>
              <a:rPr lang="en-US" sz="1250" dirty="0">
                <a:solidFill>
                  <a:srgbClr val="9FB3C8"/>
                </a:solidFill>
                <a:latin typeface="Calibri" pitchFamily="34" charset="0"/>
                <a:ea typeface="Calibri" pitchFamily="34" charset="-122"/>
                <a:cs typeface="Calibri" pitchFamily="34" charset="-120"/>
              </a:rPr>
              <a:t>Prompt an operator to approve engagement, then track &amp; intercept without further ground control.</a:t>
            </a:r>
            <a:endParaRPr lang="en-US" sz="1250" dirty="0"/>
          </a:p>
        </p:txBody>
      </p:sp>
      <p:sp>
        <p:nvSpPr>
          <p:cNvPr id="21" name="Shape 19"/>
          <p:cNvSpPr/>
          <p:nvPr/>
        </p:nvSpPr>
        <p:spPr>
          <a:xfrm>
            <a:off x="6172200" y="3840480"/>
            <a:ext cx="5349240" cy="1874520"/>
          </a:xfrm>
          <a:prstGeom prst="roundRect">
            <a:avLst>
              <a:gd name="adj" fmla="val 3902"/>
            </a:avLst>
          </a:prstGeom>
          <a:solidFill>
            <a:srgbClr val="10203D"/>
          </a:solidFill>
          <a:ln/>
        </p:spPr>
        <p:txBody>
          <a:bodyPr/>
          <a:lstStyle/>
          <a:p>
            <a:endParaRPr lang="en-US"/>
          </a:p>
        </p:txBody>
      </p:sp>
      <p:sp>
        <p:nvSpPr>
          <p:cNvPr id="22" name="Shape 20"/>
          <p:cNvSpPr/>
          <p:nvPr/>
        </p:nvSpPr>
        <p:spPr>
          <a:xfrm>
            <a:off x="6446520" y="4096512"/>
            <a:ext cx="1051560" cy="384048"/>
          </a:xfrm>
          <a:prstGeom prst="roundRect">
            <a:avLst>
              <a:gd name="adj" fmla="val 14286"/>
            </a:avLst>
          </a:prstGeom>
          <a:solidFill>
            <a:srgbClr val="16294A"/>
          </a:solidFill>
          <a:ln w="12700">
            <a:solidFill>
              <a:srgbClr val="3DDCC7"/>
            </a:solidFill>
            <a:prstDash val="solid"/>
          </a:ln>
        </p:spPr>
        <p:txBody>
          <a:bodyPr/>
          <a:lstStyle/>
          <a:p>
            <a:endParaRPr lang="en-US"/>
          </a:p>
        </p:txBody>
      </p:sp>
      <p:sp>
        <p:nvSpPr>
          <p:cNvPr id="23" name="Text 21"/>
          <p:cNvSpPr txBox="1"/>
          <p:nvPr/>
        </p:nvSpPr>
        <p:spPr>
          <a:xfrm>
            <a:off x="6446520" y="4096512"/>
            <a:ext cx="1051560" cy="384048"/>
          </a:xfrm>
          <a:prstGeom prst="rect">
            <a:avLst/>
          </a:prstGeom>
          <a:noFill/>
          <a:ln/>
        </p:spPr>
        <p:txBody>
          <a:bodyPr wrap="square" lIns="0" tIns="0" rIns="0" bIns="0" rtlCol="0" anchor="ctr"/>
          <a:lstStyle/>
          <a:p>
            <a:pPr marL="0" indent="0" algn="ctr">
              <a:buNone/>
            </a:pPr>
            <a:r>
              <a:rPr lang="en-US" sz="1100" b="1" dirty="0">
                <a:solidFill>
                  <a:srgbClr val="3DDCC7"/>
                </a:solidFill>
                <a:latin typeface="Calibri" pitchFamily="34" charset="0"/>
                <a:ea typeface="Calibri" pitchFamily="34" charset="-122"/>
                <a:cs typeface="Calibri" pitchFamily="34" charset="-120"/>
              </a:rPr>
              <a:t>REQ</a:t>
            </a:r>
            <a:endParaRPr lang="en-US" sz="1100" dirty="0"/>
          </a:p>
        </p:txBody>
      </p:sp>
      <p:sp>
        <p:nvSpPr>
          <p:cNvPr id="24" name="Text 22"/>
          <p:cNvSpPr txBox="1"/>
          <p:nvPr/>
        </p:nvSpPr>
        <p:spPr>
          <a:xfrm>
            <a:off x="6446520" y="4617720"/>
            <a:ext cx="4800600" cy="411480"/>
          </a:xfrm>
          <a:prstGeom prst="rect">
            <a:avLst/>
          </a:prstGeom>
          <a:noFill/>
          <a:ln/>
        </p:spPr>
        <p:txBody>
          <a:bodyPr wrap="square" lIns="0" tIns="0" rIns="0" bIns="0" rtlCol="0" anchor="ctr"/>
          <a:lstStyle/>
          <a:p>
            <a:pPr marL="0" indent="0">
              <a:buNone/>
            </a:pPr>
            <a:r>
              <a:rPr lang="en-US" sz="1600" b="1" dirty="0">
                <a:solidFill>
                  <a:srgbClr val="FFFFFF"/>
                </a:solidFill>
                <a:latin typeface="Cambria" pitchFamily="34" charset="0"/>
                <a:ea typeface="Cambria" pitchFamily="34" charset="-122"/>
                <a:cs typeface="Cambria" pitchFamily="34" charset="-120"/>
              </a:rPr>
              <a:t>Manual override</a:t>
            </a:r>
            <a:endParaRPr lang="en-US" sz="1600" dirty="0"/>
          </a:p>
        </p:txBody>
      </p:sp>
      <p:sp>
        <p:nvSpPr>
          <p:cNvPr id="25" name="Text 23"/>
          <p:cNvSpPr txBox="1"/>
          <p:nvPr/>
        </p:nvSpPr>
        <p:spPr>
          <a:xfrm>
            <a:off x="6446520" y="5029200"/>
            <a:ext cx="4800600" cy="594360"/>
          </a:xfrm>
          <a:prstGeom prst="rect">
            <a:avLst/>
          </a:prstGeom>
          <a:noFill/>
          <a:ln/>
        </p:spPr>
        <p:txBody>
          <a:bodyPr wrap="square" lIns="0" tIns="0" rIns="0" bIns="0" rtlCol="0" anchor="ctr"/>
          <a:lstStyle/>
          <a:p>
            <a:pPr marL="0" indent="0">
              <a:lnSpc>
                <a:spcPct val="120000"/>
              </a:lnSpc>
              <a:buNone/>
            </a:pPr>
            <a:r>
              <a:rPr lang="en-US" sz="1250" dirty="0">
                <a:solidFill>
                  <a:srgbClr val="9FB3C8"/>
                </a:solidFill>
                <a:latin typeface="Calibri" pitchFamily="34" charset="0"/>
                <a:ea typeface="Calibri" pitchFamily="34" charset="-122"/>
                <a:cs typeface="Calibri" pitchFamily="34" charset="-120"/>
              </a:rPr>
              <a:t>Allow an operator to take control whenever it’s needed.</a:t>
            </a:r>
            <a:endParaRPr lang="en-US" sz="12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B1730"/>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9144000" cy="292608"/>
          </a:xfrm>
          <a:prstGeom prst="rect">
            <a:avLst/>
          </a:prstGeom>
          <a:noFill/>
          <a:ln/>
        </p:spPr>
        <p:txBody>
          <a:bodyPr wrap="square" lIns="0" tIns="0" rIns="0" bIns="0" rtlCol="0" anchor="ctr"/>
          <a:lstStyle/>
          <a:p>
            <a:pPr marL="0" indent="0">
              <a:buNone/>
            </a:pPr>
            <a:r>
              <a:rPr lang="en-US" sz="1300" b="1" kern="0" spc="200" dirty="0">
                <a:solidFill>
                  <a:srgbClr val="3DDCC7"/>
                </a:solidFill>
                <a:latin typeface="Calibri" pitchFamily="34" charset="0"/>
                <a:ea typeface="Calibri" pitchFamily="34" charset="-122"/>
                <a:cs typeface="Calibri" pitchFamily="34" charset="-120"/>
              </a:rPr>
              <a:t>RISK</a:t>
            </a:r>
            <a:endParaRPr lang="en-US" sz="1300" dirty="0"/>
          </a:p>
        </p:txBody>
      </p:sp>
      <p:sp>
        <p:nvSpPr>
          <p:cNvPr id="3" name="Text 1"/>
          <p:cNvSpPr txBox="1"/>
          <p:nvPr/>
        </p:nvSpPr>
        <p:spPr>
          <a:xfrm>
            <a:off x="548640" y="658368"/>
            <a:ext cx="10515600" cy="731520"/>
          </a:xfrm>
          <a:prstGeom prst="rect">
            <a:avLst/>
          </a:prstGeom>
          <a:noFill/>
          <a:ln/>
        </p:spPr>
        <p:txBody>
          <a:bodyPr wrap="square" lIns="0" tIns="0" rIns="0" bIns="0" rtlCol="0" anchor="ctr"/>
          <a:lstStyle/>
          <a:p>
            <a:pPr marL="0" indent="0">
              <a:buNone/>
            </a:pPr>
            <a:r>
              <a:rPr lang="en-US" sz="3200" b="1" dirty="0">
                <a:solidFill>
                  <a:srgbClr val="FFFFFF"/>
                </a:solidFill>
                <a:latin typeface="Cambria" pitchFamily="34" charset="0"/>
                <a:ea typeface="Cambria" pitchFamily="34" charset="-122"/>
                <a:cs typeface="Cambria" pitchFamily="34" charset="-120"/>
              </a:rPr>
              <a:t>Technical challenges I’m tracking</a:t>
            </a:r>
            <a:endParaRPr lang="en-US" sz="3200" dirty="0"/>
          </a:p>
        </p:txBody>
      </p:sp>
      <p:sp>
        <p:nvSpPr>
          <p:cNvPr id="4" name="Text 2"/>
          <p:cNvSpPr txBox="1"/>
          <p:nvPr/>
        </p:nvSpPr>
        <p:spPr>
          <a:xfrm>
            <a:off x="11475720" y="6510528"/>
            <a:ext cx="548640" cy="274320"/>
          </a:xfrm>
          <a:prstGeom prst="rect">
            <a:avLst/>
          </a:prstGeom>
          <a:noFill/>
          <a:ln/>
        </p:spPr>
        <p:txBody>
          <a:bodyPr wrap="square" lIns="0" tIns="0" rIns="0" bIns="0" rtlCol="0" anchor="ctr"/>
          <a:lstStyle/>
          <a:p>
            <a:pPr marL="0" indent="0" algn="r">
              <a:buNone/>
            </a:pPr>
            <a:r>
              <a:rPr lang="en-US" sz="900" dirty="0">
                <a:solidFill>
                  <a:srgbClr val="7488A3"/>
                </a:solidFill>
                <a:latin typeface="Calibri" pitchFamily="34" charset="0"/>
                <a:ea typeface="Calibri" pitchFamily="34" charset="-122"/>
                <a:cs typeface="Calibri" pitchFamily="34" charset="-120"/>
              </a:rPr>
              <a:t>10 / 14</a:t>
            </a:r>
            <a:endParaRPr lang="en-US" sz="900" dirty="0"/>
          </a:p>
        </p:txBody>
      </p:sp>
      <p:sp>
        <p:nvSpPr>
          <p:cNvPr id="5" name="Text 3"/>
          <p:cNvSpPr txBox="1"/>
          <p:nvPr/>
        </p:nvSpPr>
        <p:spPr>
          <a:xfrm>
            <a:off x="457200" y="6510528"/>
            <a:ext cx="5486400" cy="274320"/>
          </a:xfrm>
          <a:prstGeom prst="rect">
            <a:avLst/>
          </a:prstGeom>
          <a:noFill/>
          <a:ln/>
        </p:spPr>
        <p:txBody>
          <a:bodyPr wrap="square" lIns="0" tIns="0" rIns="0" bIns="0" rtlCol="0" anchor="ctr"/>
          <a:lstStyle/>
          <a:p>
            <a:pPr marL="0" indent="0" algn="l">
              <a:buNone/>
            </a:pPr>
            <a:r>
              <a:rPr lang="en-US" sz="900" dirty="0">
                <a:solidFill>
                  <a:srgbClr val="7488A3"/>
                </a:solidFill>
                <a:latin typeface="Calibri" pitchFamily="34" charset="0"/>
                <a:ea typeface="Calibri" pitchFamily="34" charset="-122"/>
                <a:cs typeface="Calibri" pitchFamily="34" charset="-120"/>
              </a:rPr>
              <a:t>SHIELD — Software &amp; Autonomy Overview</a:t>
            </a:r>
            <a:endParaRPr lang="en-US" sz="900" dirty="0"/>
          </a:p>
        </p:txBody>
      </p:sp>
      <p:sp>
        <p:nvSpPr>
          <p:cNvPr id="6" name="Shape 4"/>
          <p:cNvSpPr/>
          <p:nvPr/>
        </p:nvSpPr>
        <p:spPr>
          <a:xfrm>
            <a:off x="548640" y="1691640"/>
            <a:ext cx="5468112" cy="2121408"/>
          </a:xfrm>
          <a:prstGeom prst="roundRect">
            <a:avLst>
              <a:gd name="adj" fmla="val 3448"/>
            </a:avLst>
          </a:prstGeom>
          <a:solidFill>
            <a:srgbClr val="10203D"/>
          </a:solidFill>
          <a:ln/>
        </p:spPr>
        <p:txBody>
          <a:bodyPr/>
          <a:lstStyle/>
          <a:p>
            <a:endParaRPr lang="en-US"/>
          </a:p>
        </p:txBody>
      </p:sp>
      <p:sp>
        <p:nvSpPr>
          <p:cNvPr id="7" name="Shape 5"/>
          <p:cNvSpPr/>
          <p:nvPr/>
        </p:nvSpPr>
        <p:spPr>
          <a:xfrm>
            <a:off x="822960" y="1947672"/>
            <a:ext cx="512064" cy="512064"/>
          </a:xfrm>
          <a:prstGeom prst="ellipse">
            <a:avLst/>
          </a:prstGeom>
          <a:solidFill>
            <a:srgbClr val="16294A"/>
          </a:solidFill>
          <a:ln w="15875">
            <a:solidFill>
              <a:srgbClr val="F5B942"/>
            </a:solidFill>
            <a:prstDash val="solid"/>
          </a:ln>
        </p:spPr>
        <p:txBody>
          <a:bodyPr/>
          <a:lstStyle/>
          <a:p>
            <a:endParaRPr lang="en-US"/>
          </a:p>
        </p:txBody>
      </p:sp>
      <p:pic>
        <p:nvPicPr>
          <p:cNvPr id="8" name="Image 0" descr="icons/microchip.png"/>
          <p:cNvPicPr>
            <a:picLocks noChangeAspect="1"/>
          </p:cNvPicPr>
          <p:nvPr/>
        </p:nvPicPr>
        <p:blipFill>
          <a:blip r:embed="rId3"/>
          <a:stretch>
            <a:fillRect/>
          </a:stretch>
        </p:blipFill>
        <p:spPr>
          <a:xfrm>
            <a:off x="884408" y="2009120"/>
            <a:ext cx="389169" cy="389169"/>
          </a:xfrm>
          <a:prstGeom prst="rect">
            <a:avLst/>
          </a:prstGeom>
        </p:spPr>
      </p:pic>
      <p:sp>
        <p:nvSpPr>
          <p:cNvPr id="9" name="Text 6"/>
          <p:cNvSpPr txBox="1"/>
          <p:nvPr/>
        </p:nvSpPr>
        <p:spPr>
          <a:xfrm>
            <a:off x="1508760" y="1984248"/>
            <a:ext cx="4233672" cy="457200"/>
          </a:xfrm>
          <a:prstGeom prst="rect">
            <a:avLst/>
          </a:prstGeom>
          <a:noFill/>
          <a:ln/>
        </p:spPr>
        <p:txBody>
          <a:bodyPr wrap="square" lIns="0" tIns="0" rIns="0" bIns="0" rtlCol="0" anchor="ctr"/>
          <a:lstStyle/>
          <a:p>
            <a:pPr marL="0" indent="0">
              <a:buNone/>
            </a:pPr>
            <a:r>
              <a:rPr lang="en-US" sz="1500" b="1" dirty="0">
                <a:solidFill>
                  <a:srgbClr val="FFFFFF"/>
                </a:solidFill>
                <a:latin typeface="Cambria" pitchFamily="34" charset="0"/>
                <a:ea typeface="Cambria" pitchFamily="34" charset="-122"/>
                <a:cs typeface="Cambria" pitchFamily="34" charset="-120"/>
              </a:rPr>
              <a:t>Hardware optimization</a:t>
            </a:r>
            <a:endParaRPr lang="en-US" sz="1500" dirty="0"/>
          </a:p>
        </p:txBody>
      </p:sp>
      <p:sp>
        <p:nvSpPr>
          <p:cNvPr id="10" name="Text 7"/>
          <p:cNvSpPr txBox="1"/>
          <p:nvPr/>
        </p:nvSpPr>
        <p:spPr>
          <a:xfrm>
            <a:off x="822960" y="2624328"/>
            <a:ext cx="4919472" cy="1097280"/>
          </a:xfrm>
          <a:prstGeom prst="rect">
            <a:avLst/>
          </a:prstGeom>
          <a:noFill/>
          <a:ln/>
        </p:spPr>
        <p:txBody>
          <a:bodyPr wrap="square" lIns="0" tIns="0" rIns="0" bIns="0" rtlCol="0" anchor="ctr"/>
          <a:lstStyle/>
          <a:p>
            <a:pPr marL="0" indent="0">
              <a:lnSpc>
                <a:spcPct val="122000"/>
              </a:lnSpc>
              <a:buNone/>
            </a:pPr>
            <a:r>
              <a:rPr lang="en-US" sz="1150" dirty="0">
                <a:solidFill>
                  <a:srgbClr val="9FB3C8"/>
                </a:solidFill>
                <a:latin typeface="Calibri" pitchFamily="34" charset="0"/>
                <a:ea typeface="Calibri" pitchFamily="34" charset="-122"/>
                <a:cs typeface="Calibri" pitchFamily="34" charset="-120"/>
              </a:rPr>
              <a:t>The pipeline is validated CPU-only on a Windows PC. Moving it to the power- and thermally-constrained Pi 5 + Hailo setup while keeping real-time frame rates is still an open problem.</a:t>
            </a:r>
            <a:endParaRPr lang="en-US" sz="1150" dirty="0"/>
          </a:p>
        </p:txBody>
      </p:sp>
      <p:sp>
        <p:nvSpPr>
          <p:cNvPr id="11" name="Shape 8"/>
          <p:cNvSpPr/>
          <p:nvPr/>
        </p:nvSpPr>
        <p:spPr>
          <a:xfrm>
            <a:off x="6254496" y="1691640"/>
            <a:ext cx="5468112" cy="2121408"/>
          </a:xfrm>
          <a:prstGeom prst="roundRect">
            <a:avLst>
              <a:gd name="adj" fmla="val 3448"/>
            </a:avLst>
          </a:prstGeom>
          <a:solidFill>
            <a:srgbClr val="10203D"/>
          </a:solidFill>
          <a:ln/>
        </p:spPr>
        <p:txBody>
          <a:bodyPr/>
          <a:lstStyle/>
          <a:p>
            <a:endParaRPr lang="en-US"/>
          </a:p>
        </p:txBody>
      </p:sp>
      <p:sp>
        <p:nvSpPr>
          <p:cNvPr id="12" name="Shape 9"/>
          <p:cNvSpPr/>
          <p:nvPr/>
        </p:nvSpPr>
        <p:spPr>
          <a:xfrm>
            <a:off x="6528816" y="1947672"/>
            <a:ext cx="512064" cy="512064"/>
          </a:xfrm>
          <a:prstGeom prst="ellipse">
            <a:avLst/>
          </a:prstGeom>
          <a:solidFill>
            <a:srgbClr val="16294A"/>
          </a:solidFill>
          <a:ln w="15875">
            <a:solidFill>
              <a:srgbClr val="F5B942"/>
            </a:solidFill>
            <a:prstDash val="solid"/>
          </a:ln>
        </p:spPr>
        <p:txBody>
          <a:bodyPr/>
          <a:lstStyle/>
          <a:p>
            <a:endParaRPr lang="en-US"/>
          </a:p>
        </p:txBody>
      </p:sp>
      <p:pic>
        <p:nvPicPr>
          <p:cNvPr id="13" name="Image 1" descr="icons/shield.png"/>
          <p:cNvPicPr>
            <a:picLocks noChangeAspect="1"/>
          </p:cNvPicPr>
          <p:nvPr/>
        </p:nvPicPr>
        <p:blipFill>
          <a:blip r:embed="rId4"/>
          <a:stretch>
            <a:fillRect/>
          </a:stretch>
        </p:blipFill>
        <p:spPr>
          <a:xfrm>
            <a:off x="6590264" y="2009120"/>
            <a:ext cx="389169" cy="389169"/>
          </a:xfrm>
          <a:prstGeom prst="rect">
            <a:avLst/>
          </a:prstGeom>
        </p:spPr>
      </p:pic>
      <p:sp>
        <p:nvSpPr>
          <p:cNvPr id="14" name="Text 10"/>
          <p:cNvSpPr txBox="1"/>
          <p:nvPr/>
        </p:nvSpPr>
        <p:spPr>
          <a:xfrm>
            <a:off x="7214616" y="1984248"/>
            <a:ext cx="4233672" cy="457200"/>
          </a:xfrm>
          <a:prstGeom prst="rect">
            <a:avLst/>
          </a:prstGeom>
          <a:noFill/>
          <a:ln/>
        </p:spPr>
        <p:txBody>
          <a:bodyPr wrap="square" lIns="0" tIns="0" rIns="0" bIns="0" rtlCol="0" anchor="ctr"/>
          <a:lstStyle/>
          <a:p>
            <a:pPr marL="0" indent="0">
              <a:buNone/>
            </a:pPr>
            <a:r>
              <a:rPr lang="en-US" sz="1500" b="1" dirty="0">
                <a:solidFill>
                  <a:srgbClr val="FFFFFF"/>
                </a:solidFill>
                <a:latin typeface="Cambria" pitchFamily="34" charset="0"/>
                <a:ea typeface="Cambria" pitchFamily="34" charset="-122"/>
                <a:cs typeface="Cambria" pitchFamily="34" charset="-120"/>
              </a:rPr>
              <a:t>Reliability for semi-autonomy</a:t>
            </a:r>
            <a:endParaRPr lang="en-US" sz="1500" dirty="0"/>
          </a:p>
        </p:txBody>
      </p:sp>
      <p:sp>
        <p:nvSpPr>
          <p:cNvPr id="15" name="Text 11"/>
          <p:cNvSpPr txBox="1"/>
          <p:nvPr/>
        </p:nvSpPr>
        <p:spPr>
          <a:xfrm>
            <a:off x="6528816" y="2624328"/>
            <a:ext cx="4919472" cy="1097280"/>
          </a:xfrm>
          <a:prstGeom prst="rect">
            <a:avLst/>
          </a:prstGeom>
          <a:noFill/>
          <a:ln/>
        </p:spPr>
        <p:txBody>
          <a:bodyPr wrap="square" lIns="0" tIns="0" rIns="0" bIns="0" rtlCol="0" anchor="ctr"/>
          <a:lstStyle/>
          <a:p>
            <a:pPr marL="0" indent="0">
              <a:lnSpc>
                <a:spcPct val="122000"/>
              </a:lnSpc>
              <a:buNone/>
            </a:pPr>
            <a:r>
              <a:rPr lang="en-US" sz="1150" dirty="0">
                <a:solidFill>
                  <a:srgbClr val="9FB3C8"/>
                </a:solidFill>
                <a:latin typeface="Calibri" pitchFamily="34" charset="0"/>
                <a:ea typeface="Calibri" pitchFamily="34" charset="-122"/>
                <a:cs typeface="Calibri" pitchFamily="34" charset="-120"/>
              </a:rPr>
              <a:t>Once an operator approves engagement, there’s no human in the loop except to abort — detection/tracking must hold up on embedded hardware and in real-world conditions, not just in ideal emulation.</a:t>
            </a:r>
            <a:endParaRPr lang="en-US" sz="1150" dirty="0"/>
          </a:p>
        </p:txBody>
      </p:sp>
      <p:sp>
        <p:nvSpPr>
          <p:cNvPr id="16" name="Shape 12"/>
          <p:cNvSpPr/>
          <p:nvPr/>
        </p:nvSpPr>
        <p:spPr>
          <a:xfrm>
            <a:off x="548640" y="4032504"/>
            <a:ext cx="5468112" cy="2121408"/>
          </a:xfrm>
          <a:prstGeom prst="roundRect">
            <a:avLst>
              <a:gd name="adj" fmla="val 3448"/>
            </a:avLst>
          </a:prstGeom>
          <a:solidFill>
            <a:srgbClr val="10203D"/>
          </a:solidFill>
          <a:ln/>
        </p:spPr>
        <p:txBody>
          <a:bodyPr/>
          <a:lstStyle/>
          <a:p>
            <a:endParaRPr lang="en-US"/>
          </a:p>
        </p:txBody>
      </p:sp>
      <p:sp>
        <p:nvSpPr>
          <p:cNvPr id="17" name="Shape 13"/>
          <p:cNvSpPr/>
          <p:nvPr/>
        </p:nvSpPr>
        <p:spPr>
          <a:xfrm>
            <a:off x="822960" y="4288536"/>
            <a:ext cx="512064" cy="512064"/>
          </a:xfrm>
          <a:prstGeom prst="ellipse">
            <a:avLst/>
          </a:prstGeom>
          <a:solidFill>
            <a:srgbClr val="16294A"/>
          </a:solidFill>
          <a:ln w="15875">
            <a:solidFill>
              <a:srgbClr val="F5B942"/>
            </a:solidFill>
            <a:prstDash val="solid"/>
          </a:ln>
        </p:spPr>
        <p:txBody>
          <a:bodyPr/>
          <a:lstStyle/>
          <a:p>
            <a:endParaRPr lang="en-US"/>
          </a:p>
        </p:txBody>
      </p:sp>
      <p:pic>
        <p:nvPicPr>
          <p:cNvPr id="18" name="Image 2" descr="icons/brain.png"/>
          <p:cNvPicPr>
            <a:picLocks noChangeAspect="1"/>
          </p:cNvPicPr>
          <p:nvPr/>
        </p:nvPicPr>
        <p:blipFill>
          <a:blip r:embed="rId5"/>
          <a:stretch>
            <a:fillRect/>
          </a:stretch>
        </p:blipFill>
        <p:spPr>
          <a:xfrm>
            <a:off x="884408" y="4349984"/>
            <a:ext cx="389169" cy="389169"/>
          </a:xfrm>
          <a:prstGeom prst="rect">
            <a:avLst/>
          </a:prstGeom>
        </p:spPr>
      </p:pic>
      <p:sp>
        <p:nvSpPr>
          <p:cNvPr id="19" name="Text 14"/>
          <p:cNvSpPr txBox="1"/>
          <p:nvPr/>
        </p:nvSpPr>
        <p:spPr>
          <a:xfrm>
            <a:off x="1508760" y="4325112"/>
            <a:ext cx="4233672" cy="457200"/>
          </a:xfrm>
          <a:prstGeom prst="rect">
            <a:avLst/>
          </a:prstGeom>
          <a:noFill/>
          <a:ln/>
        </p:spPr>
        <p:txBody>
          <a:bodyPr wrap="square" lIns="0" tIns="0" rIns="0" bIns="0" rtlCol="0" anchor="ctr"/>
          <a:lstStyle/>
          <a:p>
            <a:pPr marL="0" indent="0">
              <a:buNone/>
            </a:pPr>
            <a:r>
              <a:rPr lang="en-US" sz="1500" b="1" dirty="0">
                <a:solidFill>
                  <a:srgbClr val="FFFFFF"/>
                </a:solidFill>
                <a:latin typeface="Cambria" pitchFamily="34" charset="0"/>
                <a:ea typeface="Cambria" pitchFamily="34" charset="-122"/>
                <a:cs typeface="Cambria" pitchFamily="34" charset="-120"/>
              </a:rPr>
              <a:t>Custom model training</a:t>
            </a:r>
            <a:endParaRPr lang="en-US" sz="1500" dirty="0"/>
          </a:p>
        </p:txBody>
      </p:sp>
      <p:sp>
        <p:nvSpPr>
          <p:cNvPr id="20" name="Text 15"/>
          <p:cNvSpPr txBox="1"/>
          <p:nvPr/>
        </p:nvSpPr>
        <p:spPr>
          <a:xfrm>
            <a:off x="822960" y="4965192"/>
            <a:ext cx="4919472" cy="1097280"/>
          </a:xfrm>
          <a:prstGeom prst="rect">
            <a:avLst/>
          </a:prstGeom>
          <a:noFill/>
          <a:ln/>
        </p:spPr>
        <p:txBody>
          <a:bodyPr wrap="square" lIns="0" tIns="0" rIns="0" bIns="0" rtlCol="0" anchor="ctr"/>
          <a:lstStyle/>
          <a:p>
            <a:pPr marL="0" indent="0">
              <a:lnSpc>
                <a:spcPct val="122000"/>
              </a:lnSpc>
              <a:buNone/>
            </a:pPr>
            <a:r>
              <a:rPr lang="en-US" sz="1150" dirty="0">
                <a:solidFill>
                  <a:srgbClr val="9FB3C8"/>
                </a:solidFill>
                <a:latin typeface="Calibri" pitchFamily="34" charset="0"/>
                <a:ea typeface="Calibri" pitchFamily="34" charset="-122"/>
                <a:cs typeface="Calibri" pitchFamily="34" charset="-120"/>
              </a:rPr>
              <a:t>Replacing COCO weights with a drone/balloon-specific model to hit ≥90% confidence (SYS.07) — a high bar that may need revisiting, especially moving from virtual to real-world detection.</a:t>
            </a:r>
            <a:endParaRPr lang="en-US" sz="1150" dirty="0"/>
          </a:p>
        </p:txBody>
      </p:sp>
      <p:sp>
        <p:nvSpPr>
          <p:cNvPr id="21" name="Shape 16"/>
          <p:cNvSpPr/>
          <p:nvPr/>
        </p:nvSpPr>
        <p:spPr>
          <a:xfrm>
            <a:off x="6254496" y="4032504"/>
            <a:ext cx="5468112" cy="2121408"/>
          </a:xfrm>
          <a:prstGeom prst="roundRect">
            <a:avLst>
              <a:gd name="adj" fmla="val 3448"/>
            </a:avLst>
          </a:prstGeom>
          <a:solidFill>
            <a:srgbClr val="10203D"/>
          </a:solidFill>
          <a:ln/>
        </p:spPr>
        <p:txBody>
          <a:bodyPr/>
          <a:lstStyle/>
          <a:p>
            <a:endParaRPr lang="en-US"/>
          </a:p>
        </p:txBody>
      </p:sp>
      <p:sp>
        <p:nvSpPr>
          <p:cNvPr id="22" name="Shape 17"/>
          <p:cNvSpPr/>
          <p:nvPr/>
        </p:nvSpPr>
        <p:spPr>
          <a:xfrm>
            <a:off x="6528816" y="4288536"/>
            <a:ext cx="512064" cy="512064"/>
          </a:xfrm>
          <a:prstGeom prst="ellipse">
            <a:avLst/>
          </a:prstGeom>
          <a:solidFill>
            <a:srgbClr val="16294A"/>
          </a:solidFill>
          <a:ln w="15875">
            <a:solidFill>
              <a:srgbClr val="F5B942"/>
            </a:solidFill>
            <a:prstDash val="solid"/>
          </a:ln>
        </p:spPr>
        <p:txBody>
          <a:bodyPr/>
          <a:lstStyle/>
          <a:p>
            <a:endParaRPr lang="en-US"/>
          </a:p>
        </p:txBody>
      </p:sp>
      <p:pic>
        <p:nvPicPr>
          <p:cNvPr id="23" name="Image 3" descr="icons/route.png"/>
          <p:cNvPicPr>
            <a:picLocks noChangeAspect="1"/>
          </p:cNvPicPr>
          <p:nvPr/>
        </p:nvPicPr>
        <p:blipFill>
          <a:blip r:embed="rId6"/>
          <a:stretch>
            <a:fillRect/>
          </a:stretch>
        </p:blipFill>
        <p:spPr>
          <a:xfrm>
            <a:off x="6590264" y="4349984"/>
            <a:ext cx="389169" cy="389169"/>
          </a:xfrm>
          <a:prstGeom prst="rect">
            <a:avLst/>
          </a:prstGeom>
        </p:spPr>
      </p:pic>
      <p:sp>
        <p:nvSpPr>
          <p:cNvPr id="24" name="Text 18"/>
          <p:cNvSpPr txBox="1"/>
          <p:nvPr/>
        </p:nvSpPr>
        <p:spPr>
          <a:xfrm>
            <a:off x="7214616" y="4325112"/>
            <a:ext cx="4233672" cy="457200"/>
          </a:xfrm>
          <a:prstGeom prst="rect">
            <a:avLst/>
          </a:prstGeom>
          <a:noFill/>
          <a:ln/>
        </p:spPr>
        <p:txBody>
          <a:bodyPr wrap="square" lIns="0" tIns="0" rIns="0" bIns="0" rtlCol="0" anchor="ctr"/>
          <a:lstStyle/>
          <a:p>
            <a:pPr marL="0" indent="0">
              <a:buNone/>
            </a:pPr>
            <a:r>
              <a:rPr lang="en-US" sz="1500" b="1" dirty="0">
                <a:solidFill>
                  <a:srgbClr val="FFFFFF"/>
                </a:solidFill>
                <a:latin typeface="Cambria" pitchFamily="34" charset="0"/>
                <a:ea typeface="Cambria" pitchFamily="34" charset="-122"/>
                <a:cs typeface="Cambria" pitchFamily="34" charset="-120"/>
              </a:rPr>
              <a:t>Integration &amp; sim fidelity</a:t>
            </a:r>
            <a:endParaRPr lang="en-US" sz="1500" dirty="0"/>
          </a:p>
        </p:txBody>
      </p:sp>
      <p:sp>
        <p:nvSpPr>
          <p:cNvPr id="25" name="Text 19"/>
          <p:cNvSpPr txBox="1"/>
          <p:nvPr/>
        </p:nvSpPr>
        <p:spPr>
          <a:xfrm>
            <a:off x="6528816" y="4965192"/>
            <a:ext cx="4919472" cy="1097280"/>
          </a:xfrm>
          <a:prstGeom prst="rect">
            <a:avLst/>
          </a:prstGeom>
          <a:noFill/>
          <a:ln/>
        </p:spPr>
        <p:txBody>
          <a:bodyPr wrap="square" lIns="0" tIns="0" rIns="0" bIns="0" rtlCol="0" anchor="ctr"/>
          <a:lstStyle/>
          <a:p>
            <a:pPr marL="0" indent="0">
              <a:lnSpc>
                <a:spcPct val="122000"/>
              </a:lnSpc>
              <a:buNone/>
            </a:pPr>
            <a:r>
              <a:rPr lang="en-US" sz="1150" dirty="0">
                <a:solidFill>
                  <a:srgbClr val="9FB3C8"/>
                </a:solidFill>
                <a:latin typeface="Calibri" pitchFamily="34" charset="0"/>
                <a:ea typeface="Calibri" pitchFamily="34" charset="-122"/>
                <a:cs typeface="Calibri" pitchFamily="34" charset="-120"/>
              </a:rPr>
              <a:t>Integrating everything validated on emulation onto the physical drone prototype once it exists, and accurately simulating the drone’s physics in Unity for testing along the way.</a:t>
            </a:r>
            <a:endParaRPr lang="en-US" sz="11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B1730"/>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9144000" cy="292608"/>
          </a:xfrm>
          <a:prstGeom prst="rect">
            <a:avLst/>
          </a:prstGeom>
          <a:noFill/>
          <a:ln/>
        </p:spPr>
        <p:txBody>
          <a:bodyPr wrap="square" lIns="0" tIns="0" rIns="0" bIns="0" rtlCol="0" anchor="ctr"/>
          <a:lstStyle/>
          <a:p>
            <a:pPr marL="0" indent="0">
              <a:buNone/>
            </a:pPr>
            <a:r>
              <a:rPr lang="en-US" sz="1300" b="1" kern="0" spc="200" dirty="0">
                <a:solidFill>
                  <a:srgbClr val="3DDCC7"/>
                </a:solidFill>
                <a:latin typeface="Calibri" pitchFamily="34" charset="0"/>
                <a:ea typeface="Calibri" pitchFamily="34" charset="-122"/>
                <a:cs typeface="Calibri" pitchFamily="34" charset="-120"/>
              </a:rPr>
              <a:t>MILESTONE 1 — SEP 28, 2026</a:t>
            </a:r>
            <a:endParaRPr lang="en-US" sz="1300" dirty="0"/>
          </a:p>
        </p:txBody>
      </p:sp>
      <p:sp>
        <p:nvSpPr>
          <p:cNvPr id="3" name="Text 1"/>
          <p:cNvSpPr txBox="1"/>
          <p:nvPr/>
        </p:nvSpPr>
        <p:spPr>
          <a:xfrm>
            <a:off x="548640" y="658368"/>
            <a:ext cx="10515600" cy="731520"/>
          </a:xfrm>
          <a:prstGeom prst="rect">
            <a:avLst/>
          </a:prstGeom>
          <a:noFill/>
          <a:ln/>
        </p:spPr>
        <p:txBody>
          <a:bodyPr wrap="square" lIns="0" tIns="0" rIns="0" bIns="0" rtlCol="0" anchor="ctr"/>
          <a:lstStyle/>
          <a:p>
            <a:pPr marL="0" indent="0">
              <a:buNone/>
            </a:pPr>
            <a:r>
              <a:rPr lang="en-US" sz="3200" b="1" dirty="0">
                <a:solidFill>
                  <a:srgbClr val="FFFFFF"/>
                </a:solidFill>
                <a:latin typeface="Cambria" pitchFamily="34" charset="0"/>
                <a:ea typeface="Cambria" pitchFamily="34" charset="-122"/>
                <a:cs typeface="Cambria" pitchFamily="34" charset="-120"/>
              </a:rPr>
              <a:t>Foundations &amp; proof of concept</a:t>
            </a:r>
            <a:endParaRPr lang="en-US" sz="3200" dirty="0"/>
          </a:p>
        </p:txBody>
      </p:sp>
      <p:sp>
        <p:nvSpPr>
          <p:cNvPr id="4" name="Text 2"/>
          <p:cNvSpPr txBox="1"/>
          <p:nvPr/>
        </p:nvSpPr>
        <p:spPr>
          <a:xfrm>
            <a:off x="11475720" y="6510528"/>
            <a:ext cx="548640" cy="274320"/>
          </a:xfrm>
          <a:prstGeom prst="rect">
            <a:avLst/>
          </a:prstGeom>
          <a:noFill/>
          <a:ln/>
        </p:spPr>
        <p:txBody>
          <a:bodyPr wrap="square" lIns="0" tIns="0" rIns="0" bIns="0" rtlCol="0" anchor="ctr"/>
          <a:lstStyle/>
          <a:p>
            <a:pPr marL="0" indent="0" algn="r">
              <a:buNone/>
            </a:pPr>
            <a:r>
              <a:rPr lang="en-US" sz="900" dirty="0">
                <a:solidFill>
                  <a:srgbClr val="7488A3"/>
                </a:solidFill>
                <a:latin typeface="Calibri" pitchFamily="34" charset="0"/>
                <a:ea typeface="Calibri" pitchFamily="34" charset="-122"/>
                <a:cs typeface="Calibri" pitchFamily="34" charset="-120"/>
              </a:rPr>
              <a:t>11 / 14</a:t>
            </a:r>
            <a:endParaRPr lang="en-US" sz="900" dirty="0"/>
          </a:p>
        </p:txBody>
      </p:sp>
      <p:sp>
        <p:nvSpPr>
          <p:cNvPr id="5" name="Text 3"/>
          <p:cNvSpPr txBox="1"/>
          <p:nvPr/>
        </p:nvSpPr>
        <p:spPr>
          <a:xfrm>
            <a:off x="457200" y="6510528"/>
            <a:ext cx="5486400" cy="274320"/>
          </a:xfrm>
          <a:prstGeom prst="rect">
            <a:avLst/>
          </a:prstGeom>
          <a:noFill/>
          <a:ln/>
        </p:spPr>
        <p:txBody>
          <a:bodyPr wrap="square" lIns="0" tIns="0" rIns="0" bIns="0" rtlCol="0" anchor="ctr"/>
          <a:lstStyle/>
          <a:p>
            <a:pPr marL="0" indent="0" algn="l">
              <a:buNone/>
            </a:pPr>
            <a:r>
              <a:rPr lang="en-US" sz="900" dirty="0">
                <a:solidFill>
                  <a:srgbClr val="7488A3"/>
                </a:solidFill>
                <a:latin typeface="Calibri" pitchFamily="34" charset="0"/>
                <a:ea typeface="Calibri" pitchFamily="34" charset="-122"/>
                <a:cs typeface="Calibri" pitchFamily="34" charset="-120"/>
              </a:rPr>
              <a:t>SHIELD — Software &amp; Autonomy Overview</a:t>
            </a:r>
            <a:endParaRPr lang="en-US" sz="900" dirty="0"/>
          </a:p>
        </p:txBody>
      </p:sp>
      <p:sp>
        <p:nvSpPr>
          <p:cNvPr id="6" name="Shape 4"/>
          <p:cNvSpPr/>
          <p:nvPr/>
        </p:nvSpPr>
        <p:spPr>
          <a:xfrm>
            <a:off x="548640" y="1691640"/>
            <a:ext cx="2331720" cy="4160520"/>
          </a:xfrm>
          <a:prstGeom prst="roundRect">
            <a:avLst>
              <a:gd name="adj" fmla="val 3529"/>
            </a:avLst>
          </a:prstGeom>
          <a:solidFill>
            <a:srgbClr val="10203D"/>
          </a:solidFill>
          <a:ln/>
        </p:spPr>
        <p:txBody>
          <a:bodyPr/>
          <a:lstStyle/>
          <a:p>
            <a:endParaRPr lang="en-US"/>
          </a:p>
        </p:txBody>
      </p:sp>
      <p:sp>
        <p:nvSpPr>
          <p:cNvPr id="7" name="Text 5"/>
          <p:cNvSpPr txBox="1"/>
          <p:nvPr/>
        </p:nvSpPr>
        <p:spPr>
          <a:xfrm>
            <a:off x="548640" y="2240280"/>
            <a:ext cx="2331720" cy="1371600"/>
          </a:xfrm>
          <a:prstGeom prst="rect">
            <a:avLst/>
          </a:prstGeom>
          <a:noFill/>
          <a:ln/>
        </p:spPr>
        <p:txBody>
          <a:bodyPr wrap="square" lIns="0" tIns="0" rIns="0" bIns="0" rtlCol="0" anchor="ctr"/>
          <a:lstStyle/>
          <a:p>
            <a:pPr marL="0" indent="0" algn="ctr">
              <a:buNone/>
            </a:pPr>
            <a:r>
              <a:rPr lang="en-US" sz="7000" b="1" dirty="0">
                <a:solidFill>
                  <a:srgbClr val="F5B942"/>
                </a:solidFill>
                <a:latin typeface="Cambria" pitchFamily="34" charset="0"/>
                <a:ea typeface="Cambria" pitchFamily="34" charset="-122"/>
                <a:cs typeface="Cambria" pitchFamily="34" charset="-120"/>
              </a:rPr>
              <a:t>M1</a:t>
            </a:r>
            <a:endParaRPr lang="en-US" sz="7000" dirty="0"/>
          </a:p>
        </p:txBody>
      </p:sp>
      <p:sp>
        <p:nvSpPr>
          <p:cNvPr id="8" name="Text 6"/>
          <p:cNvSpPr txBox="1"/>
          <p:nvPr/>
        </p:nvSpPr>
        <p:spPr>
          <a:xfrm>
            <a:off x="548640" y="3657600"/>
            <a:ext cx="2331720" cy="365760"/>
          </a:xfrm>
          <a:prstGeom prst="rect">
            <a:avLst/>
          </a:prstGeom>
          <a:noFill/>
          <a:ln/>
        </p:spPr>
        <p:txBody>
          <a:bodyPr wrap="square" lIns="0" tIns="0" rIns="0" bIns="0" rtlCol="0" anchor="ctr"/>
          <a:lstStyle/>
          <a:p>
            <a:pPr marL="0" indent="0" algn="ctr">
              <a:buNone/>
            </a:pPr>
            <a:r>
              <a:rPr lang="en-US" sz="1300" b="1" dirty="0">
                <a:solidFill>
                  <a:srgbClr val="3DDCC7"/>
                </a:solidFill>
                <a:latin typeface="Calibri" pitchFamily="34" charset="0"/>
                <a:ea typeface="Calibri" pitchFamily="34" charset="-122"/>
                <a:cs typeface="Calibri" pitchFamily="34" charset="-120"/>
              </a:rPr>
              <a:t>Sep 28, 2026</a:t>
            </a:r>
            <a:endParaRPr lang="en-US" sz="1300" dirty="0"/>
          </a:p>
        </p:txBody>
      </p:sp>
      <p:sp>
        <p:nvSpPr>
          <p:cNvPr id="9" name="Shape 7"/>
          <p:cNvSpPr/>
          <p:nvPr/>
        </p:nvSpPr>
        <p:spPr>
          <a:xfrm>
            <a:off x="914400" y="4206240"/>
            <a:ext cx="1600200" cy="0"/>
          </a:xfrm>
          <a:prstGeom prst="line">
            <a:avLst/>
          </a:prstGeom>
          <a:noFill/>
          <a:ln w="12700">
            <a:solidFill>
              <a:srgbClr val="223454"/>
            </a:solidFill>
            <a:prstDash val="solid"/>
          </a:ln>
        </p:spPr>
        <p:txBody>
          <a:bodyPr/>
          <a:lstStyle/>
          <a:p>
            <a:endParaRPr lang="en-US"/>
          </a:p>
        </p:txBody>
      </p:sp>
      <p:sp>
        <p:nvSpPr>
          <p:cNvPr id="10" name="Text 8"/>
          <p:cNvSpPr txBox="1"/>
          <p:nvPr/>
        </p:nvSpPr>
        <p:spPr>
          <a:xfrm>
            <a:off x="731520" y="4389120"/>
            <a:ext cx="1965960" cy="365760"/>
          </a:xfrm>
          <a:prstGeom prst="rect">
            <a:avLst/>
          </a:prstGeom>
          <a:noFill/>
          <a:ln/>
        </p:spPr>
        <p:txBody>
          <a:bodyPr wrap="square" lIns="0" tIns="0" rIns="0" bIns="0" rtlCol="0" anchor="ctr"/>
          <a:lstStyle/>
          <a:p>
            <a:pPr marL="0" indent="0" algn="ctr">
              <a:buNone/>
            </a:pPr>
            <a:r>
              <a:rPr lang="en-US" sz="1100" dirty="0">
                <a:solidFill>
                  <a:srgbClr val="7488A3"/>
                </a:solidFill>
                <a:latin typeface="Calibri" pitchFamily="34" charset="0"/>
                <a:ea typeface="Calibri" pitchFamily="34" charset="-122"/>
                <a:cs typeface="Calibri" pitchFamily="34" charset="-120"/>
              </a:rPr>
              <a:t>Milestone 1 of 3</a:t>
            </a:r>
            <a:endParaRPr lang="en-US" sz="1100" dirty="0"/>
          </a:p>
        </p:txBody>
      </p:sp>
      <p:sp>
        <p:nvSpPr>
          <p:cNvPr id="11" name="Shape 9"/>
          <p:cNvSpPr/>
          <p:nvPr/>
        </p:nvSpPr>
        <p:spPr>
          <a:xfrm>
            <a:off x="1362456" y="4892040"/>
            <a:ext cx="82296" cy="82296"/>
          </a:xfrm>
          <a:prstGeom prst="ellipse">
            <a:avLst/>
          </a:prstGeom>
          <a:solidFill>
            <a:srgbClr val="F5B942"/>
          </a:solidFill>
          <a:ln/>
        </p:spPr>
        <p:txBody>
          <a:bodyPr/>
          <a:lstStyle/>
          <a:p>
            <a:endParaRPr lang="en-US"/>
          </a:p>
        </p:txBody>
      </p:sp>
      <p:sp>
        <p:nvSpPr>
          <p:cNvPr id="12" name="Shape 10"/>
          <p:cNvSpPr/>
          <p:nvPr/>
        </p:nvSpPr>
        <p:spPr>
          <a:xfrm>
            <a:off x="1673352" y="4892040"/>
            <a:ext cx="82296" cy="82296"/>
          </a:xfrm>
          <a:prstGeom prst="ellipse">
            <a:avLst/>
          </a:prstGeom>
          <a:solidFill>
            <a:srgbClr val="223454"/>
          </a:solidFill>
          <a:ln/>
        </p:spPr>
        <p:txBody>
          <a:bodyPr/>
          <a:lstStyle/>
          <a:p>
            <a:endParaRPr lang="en-US"/>
          </a:p>
        </p:txBody>
      </p:sp>
      <p:sp>
        <p:nvSpPr>
          <p:cNvPr id="13" name="Shape 11"/>
          <p:cNvSpPr/>
          <p:nvPr/>
        </p:nvSpPr>
        <p:spPr>
          <a:xfrm>
            <a:off x="1984248" y="4892040"/>
            <a:ext cx="82296" cy="82296"/>
          </a:xfrm>
          <a:prstGeom prst="ellipse">
            <a:avLst/>
          </a:prstGeom>
          <a:solidFill>
            <a:srgbClr val="223454"/>
          </a:solidFill>
          <a:ln/>
        </p:spPr>
        <p:txBody>
          <a:bodyPr/>
          <a:lstStyle/>
          <a:p>
            <a:endParaRPr lang="en-US"/>
          </a:p>
        </p:txBody>
      </p:sp>
      <p:sp>
        <p:nvSpPr>
          <p:cNvPr id="14" name="Shape 12"/>
          <p:cNvSpPr/>
          <p:nvPr/>
        </p:nvSpPr>
        <p:spPr>
          <a:xfrm>
            <a:off x="3154680" y="1691640"/>
            <a:ext cx="8485632" cy="826618"/>
          </a:xfrm>
          <a:prstGeom prst="roundRect">
            <a:avLst>
              <a:gd name="adj" fmla="val 7743"/>
            </a:avLst>
          </a:prstGeom>
          <a:solidFill>
            <a:srgbClr val="10203D"/>
          </a:solidFill>
          <a:ln/>
        </p:spPr>
        <p:txBody>
          <a:bodyPr/>
          <a:lstStyle/>
          <a:p>
            <a:endParaRPr lang="en-US"/>
          </a:p>
        </p:txBody>
      </p:sp>
      <p:sp>
        <p:nvSpPr>
          <p:cNvPr id="15" name="Shape 13"/>
          <p:cNvSpPr/>
          <p:nvPr/>
        </p:nvSpPr>
        <p:spPr>
          <a:xfrm>
            <a:off x="3383280" y="1958645"/>
            <a:ext cx="292608" cy="292608"/>
          </a:xfrm>
          <a:prstGeom prst="ellipse">
            <a:avLst/>
          </a:prstGeom>
          <a:solidFill>
            <a:srgbClr val="16294A"/>
          </a:solidFill>
          <a:ln w="12700">
            <a:solidFill>
              <a:srgbClr val="3DDCC7"/>
            </a:solidFill>
            <a:prstDash val="solid"/>
          </a:ln>
        </p:spPr>
        <p:txBody>
          <a:bodyPr/>
          <a:lstStyle/>
          <a:p>
            <a:endParaRPr lang="en-US"/>
          </a:p>
        </p:txBody>
      </p:sp>
      <p:sp>
        <p:nvSpPr>
          <p:cNvPr id="16" name="Text 14"/>
          <p:cNvSpPr txBox="1"/>
          <p:nvPr/>
        </p:nvSpPr>
        <p:spPr>
          <a:xfrm>
            <a:off x="3383280" y="1958645"/>
            <a:ext cx="292608" cy="292608"/>
          </a:xfrm>
          <a:prstGeom prst="rect">
            <a:avLst/>
          </a:prstGeom>
          <a:noFill/>
          <a:ln/>
        </p:spPr>
        <p:txBody>
          <a:bodyPr wrap="square" lIns="0" tIns="0" rIns="0" bIns="0" rtlCol="0" anchor="ctr"/>
          <a:lstStyle/>
          <a:p>
            <a:pPr marL="0" indent="0" algn="ctr">
              <a:buNone/>
            </a:pPr>
            <a:r>
              <a:rPr lang="en-US" sz="1200" b="1" dirty="0">
                <a:solidFill>
                  <a:srgbClr val="3DDCC7"/>
                </a:solidFill>
                <a:latin typeface="Calibri" pitchFamily="34" charset="0"/>
                <a:ea typeface="Calibri" pitchFamily="34" charset="-122"/>
                <a:cs typeface="Calibri" pitchFamily="34" charset="-120"/>
              </a:rPr>
              <a:t>1</a:t>
            </a:r>
            <a:endParaRPr lang="en-US" sz="1200" dirty="0"/>
          </a:p>
        </p:txBody>
      </p:sp>
      <p:sp>
        <p:nvSpPr>
          <p:cNvPr id="17" name="Text 15"/>
          <p:cNvSpPr txBox="1"/>
          <p:nvPr/>
        </p:nvSpPr>
        <p:spPr>
          <a:xfrm>
            <a:off x="3840480" y="1764792"/>
            <a:ext cx="7571232" cy="292608"/>
          </a:xfrm>
          <a:prstGeom prst="rect">
            <a:avLst/>
          </a:prstGeom>
          <a:noFill/>
          <a:ln/>
        </p:spPr>
        <p:txBody>
          <a:bodyPr wrap="square" lIns="0" tIns="0" rIns="0" bIns="0" rtlCol="0" anchor="ctr"/>
          <a:lstStyle/>
          <a:p>
            <a:pPr marL="0" indent="0">
              <a:buNone/>
            </a:pPr>
            <a:r>
              <a:rPr lang="en-US" sz="1250" b="1" dirty="0">
                <a:solidFill>
                  <a:srgbClr val="FFFFFF"/>
                </a:solidFill>
                <a:latin typeface="Cambria" pitchFamily="34" charset="0"/>
                <a:ea typeface="Cambria" pitchFamily="34" charset="-122"/>
                <a:cs typeface="Cambria" pitchFamily="34" charset="-120"/>
              </a:rPr>
              <a:t>Select tools for detection, tracking &amp; interception</a:t>
            </a:r>
            <a:endParaRPr lang="en-US" sz="1250" dirty="0"/>
          </a:p>
        </p:txBody>
      </p:sp>
      <p:sp>
        <p:nvSpPr>
          <p:cNvPr id="18" name="Text 16"/>
          <p:cNvSpPr txBox="1"/>
          <p:nvPr/>
        </p:nvSpPr>
        <p:spPr>
          <a:xfrm>
            <a:off x="3840480" y="2057400"/>
            <a:ext cx="7571232" cy="415138"/>
          </a:xfrm>
          <a:prstGeom prst="rect">
            <a:avLst/>
          </a:prstGeom>
          <a:noFill/>
          <a:ln/>
        </p:spPr>
        <p:txBody>
          <a:bodyPr wrap="square" lIns="0" tIns="0" rIns="0" bIns="0" rtlCol="0" anchor="ctr"/>
          <a:lstStyle/>
          <a:p>
            <a:pPr marL="0" indent="0">
              <a:lnSpc>
                <a:spcPct val="110000"/>
              </a:lnSpc>
              <a:buNone/>
            </a:pPr>
            <a:r>
              <a:rPr lang="en-US" sz="1050" dirty="0">
                <a:solidFill>
                  <a:srgbClr val="9FB3C8"/>
                </a:solidFill>
                <a:latin typeface="Calibri" pitchFamily="34" charset="0"/>
                <a:ea typeface="Calibri" pitchFamily="34" charset="-122"/>
                <a:cs typeface="Calibri" pitchFamily="34" charset="-120"/>
              </a:rPr>
              <a:t>Compare candidate tools for each subsystem, including interception once it’s defined.</a:t>
            </a:r>
            <a:endParaRPr lang="en-US" sz="1050" dirty="0"/>
          </a:p>
        </p:txBody>
      </p:sp>
      <p:sp>
        <p:nvSpPr>
          <p:cNvPr id="19" name="Shape 17"/>
          <p:cNvSpPr/>
          <p:nvPr/>
        </p:nvSpPr>
        <p:spPr>
          <a:xfrm>
            <a:off x="3154680" y="2627986"/>
            <a:ext cx="8485632" cy="826618"/>
          </a:xfrm>
          <a:prstGeom prst="roundRect">
            <a:avLst>
              <a:gd name="adj" fmla="val 7743"/>
            </a:avLst>
          </a:prstGeom>
          <a:solidFill>
            <a:srgbClr val="10203D"/>
          </a:solidFill>
          <a:ln/>
        </p:spPr>
        <p:txBody>
          <a:bodyPr/>
          <a:lstStyle/>
          <a:p>
            <a:endParaRPr lang="en-US"/>
          </a:p>
        </p:txBody>
      </p:sp>
      <p:sp>
        <p:nvSpPr>
          <p:cNvPr id="20" name="Shape 18"/>
          <p:cNvSpPr/>
          <p:nvPr/>
        </p:nvSpPr>
        <p:spPr>
          <a:xfrm>
            <a:off x="3383280" y="2894990"/>
            <a:ext cx="292608" cy="292608"/>
          </a:xfrm>
          <a:prstGeom prst="ellipse">
            <a:avLst/>
          </a:prstGeom>
          <a:solidFill>
            <a:srgbClr val="16294A"/>
          </a:solidFill>
          <a:ln w="12700">
            <a:solidFill>
              <a:srgbClr val="3DDCC7"/>
            </a:solidFill>
            <a:prstDash val="solid"/>
          </a:ln>
        </p:spPr>
        <p:txBody>
          <a:bodyPr/>
          <a:lstStyle/>
          <a:p>
            <a:endParaRPr lang="en-US"/>
          </a:p>
        </p:txBody>
      </p:sp>
      <p:sp>
        <p:nvSpPr>
          <p:cNvPr id="21" name="Text 19"/>
          <p:cNvSpPr txBox="1"/>
          <p:nvPr/>
        </p:nvSpPr>
        <p:spPr>
          <a:xfrm>
            <a:off x="3383280" y="2894990"/>
            <a:ext cx="292608" cy="292608"/>
          </a:xfrm>
          <a:prstGeom prst="rect">
            <a:avLst/>
          </a:prstGeom>
          <a:noFill/>
          <a:ln/>
        </p:spPr>
        <p:txBody>
          <a:bodyPr wrap="square" lIns="0" tIns="0" rIns="0" bIns="0" rtlCol="0" anchor="ctr"/>
          <a:lstStyle/>
          <a:p>
            <a:pPr marL="0" indent="0" algn="ctr">
              <a:buNone/>
            </a:pPr>
            <a:r>
              <a:rPr lang="en-US" sz="1200" b="1" dirty="0">
                <a:solidFill>
                  <a:srgbClr val="3DDCC7"/>
                </a:solidFill>
                <a:latin typeface="Calibri" pitchFamily="34" charset="0"/>
                <a:ea typeface="Calibri" pitchFamily="34" charset="-122"/>
                <a:cs typeface="Calibri" pitchFamily="34" charset="-120"/>
              </a:rPr>
              <a:t>2</a:t>
            </a:r>
            <a:endParaRPr lang="en-US" sz="1200" dirty="0"/>
          </a:p>
        </p:txBody>
      </p:sp>
      <p:sp>
        <p:nvSpPr>
          <p:cNvPr id="22" name="Text 20"/>
          <p:cNvSpPr txBox="1"/>
          <p:nvPr/>
        </p:nvSpPr>
        <p:spPr>
          <a:xfrm>
            <a:off x="3840480" y="2701138"/>
            <a:ext cx="7571232" cy="292608"/>
          </a:xfrm>
          <a:prstGeom prst="rect">
            <a:avLst/>
          </a:prstGeom>
          <a:noFill/>
          <a:ln/>
        </p:spPr>
        <p:txBody>
          <a:bodyPr wrap="square" lIns="0" tIns="0" rIns="0" bIns="0" rtlCol="0" anchor="ctr"/>
          <a:lstStyle/>
          <a:p>
            <a:pPr marL="0" indent="0">
              <a:buNone/>
            </a:pPr>
            <a:r>
              <a:rPr lang="en-US" sz="1250" b="1" dirty="0">
                <a:solidFill>
                  <a:srgbClr val="FFFFFF"/>
                </a:solidFill>
                <a:latin typeface="Cambria" pitchFamily="34" charset="0"/>
                <a:ea typeface="Cambria" pitchFamily="34" charset="-122"/>
                <a:cs typeface="Cambria" pitchFamily="34" charset="-120"/>
              </a:rPr>
              <a:t>"Hello world" proof-of-concept demos</a:t>
            </a:r>
            <a:endParaRPr lang="en-US" sz="1250" dirty="0"/>
          </a:p>
        </p:txBody>
      </p:sp>
      <p:sp>
        <p:nvSpPr>
          <p:cNvPr id="23" name="Text 21"/>
          <p:cNvSpPr txBox="1"/>
          <p:nvPr/>
        </p:nvSpPr>
        <p:spPr>
          <a:xfrm>
            <a:off x="3840480" y="2993746"/>
            <a:ext cx="7571232" cy="415138"/>
          </a:xfrm>
          <a:prstGeom prst="rect">
            <a:avLst/>
          </a:prstGeom>
          <a:noFill/>
          <a:ln/>
        </p:spPr>
        <p:txBody>
          <a:bodyPr wrap="square" lIns="0" tIns="0" rIns="0" bIns="0" rtlCol="0" anchor="ctr"/>
          <a:lstStyle/>
          <a:p>
            <a:pPr marL="0" indent="0">
              <a:lnSpc>
                <a:spcPct val="110000"/>
              </a:lnSpc>
              <a:buNone/>
            </a:pPr>
            <a:r>
              <a:rPr lang="en-US" sz="1050" dirty="0">
                <a:solidFill>
                  <a:srgbClr val="9FB3C8"/>
                </a:solidFill>
                <a:latin typeface="Calibri" pitchFamily="34" charset="0"/>
                <a:ea typeface="Calibri" pitchFamily="34" charset="-122"/>
                <a:cs typeface="Calibri" pitchFamily="34" charset="-120"/>
              </a:rPr>
              <a:t>Already partially done — the emulation pipeline runs YOLO detection + ByteTrack + Kalman smoothing against a webcam or the Unity virtual camera (completed 8/26).</a:t>
            </a:r>
            <a:endParaRPr lang="en-US" sz="1050" dirty="0"/>
          </a:p>
        </p:txBody>
      </p:sp>
      <p:sp>
        <p:nvSpPr>
          <p:cNvPr id="24" name="Shape 22"/>
          <p:cNvSpPr/>
          <p:nvPr/>
        </p:nvSpPr>
        <p:spPr>
          <a:xfrm>
            <a:off x="3154680" y="3564331"/>
            <a:ext cx="8485632" cy="826618"/>
          </a:xfrm>
          <a:prstGeom prst="roundRect">
            <a:avLst>
              <a:gd name="adj" fmla="val 7743"/>
            </a:avLst>
          </a:prstGeom>
          <a:solidFill>
            <a:srgbClr val="10203D"/>
          </a:solidFill>
          <a:ln/>
        </p:spPr>
        <p:txBody>
          <a:bodyPr/>
          <a:lstStyle/>
          <a:p>
            <a:endParaRPr lang="en-US"/>
          </a:p>
        </p:txBody>
      </p:sp>
      <p:sp>
        <p:nvSpPr>
          <p:cNvPr id="25" name="Shape 23"/>
          <p:cNvSpPr/>
          <p:nvPr/>
        </p:nvSpPr>
        <p:spPr>
          <a:xfrm>
            <a:off x="3383280" y="3831336"/>
            <a:ext cx="292608" cy="292608"/>
          </a:xfrm>
          <a:prstGeom prst="ellipse">
            <a:avLst/>
          </a:prstGeom>
          <a:solidFill>
            <a:srgbClr val="16294A"/>
          </a:solidFill>
          <a:ln w="12700">
            <a:solidFill>
              <a:srgbClr val="3DDCC7"/>
            </a:solidFill>
            <a:prstDash val="solid"/>
          </a:ln>
        </p:spPr>
        <p:txBody>
          <a:bodyPr/>
          <a:lstStyle/>
          <a:p>
            <a:endParaRPr lang="en-US"/>
          </a:p>
        </p:txBody>
      </p:sp>
      <p:sp>
        <p:nvSpPr>
          <p:cNvPr id="26" name="Text 24"/>
          <p:cNvSpPr txBox="1"/>
          <p:nvPr/>
        </p:nvSpPr>
        <p:spPr>
          <a:xfrm>
            <a:off x="3383280" y="3831336"/>
            <a:ext cx="292608" cy="292608"/>
          </a:xfrm>
          <a:prstGeom prst="rect">
            <a:avLst/>
          </a:prstGeom>
          <a:noFill/>
          <a:ln/>
        </p:spPr>
        <p:txBody>
          <a:bodyPr wrap="square" lIns="0" tIns="0" rIns="0" bIns="0" rtlCol="0" anchor="ctr"/>
          <a:lstStyle/>
          <a:p>
            <a:pPr marL="0" indent="0" algn="ctr">
              <a:buNone/>
            </a:pPr>
            <a:r>
              <a:rPr lang="en-US" sz="1200" b="1" dirty="0">
                <a:solidFill>
                  <a:srgbClr val="3DDCC7"/>
                </a:solidFill>
                <a:latin typeface="Calibri" pitchFamily="34" charset="0"/>
                <a:ea typeface="Calibri" pitchFamily="34" charset="-122"/>
                <a:cs typeface="Calibri" pitchFamily="34" charset="-120"/>
              </a:rPr>
              <a:t>3</a:t>
            </a:r>
            <a:endParaRPr lang="en-US" sz="1200" dirty="0"/>
          </a:p>
        </p:txBody>
      </p:sp>
      <p:sp>
        <p:nvSpPr>
          <p:cNvPr id="27" name="Text 25"/>
          <p:cNvSpPr txBox="1"/>
          <p:nvPr/>
        </p:nvSpPr>
        <p:spPr>
          <a:xfrm>
            <a:off x="3840480" y="3637483"/>
            <a:ext cx="7571232" cy="292608"/>
          </a:xfrm>
          <a:prstGeom prst="rect">
            <a:avLst/>
          </a:prstGeom>
          <a:noFill/>
          <a:ln/>
        </p:spPr>
        <p:txBody>
          <a:bodyPr wrap="square" lIns="0" tIns="0" rIns="0" bIns="0" rtlCol="0" anchor="ctr"/>
          <a:lstStyle/>
          <a:p>
            <a:pPr marL="0" indent="0">
              <a:buNone/>
            </a:pPr>
            <a:r>
              <a:rPr lang="en-US" sz="1250" b="1" dirty="0">
                <a:solidFill>
                  <a:srgbClr val="FFFFFF"/>
                </a:solidFill>
                <a:latin typeface="Cambria" pitchFamily="34" charset="0"/>
                <a:ea typeface="Cambria" pitchFamily="34" charset="-122"/>
                <a:cs typeface="Cambria" pitchFamily="34" charset="-120"/>
              </a:rPr>
              <a:t>Resolve initial technical challenges</a:t>
            </a:r>
            <a:endParaRPr lang="en-US" sz="1250" dirty="0"/>
          </a:p>
        </p:txBody>
      </p:sp>
      <p:sp>
        <p:nvSpPr>
          <p:cNvPr id="28" name="Text 26"/>
          <p:cNvSpPr txBox="1"/>
          <p:nvPr/>
        </p:nvSpPr>
        <p:spPr>
          <a:xfrm>
            <a:off x="3840480" y="3930091"/>
            <a:ext cx="7571232" cy="415138"/>
          </a:xfrm>
          <a:prstGeom prst="rect">
            <a:avLst/>
          </a:prstGeom>
          <a:noFill/>
          <a:ln/>
        </p:spPr>
        <p:txBody>
          <a:bodyPr wrap="square" lIns="0" tIns="0" rIns="0" bIns="0" rtlCol="0" anchor="ctr"/>
          <a:lstStyle/>
          <a:p>
            <a:pPr marL="0" indent="0">
              <a:lnSpc>
                <a:spcPct val="110000"/>
              </a:lnSpc>
              <a:buNone/>
            </a:pPr>
            <a:r>
              <a:rPr lang="en-US" sz="1050" dirty="0">
                <a:solidFill>
                  <a:srgbClr val="9FB3C8"/>
                </a:solidFill>
                <a:latin typeface="Calibri" pitchFamily="34" charset="0"/>
                <a:ea typeface="Calibri" pitchFamily="34" charset="-122"/>
                <a:cs typeface="Calibri" pitchFamily="34" charset="-120"/>
              </a:rPr>
              <a:t>First pass at the Pi/Hailo, reliability, model-training, and integration risks.</a:t>
            </a:r>
            <a:endParaRPr lang="en-US" sz="1050" dirty="0"/>
          </a:p>
        </p:txBody>
      </p:sp>
      <p:sp>
        <p:nvSpPr>
          <p:cNvPr id="29" name="Shape 27"/>
          <p:cNvSpPr/>
          <p:nvPr/>
        </p:nvSpPr>
        <p:spPr>
          <a:xfrm>
            <a:off x="3154680" y="4500677"/>
            <a:ext cx="8485632" cy="826618"/>
          </a:xfrm>
          <a:prstGeom prst="roundRect">
            <a:avLst>
              <a:gd name="adj" fmla="val 7743"/>
            </a:avLst>
          </a:prstGeom>
          <a:solidFill>
            <a:srgbClr val="10203D"/>
          </a:solidFill>
          <a:ln/>
        </p:spPr>
        <p:txBody>
          <a:bodyPr/>
          <a:lstStyle/>
          <a:p>
            <a:endParaRPr lang="en-US"/>
          </a:p>
        </p:txBody>
      </p:sp>
      <p:sp>
        <p:nvSpPr>
          <p:cNvPr id="30" name="Shape 28"/>
          <p:cNvSpPr/>
          <p:nvPr/>
        </p:nvSpPr>
        <p:spPr>
          <a:xfrm>
            <a:off x="3383280" y="4767682"/>
            <a:ext cx="292608" cy="292608"/>
          </a:xfrm>
          <a:prstGeom prst="ellipse">
            <a:avLst/>
          </a:prstGeom>
          <a:solidFill>
            <a:srgbClr val="16294A"/>
          </a:solidFill>
          <a:ln w="12700">
            <a:solidFill>
              <a:srgbClr val="3DDCC7"/>
            </a:solidFill>
            <a:prstDash val="solid"/>
          </a:ln>
        </p:spPr>
        <p:txBody>
          <a:bodyPr/>
          <a:lstStyle/>
          <a:p>
            <a:endParaRPr lang="en-US"/>
          </a:p>
        </p:txBody>
      </p:sp>
      <p:sp>
        <p:nvSpPr>
          <p:cNvPr id="31" name="Text 29"/>
          <p:cNvSpPr txBox="1"/>
          <p:nvPr/>
        </p:nvSpPr>
        <p:spPr>
          <a:xfrm>
            <a:off x="3383280" y="4767682"/>
            <a:ext cx="292608" cy="292608"/>
          </a:xfrm>
          <a:prstGeom prst="rect">
            <a:avLst/>
          </a:prstGeom>
          <a:noFill/>
          <a:ln/>
        </p:spPr>
        <p:txBody>
          <a:bodyPr wrap="square" lIns="0" tIns="0" rIns="0" bIns="0" rtlCol="0" anchor="ctr"/>
          <a:lstStyle/>
          <a:p>
            <a:pPr marL="0" indent="0" algn="ctr">
              <a:buNone/>
            </a:pPr>
            <a:r>
              <a:rPr lang="en-US" sz="1200" b="1" dirty="0">
                <a:solidFill>
                  <a:srgbClr val="3DDCC7"/>
                </a:solidFill>
                <a:latin typeface="Calibri" pitchFamily="34" charset="0"/>
                <a:ea typeface="Calibri" pitchFamily="34" charset="-122"/>
                <a:cs typeface="Calibri" pitchFamily="34" charset="-120"/>
              </a:rPr>
              <a:t>4</a:t>
            </a:r>
            <a:endParaRPr lang="en-US" sz="1200" dirty="0"/>
          </a:p>
        </p:txBody>
      </p:sp>
      <p:sp>
        <p:nvSpPr>
          <p:cNvPr id="32" name="Text 30"/>
          <p:cNvSpPr txBox="1"/>
          <p:nvPr/>
        </p:nvSpPr>
        <p:spPr>
          <a:xfrm>
            <a:off x="3840480" y="4573829"/>
            <a:ext cx="7571232" cy="292608"/>
          </a:xfrm>
          <a:prstGeom prst="rect">
            <a:avLst/>
          </a:prstGeom>
          <a:noFill/>
          <a:ln/>
        </p:spPr>
        <p:txBody>
          <a:bodyPr wrap="square" lIns="0" tIns="0" rIns="0" bIns="0" rtlCol="0" anchor="ctr"/>
          <a:lstStyle/>
          <a:p>
            <a:pPr marL="0" indent="0">
              <a:buNone/>
            </a:pPr>
            <a:r>
              <a:rPr lang="en-US" sz="1250" b="1" dirty="0">
                <a:solidFill>
                  <a:srgbClr val="FFFFFF"/>
                </a:solidFill>
                <a:latin typeface="Cambria" pitchFamily="34" charset="0"/>
                <a:ea typeface="Cambria" pitchFamily="34" charset="-122"/>
                <a:cs typeface="Cambria" pitchFamily="34" charset="-120"/>
              </a:rPr>
              <a:t>Select collaboration tools</a:t>
            </a:r>
            <a:endParaRPr lang="en-US" sz="1250" dirty="0"/>
          </a:p>
        </p:txBody>
      </p:sp>
      <p:sp>
        <p:nvSpPr>
          <p:cNvPr id="33" name="Text 31"/>
          <p:cNvSpPr txBox="1"/>
          <p:nvPr/>
        </p:nvSpPr>
        <p:spPr>
          <a:xfrm>
            <a:off x="3840480" y="4866437"/>
            <a:ext cx="7571232" cy="415138"/>
          </a:xfrm>
          <a:prstGeom prst="rect">
            <a:avLst/>
          </a:prstGeom>
          <a:noFill/>
          <a:ln/>
        </p:spPr>
        <p:txBody>
          <a:bodyPr wrap="square" lIns="0" tIns="0" rIns="0" bIns="0" rtlCol="0" anchor="ctr"/>
          <a:lstStyle/>
          <a:p>
            <a:pPr marL="0" indent="0">
              <a:lnSpc>
                <a:spcPct val="110000"/>
              </a:lnSpc>
              <a:buNone/>
            </a:pPr>
            <a:r>
              <a:rPr lang="en-US" sz="1050" dirty="0">
                <a:solidFill>
                  <a:srgbClr val="9FB3C8"/>
                </a:solidFill>
                <a:latin typeface="Calibri" pitchFamily="34" charset="0"/>
                <a:ea typeface="Calibri" pitchFamily="34" charset="-122"/>
                <a:cs typeface="Calibri" pitchFamily="34" charset="-120"/>
              </a:rPr>
              <a:t>Tools for dev, docs/presentations, communication, and task scheduling.</a:t>
            </a:r>
            <a:endParaRPr lang="en-US" sz="1050" dirty="0"/>
          </a:p>
        </p:txBody>
      </p:sp>
      <p:sp>
        <p:nvSpPr>
          <p:cNvPr id="34" name="Shape 32"/>
          <p:cNvSpPr/>
          <p:nvPr/>
        </p:nvSpPr>
        <p:spPr>
          <a:xfrm>
            <a:off x="3154680" y="5437022"/>
            <a:ext cx="8485632" cy="826618"/>
          </a:xfrm>
          <a:prstGeom prst="roundRect">
            <a:avLst>
              <a:gd name="adj" fmla="val 7743"/>
            </a:avLst>
          </a:prstGeom>
          <a:solidFill>
            <a:srgbClr val="10203D"/>
          </a:solidFill>
          <a:ln/>
        </p:spPr>
        <p:txBody>
          <a:bodyPr/>
          <a:lstStyle/>
          <a:p>
            <a:endParaRPr lang="en-US"/>
          </a:p>
        </p:txBody>
      </p:sp>
      <p:sp>
        <p:nvSpPr>
          <p:cNvPr id="35" name="Shape 33"/>
          <p:cNvSpPr/>
          <p:nvPr/>
        </p:nvSpPr>
        <p:spPr>
          <a:xfrm>
            <a:off x="3383280" y="5704027"/>
            <a:ext cx="292608" cy="292608"/>
          </a:xfrm>
          <a:prstGeom prst="ellipse">
            <a:avLst/>
          </a:prstGeom>
          <a:solidFill>
            <a:srgbClr val="16294A"/>
          </a:solidFill>
          <a:ln w="12700">
            <a:solidFill>
              <a:srgbClr val="3DDCC7"/>
            </a:solidFill>
            <a:prstDash val="solid"/>
          </a:ln>
        </p:spPr>
        <p:txBody>
          <a:bodyPr/>
          <a:lstStyle/>
          <a:p>
            <a:endParaRPr lang="en-US"/>
          </a:p>
        </p:txBody>
      </p:sp>
      <p:sp>
        <p:nvSpPr>
          <p:cNvPr id="36" name="Text 34"/>
          <p:cNvSpPr txBox="1"/>
          <p:nvPr/>
        </p:nvSpPr>
        <p:spPr>
          <a:xfrm>
            <a:off x="3383280" y="5704027"/>
            <a:ext cx="292608" cy="292608"/>
          </a:xfrm>
          <a:prstGeom prst="rect">
            <a:avLst/>
          </a:prstGeom>
          <a:noFill/>
          <a:ln/>
        </p:spPr>
        <p:txBody>
          <a:bodyPr wrap="square" lIns="0" tIns="0" rIns="0" bIns="0" rtlCol="0" anchor="ctr"/>
          <a:lstStyle/>
          <a:p>
            <a:pPr marL="0" indent="0" algn="ctr">
              <a:buNone/>
            </a:pPr>
            <a:r>
              <a:rPr lang="en-US" sz="1200" b="1" dirty="0">
                <a:solidFill>
                  <a:srgbClr val="3DDCC7"/>
                </a:solidFill>
                <a:latin typeface="Calibri" pitchFamily="34" charset="0"/>
                <a:ea typeface="Calibri" pitchFamily="34" charset="-122"/>
                <a:cs typeface="Calibri" pitchFamily="34" charset="-120"/>
              </a:rPr>
              <a:t>5</a:t>
            </a:r>
            <a:endParaRPr lang="en-US" sz="1200" dirty="0"/>
          </a:p>
        </p:txBody>
      </p:sp>
      <p:sp>
        <p:nvSpPr>
          <p:cNvPr id="37" name="Text 35"/>
          <p:cNvSpPr txBox="1"/>
          <p:nvPr/>
        </p:nvSpPr>
        <p:spPr>
          <a:xfrm>
            <a:off x="3840480" y="5510174"/>
            <a:ext cx="7571232" cy="292608"/>
          </a:xfrm>
          <a:prstGeom prst="rect">
            <a:avLst/>
          </a:prstGeom>
          <a:noFill/>
          <a:ln/>
        </p:spPr>
        <p:txBody>
          <a:bodyPr wrap="square" lIns="0" tIns="0" rIns="0" bIns="0" rtlCol="0" anchor="ctr"/>
          <a:lstStyle/>
          <a:p>
            <a:pPr marL="0" indent="0">
              <a:buNone/>
            </a:pPr>
            <a:r>
              <a:rPr lang="en-US" sz="1250" b="1" dirty="0">
                <a:solidFill>
                  <a:srgbClr val="FFFFFF"/>
                </a:solidFill>
                <a:latin typeface="Cambria" pitchFamily="34" charset="0"/>
                <a:ea typeface="Cambria" pitchFamily="34" charset="-122"/>
                <a:cs typeface="Cambria" pitchFamily="34" charset="-120"/>
              </a:rPr>
              <a:t>Documentation</a:t>
            </a:r>
            <a:endParaRPr lang="en-US" sz="1250" dirty="0"/>
          </a:p>
        </p:txBody>
      </p:sp>
      <p:sp>
        <p:nvSpPr>
          <p:cNvPr id="38" name="Text 36"/>
          <p:cNvSpPr txBox="1"/>
          <p:nvPr/>
        </p:nvSpPr>
        <p:spPr>
          <a:xfrm>
            <a:off x="3840480" y="5802782"/>
            <a:ext cx="7571232" cy="415138"/>
          </a:xfrm>
          <a:prstGeom prst="rect">
            <a:avLst/>
          </a:prstGeom>
          <a:noFill/>
          <a:ln/>
        </p:spPr>
        <p:txBody>
          <a:bodyPr wrap="square" lIns="0" tIns="0" rIns="0" bIns="0" rtlCol="0" anchor="ctr"/>
          <a:lstStyle/>
          <a:p>
            <a:pPr marL="0" indent="0">
              <a:lnSpc>
                <a:spcPct val="110000"/>
              </a:lnSpc>
              <a:buNone/>
            </a:pPr>
            <a:r>
              <a:rPr lang="en-US" sz="1050" dirty="0">
                <a:solidFill>
                  <a:srgbClr val="9FB3C8"/>
                </a:solidFill>
                <a:latin typeface="Calibri" pitchFamily="34" charset="0"/>
                <a:ea typeface="Calibri" pitchFamily="34" charset="-122"/>
                <a:cs typeface="Calibri" pitchFamily="34" charset="-120"/>
              </a:rPr>
              <a:t>Create the Requirement Document, Design Document, and Test Plan.</a:t>
            </a:r>
            <a:endParaRPr lang="en-US" sz="10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B1730"/>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9144000" cy="292608"/>
          </a:xfrm>
          <a:prstGeom prst="rect">
            <a:avLst/>
          </a:prstGeom>
          <a:noFill/>
          <a:ln/>
        </p:spPr>
        <p:txBody>
          <a:bodyPr wrap="square" lIns="0" tIns="0" rIns="0" bIns="0" rtlCol="0" anchor="ctr"/>
          <a:lstStyle/>
          <a:p>
            <a:pPr marL="0" indent="0">
              <a:buNone/>
            </a:pPr>
            <a:r>
              <a:rPr lang="en-US" sz="1300" b="1" kern="0" spc="200" dirty="0">
                <a:solidFill>
                  <a:srgbClr val="3DDCC7"/>
                </a:solidFill>
                <a:latin typeface="Calibri" pitchFamily="34" charset="0"/>
                <a:ea typeface="Calibri" pitchFamily="34" charset="-122"/>
                <a:cs typeface="Calibri" pitchFamily="34" charset="-120"/>
              </a:rPr>
              <a:t>MILESTONE 2 — OCT 26, 2026</a:t>
            </a:r>
            <a:endParaRPr lang="en-US" sz="1300" dirty="0"/>
          </a:p>
        </p:txBody>
      </p:sp>
      <p:sp>
        <p:nvSpPr>
          <p:cNvPr id="3" name="Text 1"/>
          <p:cNvSpPr txBox="1"/>
          <p:nvPr/>
        </p:nvSpPr>
        <p:spPr>
          <a:xfrm>
            <a:off x="548640" y="658368"/>
            <a:ext cx="10515600" cy="731520"/>
          </a:xfrm>
          <a:prstGeom prst="rect">
            <a:avLst/>
          </a:prstGeom>
          <a:noFill/>
          <a:ln/>
        </p:spPr>
        <p:txBody>
          <a:bodyPr wrap="square" lIns="0" tIns="0" rIns="0" bIns="0" rtlCol="0" anchor="ctr"/>
          <a:lstStyle/>
          <a:p>
            <a:pPr marL="0" indent="0">
              <a:buNone/>
            </a:pPr>
            <a:r>
              <a:rPr lang="en-US" sz="3200" b="1" dirty="0">
                <a:solidFill>
                  <a:srgbClr val="FFFFFF"/>
                </a:solidFill>
                <a:latin typeface="Cambria" pitchFamily="34" charset="0"/>
                <a:ea typeface="Cambria" pitchFamily="34" charset="-122"/>
                <a:cs typeface="Cambria" pitchFamily="34" charset="-120"/>
              </a:rPr>
              <a:t>Build out the pipeline</a:t>
            </a:r>
            <a:endParaRPr lang="en-US" sz="3200" dirty="0"/>
          </a:p>
        </p:txBody>
      </p:sp>
      <p:sp>
        <p:nvSpPr>
          <p:cNvPr id="4" name="Text 2"/>
          <p:cNvSpPr txBox="1"/>
          <p:nvPr/>
        </p:nvSpPr>
        <p:spPr>
          <a:xfrm>
            <a:off x="11475720" y="6510528"/>
            <a:ext cx="548640" cy="274320"/>
          </a:xfrm>
          <a:prstGeom prst="rect">
            <a:avLst/>
          </a:prstGeom>
          <a:noFill/>
          <a:ln/>
        </p:spPr>
        <p:txBody>
          <a:bodyPr wrap="square" lIns="0" tIns="0" rIns="0" bIns="0" rtlCol="0" anchor="ctr"/>
          <a:lstStyle/>
          <a:p>
            <a:pPr marL="0" indent="0" algn="r">
              <a:buNone/>
            </a:pPr>
            <a:r>
              <a:rPr lang="en-US" sz="900" dirty="0">
                <a:solidFill>
                  <a:srgbClr val="7488A3"/>
                </a:solidFill>
                <a:latin typeface="Calibri" pitchFamily="34" charset="0"/>
                <a:ea typeface="Calibri" pitchFamily="34" charset="-122"/>
                <a:cs typeface="Calibri" pitchFamily="34" charset="-120"/>
              </a:rPr>
              <a:t>12 / 14</a:t>
            </a:r>
            <a:endParaRPr lang="en-US" sz="900" dirty="0"/>
          </a:p>
        </p:txBody>
      </p:sp>
      <p:sp>
        <p:nvSpPr>
          <p:cNvPr id="5" name="Text 3"/>
          <p:cNvSpPr txBox="1"/>
          <p:nvPr/>
        </p:nvSpPr>
        <p:spPr>
          <a:xfrm>
            <a:off x="457200" y="6510528"/>
            <a:ext cx="5486400" cy="274320"/>
          </a:xfrm>
          <a:prstGeom prst="rect">
            <a:avLst/>
          </a:prstGeom>
          <a:noFill/>
          <a:ln/>
        </p:spPr>
        <p:txBody>
          <a:bodyPr wrap="square" lIns="0" tIns="0" rIns="0" bIns="0" rtlCol="0" anchor="ctr"/>
          <a:lstStyle/>
          <a:p>
            <a:pPr marL="0" indent="0" algn="l">
              <a:buNone/>
            </a:pPr>
            <a:r>
              <a:rPr lang="en-US" sz="900" dirty="0">
                <a:solidFill>
                  <a:srgbClr val="7488A3"/>
                </a:solidFill>
                <a:latin typeface="Calibri" pitchFamily="34" charset="0"/>
                <a:ea typeface="Calibri" pitchFamily="34" charset="-122"/>
                <a:cs typeface="Calibri" pitchFamily="34" charset="-120"/>
              </a:rPr>
              <a:t>SHIELD — Software &amp; Autonomy Overview</a:t>
            </a:r>
            <a:endParaRPr lang="en-US" sz="900" dirty="0"/>
          </a:p>
        </p:txBody>
      </p:sp>
      <p:sp>
        <p:nvSpPr>
          <p:cNvPr id="6" name="Shape 4"/>
          <p:cNvSpPr/>
          <p:nvPr/>
        </p:nvSpPr>
        <p:spPr>
          <a:xfrm>
            <a:off x="548640" y="1691640"/>
            <a:ext cx="2331720" cy="4160520"/>
          </a:xfrm>
          <a:prstGeom prst="roundRect">
            <a:avLst>
              <a:gd name="adj" fmla="val 3529"/>
            </a:avLst>
          </a:prstGeom>
          <a:solidFill>
            <a:srgbClr val="10203D"/>
          </a:solidFill>
          <a:ln/>
        </p:spPr>
        <p:txBody>
          <a:bodyPr/>
          <a:lstStyle/>
          <a:p>
            <a:endParaRPr lang="en-US"/>
          </a:p>
        </p:txBody>
      </p:sp>
      <p:sp>
        <p:nvSpPr>
          <p:cNvPr id="7" name="Text 5"/>
          <p:cNvSpPr txBox="1"/>
          <p:nvPr/>
        </p:nvSpPr>
        <p:spPr>
          <a:xfrm>
            <a:off x="548640" y="2240280"/>
            <a:ext cx="2331720" cy="1371600"/>
          </a:xfrm>
          <a:prstGeom prst="rect">
            <a:avLst/>
          </a:prstGeom>
          <a:noFill/>
          <a:ln/>
        </p:spPr>
        <p:txBody>
          <a:bodyPr wrap="square" lIns="0" tIns="0" rIns="0" bIns="0" rtlCol="0" anchor="ctr"/>
          <a:lstStyle/>
          <a:p>
            <a:pPr marL="0" indent="0" algn="ctr">
              <a:buNone/>
            </a:pPr>
            <a:r>
              <a:rPr lang="en-US" sz="7000" b="1" dirty="0">
                <a:solidFill>
                  <a:srgbClr val="F5B942"/>
                </a:solidFill>
                <a:latin typeface="Cambria" pitchFamily="34" charset="0"/>
                <a:ea typeface="Cambria" pitchFamily="34" charset="-122"/>
                <a:cs typeface="Cambria" pitchFamily="34" charset="-120"/>
              </a:rPr>
              <a:t>M2</a:t>
            </a:r>
            <a:endParaRPr lang="en-US" sz="7000" dirty="0"/>
          </a:p>
        </p:txBody>
      </p:sp>
      <p:sp>
        <p:nvSpPr>
          <p:cNvPr id="8" name="Text 6"/>
          <p:cNvSpPr txBox="1"/>
          <p:nvPr/>
        </p:nvSpPr>
        <p:spPr>
          <a:xfrm>
            <a:off x="548640" y="3657600"/>
            <a:ext cx="2331720" cy="365760"/>
          </a:xfrm>
          <a:prstGeom prst="rect">
            <a:avLst/>
          </a:prstGeom>
          <a:noFill/>
          <a:ln/>
        </p:spPr>
        <p:txBody>
          <a:bodyPr wrap="square" lIns="0" tIns="0" rIns="0" bIns="0" rtlCol="0" anchor="ctr"/>
          <a:lstStyle/>
          <a:p>
            <a:pPr marL="0" indent="0" algn="ctr">
              <a:buNone/>
            </a:pPr>
            <a:r>
              <a:rPr lang="en-US" sz="1300" b="1" dirty="0">
                <a:solidFill>
                  <a:srgbClr val="3DDCC7"/>
                </a:solidFill>
                <a:latin typeface="Calibri" pitchFamily="34" charset="0"/>
                <a:ea typeface="Calibri" pitchFamily="34" charset="-122"/>
                <a:cs typeface="Calibri" pitchFamily="34" charset="-120"/>
              </a:rPr>
              <a:t>Oct 26, 2026</a:t>
            </a:r>
            <a:endParaRPr lang="en-US" sz="1300" dirty="0"/>
          </a:p>
        </p:txBody>
      </p:sp>
      <p:sp>
        <p:nvSpPr>
          <p:cNvPr id="9" name="Shape 7"/>
          <p:cNvSpPr/>
          <p:nvPr/>
        </p:nvSpPr>
        <p:spPr>
          <a:xfrm>
            <a:off x="914400" y="4206240"/>
            <a:ext cx="1600200" cy="0"/>
          </a:xfrm>
          <a:prstGeom prst="line">
            <a:avLst/>
          </a:prstGeom>
          <a:noFill/>
          <a:ln w="12700">
            <a:solidFill>
              <a:srgbClr val="223454"/>
            </a:solidFill>
            <a:prstDash val="solid"/>
          </a:ln>
        </p:spPr>
        <p:txBody>
          <a:bodyPr/>
          <a:lstStyle/>
          <a:p>
            <a:endParaRPr lang="en-US"/>
          </a:p>
        </p:txBody>
      </p:sp>
      <p:sp>
        <p:nvSpPr>
          <p:cNvPr id="10" name="Text 8"/>
          <p:cNvSpPr txBox="1"/>
          <p:nvPr/>
        </p:nvSpPr>
        <p:spPr>
          <a:xfrm>
            <a:off x="731520" y="4389120"/>
            <a:ext cx="1965960" cy="365760"/>
          </a:xfrm>
          <a:prstGeom prst="rect">
            <a:avLst/>
          </a:prstGeom>
          <a:noFill/>
          <a:ln/>
        </p:spPr>
        <p:txBody>
          <a:bodyPr wrap="square" lIns="0" tIns="0" rIns="0" bIns="0" rtlCol="0" anchor="ctr"/>
          <a:lstStyle/>
          <a:p>
            <a:pPr marL="0" indent="0" algn="ctr">
              <a:buNone/>
            </a:pPr>
            <a:r>
              <a:rPr lang="en-US" sz="1100" dirty="0">
                <a:solidFill>
                  <a:srgbClr val="7488A3"/>
                </a:solidFill>
                <a:latin typeface="Calibri" pitchFamily="34" charset="0"/>
                <a:ea typeface="Calibri" pitchFamily="34" charset="-122"/>
                <a:cs typeface="Calibri" pitchFamily="34" charset="-120"/>
              </a:rPr>
              <a:t>Milestone 2 of 3</a:t>
            </a:r>
            <a:endParaRPr lang="en-US" sz="1100" dirty="0"/>
          </a:p>
        </p:txBody>
      </p:sp>
      <p:sp>
        <p:nvSpPr>
          <p:cNvPr id="11" name="Shape 9"/>
          <p:cNvSpPr/>
          <p:nvPr/>
        </p:nvSpPr>
        <p:spPr>
          <a:xfrm>
            <a:off x="1362456" y="4892040"/>
            <a:ext cx="82296" cy="82296"/>
          </a:xfrm>
          <a:prstGeom prst="ellipse">
            <a:avLst/>
          </a:prstGeom>
          <a:solidFill>
            <a:srgbClr val="F5B942"/>
          </a:solidFill>
          <a:ln/>
        </p:spPr>
        <p:txBody>
          <a:bodyPr/>
          <a:lstStyle/>
          <a:p>
            <a:endParaRPr lang="en-US"/>
          </a:p>
        </p:txBody>
      </p:sp>
      <p:sp>
        <p:nvSpPr>
          <p:cNvPr id="12" name="Shape 10"/>
          <p:cNvSpPr/>
          <p:nvPr/>
        </p:nvSpPr>
        <p:spPr>
          <a:xfrm>
            <a:off x="1673352" y="4892040"/>
            <a:ext cx="82296" cy="82296"/>
          </a:xfrm>
          <a:prstGeom prst="ellipse">
            <a:avLst/>
          </a:prstGeom>
          <a:solidFill>
            <a:srgbClr val="F5B942"/>
          </a:solidFill>
          <a:ln/>
        </p:spPr>
        <p:txBody>
          <a:bodyPr/>
          <a:lstStyle/>
          <a:p>
            <a:endParaRPr lang="en-US"/>
          </a:p>
        </p:txBody>
      </p:sp>
      <p:sp>
        <p:nvSpPr>
          <p:cNvPr id="13" name="Shape 11"/>
          <p:cNvSpPr/>
          <p:nvPr/>
        </p:nvSpPr>
        <p:spPr>
          <a:xfrm>
            <a:off x="1984248" y="4892040"/>
            <a:ext cx="82296" cy="82296"/>
          </a:xfrm>
          <a:prstGeom prst="ellipse">
            <a:avLst/>
          </a:prstGeom>
          <a:solidFill>
            <a:srgbClr val="223454"/>
          </a:solidFill>
          <a:ln/>
        </p:spPr>
        <p:txBody>
          <a:bodyPr/>
          <a:lstStyle/>
          <a:p>
            <a:endParaRPr lang="en-US"/>
          </a:p>
        </p:txBody>
      </p:sp>
      <p:sp>
        <p:nvSpPr>
          <p:cNvPr id="14" name="Shape 12"/>
          <p:cNvSpPr/>
          <p:nvPr/>
        </p:nvSpPr>
        <p:spPr>
          <a:xfrm>
            <a:off x="3154680" y="1691640"/>
            <a:ext cx="8485632" cy="826618"/>
          </a:xfrm>
          <a:prstGeom prst="roundRect">
            <a:avLst>
              <a:gd name="adj" fmla="val 7743"/>
            </a:avLst>
          </a:prstGeom>
          <a:solidFill>
            <a:srgbClr val="10203D"/>
          </a:solidFill>
          <a:ln/>
        </p:spPr>
        <p:txBody>
          <a:bodyPr/>
          <a:lstStyle/>
          <a:p>
            <a:endParaRPr lang="en-US"/>
          </a:p>
        </p:txBody>
      </p:sp>
      <p:sp>
        <p:nvSpPr>
          <p:cNvPr id="15" name="Shape 13"/>
          <p:cNvSpPr/>
          <p:nvPr/>
        </p:nvSpPr>
        <p:spPr>
          <a:xfrm>
            <a:off x="3383280" y="1958645"/>
            <a:ext cx="292608" cy="292608"/>
          </a:xfrm>
          <a:prstGeom prst="ellipse">
            <a:avLst/>
          </a:prstGeom>
          <a:solidFill>
            <a:srgbClr val="16294A"/>
          </a:solidFill>
          <a:ln w="12700">
            <a:solidFill>
              <a:srgbClr val="3DDCC7"/>
            </a:solidFill>
            <a:prstDash val="solid"/>
          </a:ln>
        </p:spPr>
        <p:txBody>
          <a:bodyPr/>
          <a:lstStyle/>
          <a:p>
            <a:endParaRPr lang="en-US"/>
          </a:p>
        </p:txBody>
      </p:sp>
      <p:sp>
        <p:nvSpPr>
          <p:cNvPr id="16" name="Text 14"/>
          <p:cNvSpPr txBox="1"/>
          <p:nvPr/>
        </p:nvSpPr>
        <p:spPr>
          <a:xfrm>
            <a:off x="3383280" y="1958645"/>
            <a:ext cx="292608" cy="292608"/>
          </a:xfrm>
          <a:prstGeom prst="rect">
            <a:avLst/>
          </a:prstGeom>
          <a:noFill/>
          <a:ln/>
        </p:spPr>
        <p:txBody>
          <a:bodyPr wrap="square" lIns="0" tIns="0" rIns="0" bIns="0" rtlCol="0" anchor="ctr"/>
          <a:lstStyle/>
          <a:p>
            <a:pPr marL="0" indent="0" algn="ctr">
              <a:buNone/>
            </a:pPr>
            <a:r>
              <a:rPr lang="en-US" sz="1200" b="1" dirty="0">
                <a:solidFill>
                  <a:srgbClr val="3DDCC7"/>
                </a:solidFill>
                <a:latin typeface="Calibri" pitchFamily="34" charset="0"/>
                <a:ea typeface="Calibri" pitchFamily="34" charset="-122"/>
                <a:cs typeface="Calibri" pitchFamily="34" charset="-120"/>
              </a:rPr>
              <a:t>1</a:t>
            </a:r>
            <a:endParaRPr lang="en-US" sz="1200" dirty="0"/>
          </a:p>
        </p:txBody>
      </p:sp>
      <p:sp>
        <p:nvSpPr>
          <p:cNvPr id="17" name="Text 15"/>
          <p:cNvSpPr txBox="1"/>
          <p:nvPr/>
        </p:nvSpPr>
        <p:spPr>
          <a:xfrm>
            <a:off x="3840480" y="1764792"/>
            <a:ext cx="7571232" cy="292608"/>
          </a:xfrm>
          <a:prstGeom prst="rect">
            <a:avLst/>
          </a:prstGeom>
          <a:noFill/>
          <a:ln/>
        </p:spPr>
        <p:txBody>
          <a:bodyPr wrap="square" lIns="0" tIns="0" rIns="0" bIns="0" rtlCol="0" anchor="ctr"/>
          <a:lstStyle/>
          <a:p>
            <a:pPr marL="0" indent="0">
              <a:buNone/>
            </a:pPr>
            <a:r>
              <a:rPr lang="en-US" sz="1250" b="1" dirty="0">
                <a:solidFill>
                  <a:srgbClr val="FFFFFF"/>
                </a:solidFill>
                <a:latin typeface="Cambria" pitchFamily="34" charset="0"/>
                <a:ea typeface="Cambria" pitchFamily="34" charset="-122"/>
                <a:cs typeface="Cambria" pitchFamily="34" charset="-120"/>
              </a:rPr>
              <a:t>Complete the STE</a:t>
            </a:r>
            <a:endParaRPr lang="en-US" sz="1250" dirty="0"/>
          </a:p>
        </p:txBody>
      </p:sp>
      <p:sp>
        <p:nvSpPr>
          <p:cNvPr id="18" name="Text 16"/>
          <p:cNvSpPr txBox="1"/>
          <p:nvPr/>
        </p:nvSpPr>
        <p:spPr>
          <a:xfrm>
            <a:off x="3840480" y="2057400"/>
            <a:ext cx="7571232" cy="415138"/>
          </a:xfrm>
          <a:prstGeom prst="rect">
            <a:avLst/>
          </a:prstGeom>
          <a:noFill/>
          <a:ln/>
        </p:spPr>
        <p:txBody>
          <a:bodyPr wrap="square" lIns="0" tIns="0" rIns="0" bIns="0" rtlCol="0" anchor="ctr"/>
          <a:lstStyle/>
          <a:p>
            <a:pPr marL="0" indent="0">
              <a:lnSpc>
                <a:spcPct val="110000"/>
              </a:lnSpc>
              <a:buNone/>
            </a:pPr>
            <a:r>
              <a:rPr lang="en-US" sz="1050" dirty="0">
                <a:solidFill>
                  <a:srgbClr val="9FB3C8"/>
                </a:solidFill>
                <a:latin typeface="Calibri" pitchFamily="34" charset="0"/>
                <a:ea typeface="Calibri" pitchFamily="34" charset="-122"/>
                <a:cs typeface="Calibri" pitchFamily="34" charset="-120"/>
              </a:rPr>
              <a:t>Finish development of the SHIELD Test Environment program.</a:t>
            </a:r>
            <a:endParaRPr lang="en-US" sz="1050" dirty="0"/>
          </a:p>
        </p:txBody>
      </p:sp>
      <p:sp>
        <p:nvSpPr>
          <p:cNvPr id="19" name="Shape 17"/>
          <p:cNvSpPr/>
          <p:nvPr/>
        </p:nvSpPr>
        <p:spPr>
          <a:xfrm>
            <a:off x="3154680" y="2627986"/>
            <a:ext cx="8485632" cy="826618"/>
          </a:xfrm>
          <a:prstGeom prst="roundRect">
            <a:avLst>
              <a:gd name="adj" fmla="val 7743"/>
            </a:avLst>
          </a:prstGeom>
          <a:solidFill>
            <a:srgbClr val="10203D"/>
          </a:solidFill>
          <a:ln/>
        </p:spPr>
        <p:txBody>
          <a:bodyPr/>
          <a:lstStyle/>
          <a:p>
            <a:endParaRPr lang="en-US"/>
          </a:p>
        </p:txBody>
      </p:sp>
      <p:sp>
        <p:nvSpPr>
          <p:cNvPr id="20" name="Shape 18"/>
          <p:cNvSpPr/>
          <p:nvPr/>
        </p:nvSpPr>
        <p:spPr>
          <a:xfrm>
            <a:off x="3383280" y="2894990"/>
            <a:ext cx="292608" cy="292608"/>
          </a:xfrm>
          <a:prstGeom prst="ellipse">
            <a:avLst/>
          </a:prstGeom>
          <a:solidFill>
            <a:srgbClr val="16294A"/>
          </a:solidFill>
          <a:ln w="12700">
            <a:solidFill>
              <a:srgbClr val="3DDCC7"/>
            </a:solidFill>
            <a:prstDash val="solid"/>
          </a:ln>
        </p:spPr>
        <p:txBody>
          <a:bodyPr/>
          <a:lstStyle/>
          <a:p>
            <a:endParaRPr lang="en-US"/>
          </a:p>
        </p:txBody>
      </p:sp>
      <p:sp>
        <p:nvSpPr>
          <p:cNvPr id="21" name="Text 19"/>
          <p:cNvSpPr txBox="1"/>
          <p:nvPr/>
        </p:nvSpPr>
        <p:spPr>
          <a:xfrm>
            <a:off x="3383280" y="2894990"/>
            <a:ext cx="292608" cy="292608"/>
          </a:xfrm>
          <a:prstGeom prst="rect">
            <a:avLst/>
          </a:prstGeom>
          <a:noFill/>
          <a:ln/>
        </p:spPr>
        <p:txBody>
          <a:bodyPr wrap="square" lIns="0" tIns="0" rIns="0" bIns="0" rtlCol="0" anchor="ctr"/>
          <a:lstStyle/>
          <a:p>
            <a:pPr marL="0" indent="0" algn="ctr">
              <a:buNone/>
            </a:pPr>
            <a:r>
              <a:rPr lang="en-US" sz="1200" b="1" dirty="0">
                <a:solidFill>
                  <a:srgbClr val="3DDCC7"/>
                </a:solidFill>
                <a:latin typeface="Calibri" pitchFamily="34" charset="0"/>
                <a:ea typeface="Calibri" pitchFamily="34" charset="-122"/>
                <a:cs typeface="Calibri" pitchFamily="34" charset="-120"/>
              </a:rPr>
              <a:t>2</a:t>
            </a:r>
            <a:endParaRPr lang="en-US" sz="1200" dirty="0"/>
          </a:p>
        </p:txBody>
      </p:sp>
      <p:sp>
        <p:nvSpPr>
          <p:cNvPr id="22" name="Text 20"/>
          <p:cNvSpPr txBox="1"/>
          <p:nvPr/>
        </p:nvSpPr>
        <p:spPr>
          <a:xfrm>
            <a:off x="3840480" y="2701138"/>
            <a:ext cx="7571232" cy="292608"/>
          </a:xfrm>
          <a:prstGeom prst="rect">
            <a:avLst/>
          </a:prstGeom>
          <a:noFill/>
          <a:ln/>
        </p:spPr>
        <p:txBody>
          <a:bodyPr wrap="square" lIns="0" tIns="0" rIns="0" bIns="0" rtlCol="0" anchor="ctr"/>
          <a:lstStyle/>
          <a:p>
            <a:pPr marL="0" indent="0">
              <a:buNone/>
            </a:pPr>
            <a:r>
              <a:rPr lang="en-US" sz="1250" b="1" dirty="0">
                <a:solidFill>
                  <a:srgbClr val="FFFFFF"/>
                </a:solidFill>
                <a:latin typeface="Cambria" pitchFamily="34" charset="0"/>
                <a:ea typeface="Cambria" pitchFamily="34" charset="-122"/>
                <a:cs typeface="Cambria" pitchFamily="34" charset="-120"/>
              </a:rPr>
              <a:t>Train the custom model</a:t>
            </a:r>
            <a:endParaRPr lang="en-US" sz="1250" dirty="0"/>
          </a:p>
        </p:txBody>
      </p:sp>
      <p:sp>
        <p:nvSpPr>
          <p:cNvPr id="23" name="Text 21"/>
          <p:cNvSpPr txBox="1"/>
          <p:nvPr/>
        </p:nvSpPr>
        <p:spPr>
          <a:xfrm>
            <a:off x="3840480" y="2993746"/>
            <a:ext cx="7571232" cy="415138"/>
          </a:xfrm>
          <a:prstGeom prst="rect">
            <a:avLst/>
          </a:prstGeom>
          <a:noFill/>
          <a:ln/>
        </p:spPr>
        <p:txBody>
          <a:bodyPr wrap="square" lIns="0" tIns="0" rIns="0" bIns="0" rtlCol="0" anchor="ctr"/>
          <a:lstStyle/>
          <a:p>
            <a:pPr marL="0" indent="0">
              <a:lnSpc>
                <a:spcPct val="110000"/>
              </a:lnSpc>
              <a:buNone/>
            </a:pPr>
            <a:r>
              <a:rPr lang="en-US" sz="1050" dirty="0">
                <a:solidFill>
                  <a:srgbClr val="9FB3C8"/>
                </a:solidFill>
                <a:latin typeface="Calibri" pitchFamily="34" charset="0"/>
                <a:ea typeface="Calibri" pitchFamily="34" charset="-122"/>
                <a:cs typeface="Calibri" pitchFamily="34" charset="-120"/>
              </a:rPr>
              <a:t>Find, combine, and train a custom drone/balloon detection model.</a:t>
            </a:r>
            <a:endParaRPr lang="en-US" sz="1050" dirty="0"/>
          </a:p>
        </p:txBody>
      </p:sp>
      <p:sp>
        <p:nvSpPr>
          <p:cNvPr id="24" name="Shape 22"/>
          <p:cNvSpPr/>
          <p:nvPr/>
        </p:nvSpPr>
        <p:spPr>
          <a:xfrm>
            <a:off x="3154680" y="3564331"/>
            <a:ext cx="8485632" cy="826618"/>
          </a:xfrm>
          <a:prstGeom prst="roundRect">
            <a:avLst>
              <a:gd name="adj" fmla="val 7743"/>
            </a:avLst>
          </a:prstGeom>
          <a:solidFill>
            <a:srgbClr val="10203D"/>
          </a:solidFill>
          <a:ln/>
        </p:spPr>
        <p:txBody>
          <a:bodyPr/>
          <a:lstStyle/>
          <a:p>
            <a:endParaRPr lang="en-US"/>
          </a:p>
        </p:txBody>
      </p:sp>
      <p:sp>
        <p:nvSpPr>
          <p:cNvPr id="25" name="Shape 23"/>
          <p:cNvSpPr/>
          <p:nvPr/>
        </p:nvSpPr>
        <p:spPr>
          <a:xfrm>
            <a:off x="3383280" y="3831336"/>
            <a:ext cx="292608" cy="292608"/>
          </a:xfrm>
          <a:prstGeom prst="ellipse">
            <a:avLst/>
          </a:prstGeom>
          <a:solidFill>
            <a:srgbClr val="16294A"/>
          </a:solidFill>
          <a:ln w="12700">
            <a:solidFill>
              <a:srgbClr val="3DDCC7"/>
            </a:solidFill>
            <a:prstDash val="solid"/>
          </a:ln>
        </p:spPr>
        <p:txBody>
          <a:bodyPr/>
          <a:lstStyle/>
          <a:p>
            <a:endParaRPr lang="en-US"/>
          </a:p>
        </p:txBody>
      </p:sp>
      <p:sp>
        <p:nvSpPr>
          <p:cNvPr id="26" name="Text 24"/>
          <p:cNvSpPr txBox="1"/>
          <p:nvPr/>
        </p:nvSpPr>
        <p:spPr>
          <a:xfrm>
            <a:off x="3383280" y="3831336"/>
            <a:ext cx="292608" cy="292608"/>
          </a:xfrm>
          <a:prstGeom prst="rect">
            <a:avLst/>
          </a:prstGeom>
          <a:noFill/>
          <a:ln/>
        </p:spPr>
        <p:txBody>
          <a:bodyPr wrap="square" lIns="0" tIns="0" rIns="0" bIns="0" rtlCol="0" anchor="ctr"/>
          <a:lstStyle/>
          <a:p>
            <a:pPr marL="0" indent="0" algn="ctr">
              <a:buNone/>
            </a:pPr>
            <a:r>
              <a:rPr lang="en-US" sz="1200" b="1" dirty="0">
                <a:solidFill>
                  <a:srgbClr val="3DDCC7"/>
                </a:solidFill>
                <a:latin typeface="Calibri" pitchFamily="34" charset="0"/>
                <a:ea typeface="Calibri" pitchFamily="34" charset="-122"/>
                <a:cs typeface="Calibri" pitchFamily="34" charset="-120"/>
              </a:rPr>
              <a:t>3</a:t>
            </a:r>
            <a:endParaRPr lang="en-US" sz="1200" dirty="0"/>
          </a:p>
        </p:txBody>
      </p:sp>
      <p:sp>
        <p:nvSpPr>
          <p:cNvPr id="27" name="Text 25"/>
          <p:cNvSpPr txBox="1"/>
          <p:nvPr/>
        </p:nvSpPr>
        <p:spPr>
          <a:xfrm>
            <a:off x="3840480" y="3637483"/>
            <a:ext cx="7571232" cy="292608"/>
          </a:xfrm>
          <a:prstGeom prst="rect">
            <a:avLst/>
          </a:prstGeom>
          <a:noFill/>
          <a:ln/>
        </p:spPr>
        <p:txBody>
          <a:bodyPr wrap="square" lIns="0" tIns="0" rIns="0" bIns="0" rtlCol="0" anchor="ctr"/>
          <a:lstStyle/>
          <a:p>
            <a:pPr marL="0" indent="0">
              <a:buNone/>
            </a:pPr>
            <a:r>
              <a:rPr lang="en-US" sz="1250" b="1" dirty="0">
                <a:solidFill>
                  <a:srgbClr val="FFFFFF"/>
                </a:solidFill>
                <a:latin typeface="Cambria" pitchFamily="34" charset="0"/>
                <a:ea typeface="Cambria" pitchFamily="34" charset="-122"/>
                <a:cs typeface="Cambria" pitchFamily="34" charset="-120"/>
              </a:rPr>
              <a:t>Add moving targets in Unity</a:t>
            </a:r>
            <a:endParaRPr lang="en-US" sz="1250" dirty="0"/>
          </a:p>
        </p:txBody>
      </p:sp>
      <p:sp>
        <p:nvSpPr>
          <p:cNvPr id="28" name="Text 26"/>
          <p:cNvSpPr txBox="1"/>
          <p:nvPr/>
        </p:nvSpPr>
        <p:spPr>
          <a:xfrm>
            <a:off x="3840480" y="3930091"/>
            <a:ext cx="7571232" cy="415138"/>
          </a:xfrm>
          <a:prstGeom prst="rect">
            <a:avLst/>
          </a:prstGeom>
          <a:noFill/>
          <a:ln/>
        </p:spPr>
        <p:txBody>
          <a:bodyPr wrap="square" lIns="0" tIns="0" rIns="0" bIns="0" rtlCol="0" anchor="ctr"/>
          <a:lstStyle/>
          <a:p>
            <a:pPr marL="0" indent="0">
              <a:lnSpc>
                <a:spcPct val="110000"/>
              </a:lnSpc>
              <a:buNone/>
            </a:pPr>
            <a:r>
              <a:rPr lang="en-US" sz="1050" dirty="0">
                <a:solidFill>
                  <a:srgbClr val="9FB3C8"/>
                </a:solidFill>
                <a:latin typeface="Calibri" pitchFamily="34" charset="0"/>
                <a:ea typeface="Calibri" pitchFamily="34" charset="-122"/>
                <a:cs typeface="Calibri" pitchFamily="34" charset="-120"/>
              </a:rPr>
              <a:t>Moving-target GameObject instantiation in testlib, plus motion scripting in the test scenes.</a:t>
            </a:r>
            <a:endParaRPr lang="en-US" sz="1050" dirty="0"/>
          </a:p>
        </p:txBody>
      </p:sp>
      <p:sp>
        <p:nvSpPr>
          <p:cNvPr id="29" name="Shape 27"/>
          <p:cNvSpPr/>
          <p:nvPr/>
        </p:nvSpPr>
        <p:spPr>
          <a:xfrm>
            <a:off x="3154680" y="4500677"/>
            <a:ext cx="8485632" cy="826618"/>
          </a:xfrm>
          <a:prstGeom prst="roundRect">
            <a:avLst>
              <a:gd name="adj" fmla="val 7743"/>
            </a:avLst>
          </a:prstGeom>
          <a:solidFill>
            <a:srgbClr val="10203D"/>
          </a:solidFill>
          <a:ln/>
        </p:spPr>
        <p:txBody>
          <a:bodyPr/>
          <a:lstStyle/>
          <a:p>
            <a:endParaRPr lang="en-US"/>
          </a:p>
        </p:txBody>
      </p:sp>
      <p:sp>
        <p:nvSpPr>
          <p:cNvPr id="30" name="Shape 28"/>
          <p:cNvSpPr/>
          <p:nvPr/>
        </p:nvSpPr>
        <p:spPr>
          <a:xfrm>
            <a:off x="3383280" y="4767682"/>
            <a:ext cx="292608" cy="292608"/>
          </a:xfrm>
          <a:prstGeom prst="ellipse">
            <a:avLst/>
          </a:prstGeom>
          <a:solidFill>
            <a:srgbClr val="16294A"/>
          </a:solidFill>
          <a:ln w="12700">
            <a:solidFill>
              <a:srgbClr val="3DDCC7"/>
            </a:solidFill>
            <a:prstDash val="solid"/>
          </a:ln>
        </p:spPr>
        <p:txBody>
          <a:bodyPr/>
          <a:lstStyle/>
          <a:p>
            <a:endParaRPr lang="en-US"/>
          </a:p>
        </p:txBody>
      </p:sp>
      <p:sp>
        <p:nvSpPr>
          <p:cNvPr id="31" name="Text 29"/>
          <p:cNvSpPr txBox="1"/>
          <p:nvPr/>
        </p:nvSpPr>
        <p:spPr>
          <a:xfrm>
            <a:off x="3383280" y="4767682"/>
            <a:ext cx="292608" cy="292608"/>
          </a:xfrm>
          <a:prstGeom prst="rect">
            <a:avLst/>
          </a:prstGeom>
          <a:noFill/>
          <a:ln/>
        </p:spPr>
        <p:txBody>
          <a:bodyPr wrap="square" lIns="0" tIns="0" rIns="0" bIns="0" rtlCol="0" anchor="ctr"/>
          <a:lstStyle/>
          <a:p>
            <a:pPr marL="0" indent="0" algn="ctr">
              <a:buNone/>
            </a:pPr>
            <a:r>
              <a:rPr lang="en-US" sz="1200" b="1" dirty="0">
                <a:solidFill>
                  <a:srgbClr val="3DDCC7"/>
                </a:solidFill>
                <a:latin typeface="Calibri" pitchFamily="34" charset="0"/>
                <a:ea typeface="Calibri" pitchFamily="34" charset="-122"/>
                <a:cs typeface="Calibri" pitchFamily="34" charset="-120"/>
              </a:rPr>
              <a:t>4</a:t>
            </a:r>
            <a:endParaRPr lang="en-US" sz="1200" dirty="0"/>
          </a:p>
        </p:txBody>
      </p:sp>
      <p:sp>
        <p:nvSpPr>
          <p:cNvPr id="32" name="Text 30"/>
          <p:cNvSpPr txBox="1"/>
          <p:nvPr/>
        </p:nvSpPr>
        <p:spPr>
          <a:xfrm>
            <a:off x="3840480" y="4573829"/>
            <a:ext cx="7571232" cy="292608"/>
          </a:xfrm>
          <a:prstGeom prst="rect">
            <a:avLst/>
          </a:prstGeom>
          <a:noFill/>
          <a:ln/>
        </p:spPr>
        <p:txBody>
          <a:bodyPr wrap="square" lIns="0" tIns="0" rIns="0" bIns="0" rtlCol="0" anchor="ctr"/>
          <a:lstStyle/>
          <a:p>
            <a:pPr marL="0" indent="0">
              <a:buNone/>
            </a:pPr>
            <a:r>
              <a:rPr lang="en-US" sz="1250" b="1" dirty="0">
                <a:solidFill>
                  <a:srgbClr val="FFFFFF"/>
                </a:solidFill>
                <a:latin typeface="Cambria" pitchFamily="34" charset="0"/>
                <a:ea typeface="Cambria" pitchFamily="34" charset="-122"/>
                <a:cs typeface="Cambria" pitchFamily="34" charset="-120"/>
              </a:rPr>
              <a:t>Write STE verification scripts</a:t>
            </a:r>
            <a:endParaRPr lang="en-US" sz="1250" dirty="0"/>
          </a:p>
        </p:txBody>
      </p:sp>
      <p:sp>
        <p:nvSpPr>
          <p:cNvPr id="33" name="Text 31"/>
          <p:cNvSpPr txBox="1"/>
          <p:nvPr/>
        </p:nvSpPr>
        <p:spPr>
          <a:xfrm>
            <a:off x="3840480" y="4866437"/>
            <a:ext cx="7571232" cy="415138"/>
          </a:xfrm>
          <a:prstGeom prst="rect">
            <a:avLst/>
          </a:prstGeom>
          <a:noFill/>
          <a:ln/>
        </p:spPr>
        <p:txBody>
          <a:bodyPr wrap="square" lIns="0" tIns="0" rIns="0" bIns="0" rtlCol="0" anchor="ctr"/>
          <a:lstStyle/>
          <a:p>
            <a:pPr marL="0" indent="0">
              <a:lnSpc>
                <a:spcPct val="110000"/>
              </a:lnSpc>
              <a:buNone/>
            </a:pPr>
            <a:r>
              <a:rPr lang="en-US" sz="1050" dirty="0">
                <a:solidFill>
                  <a:srgbClr val="9FB3C8"/>
                </a:solidFill>
                <a:latin typeface="Calibri" pitchFamily="34" charset="0"/>
                <a:ea typeface="Calibri" pitchFamily="34" charset="-122"/>
                <a:cs typeface="Calibri" pitchFamily="34" charset="-120"/>
              </a:rPr>
              <a:t>Implement STE test scripts to verify system and initial requirement-document requirements.</a:t>
            </a:r>
            <a:endParaRPr lang="en-US" sz="1050" dirty="0"/>
          </a:p>
        </p:txBody>
      </p:sp>
      <p:sp>
        <p:nvSpPr>
          <p:cNvPr id="34" name="Shape 32"/>
          <p:cNvSpPr/>
          <p:nvPr/>
        </p:nvSpPr>
        <p:spPr>
          <a:xfrm>
            <a:off x="3154680" y="5437022"/>
            <a:ext cx="8485632" cy="826618"/>
          </a:xfrm>
          <a:prstGeom prst="roundRect">
            <a:avLst>
              <a:gd name="adj" fmla="val 7743"/>
            </a:avLst>
          </a:prstGeom>
          <a:solidFill>
            <a:srgbClr val="10203D"/>
          </a:solidFill>
          <a:ln/>
        </p:spPr>
        <p:txBody>
          <a:bodyPr/>
          <a:lstStyle/>
          <a:p>
            <a:endParaRPr lang="en-US"/>
          </a:p>
        </p:txBody>
      </p:sp>
      <p:sp>
        <p:nvSpPr>
          <p:cNvPr id="35" name="Shape 33"/>
          <p:cNvSpPr/>
          <p:nvPr/>
        </p:nvSpPr>
        <p:spPr>
          <a:xfrm>
            <a:off x="3383280" y="5704027"/>
            <a:ext cx="292608" cy="292608"/>
          </a:xfrm>
          <a:prstGeom prst="ellipse">
            <a:avLst/>
          </a:prstGeom>
          <a:solidFill>
            <a:srgbClr val="16294A"/>
          </a:solidFill>
          <a:ln w="12700">
            <a:solidFill>
              <a:srgbClr val="3DDCC7"/>
            </a:solidFill>
            <a:prstDash val="solid"/>
          </a:ln>
        </p:spPr>
        <p:txBody>
          <a:bodyPr/>
          <a:lstStyle/>
          <a:p>
            <a:endParaRPr lang="en-US"/>
          </a:p>
        </p:txBody>
      </p:sp>
      <p:sp>
        <p:nvSpPr>
          <p:cNvPr id="36" name="Text 34"/>
          <p:cNvSpPr txBox="1"/>
          <p:nvPr/>
        </p:nvSpPr>
        <p:spPr>
          <a:xfrm>
            <a:off x="3383280" y="5704027"/>
            <a:ext cx="292608" cy="292608"/>
          </a:xfrm>
          <a:prstGeom prst="rect">
            <a:avLst/>
          </a:prstGeom>
          <a:noFill/>
          <a:ln/>
        </p:spPr>
        <p:txBody>
          <a:bodyPr wrap="square" lIns="0" tIns="0" rIns="0" bIns="0" rtlCol="0" anchor="ctr"/>
          <a:lstStyle/>
          <a:p>
            <a:pPr marL="0" indent="0" algn="ctr">
              <a:buNone/>
            </a:pPr>
            <a:r>
              <a:rPr lang="en-US" sz="1200" b="1" dirty="0">
                <a:solidFill>
                  <a:srgbClr val="3DDCC7"/>
                </a:solidFill>
                <a:latin typeface="Calibri" pitchFamily="34" charset="0"/>
                <a:ea typeface="Calibri" pitchFamily="34" charset="-122"/>
                <a:cs typeface="Calibri" pitchFamily="34" charset="-120"/>
              </a:rPr>
              <a:t>5</a:t>
            </a:r>
            <a:endParaRPr lang="en-US" sz="1200" dirty="0"/>
          </a:p>
        </p:txBody>
      </p:sp>
      <p:sp>
        <p:nvSpPr>
          <p:cNvPr id="37" name="Text 35"/>
          <p:cNvSpPr txBox="1"/>
          <p:nvPr/>
        </p:nvSpPr>
        <p:spPr>
          <a:xfrm>
            <a:off x="3840480" y="5510174"/>
            <a:ext cx="7571232" cy="292608"/>
          </a:xfrm>
          <a:prstGeom prst="rect">
            <a:avLst/>
          </a:prstGeom>
          <a:noFill/>
          <a:ln/>
        </p:spPr>
        <p:txBody>
          <a:bodyPr wrap="square" lIns="0" tIns="0" rIns="0" bIns="0" rtlCol="0" anchor="ctr"/>
          <a:lstStyle/>
          <a:p>
            <a:pPr marL="0" indent="0">
              <a:buNone/>
            </a:pPr>
            <a:r>
              <a:rPr lang="en-US" sz="1250" b="1" dirty="0">
                <a:solidFill>
                  <a:srgbClr val="FFFFFF"/>
                </a:solidFill>
                <a:latin typeface="Cambria" pitchFamily="34" charset="0"/>
                <a:ea typeface="Cambria" pitchFamily="34" charset="-122"/>
                <a:cs typeface="Cambria" pitchFamily="34" charset="-120"/>
              </a:rPr>
              <a:t>Begin manual override interface</a:t>
            </a:r>
            <a:endParaRPr lang="en-US" sz="1250" dirty="0"/>
          </a:p>
        </p:txBody>
      </p:sp>
      <p:sp>
        <p:nvSpPr>
          <p:cNvPr id="38" name="Text 36"/>
          <p:cNvSpPr txBox="1"/>
          <p:nvPr/>
        </p:nvSpPr>
        <p:spPr>
          <a:xfrm>
            <a:off x="3840480" y="5802782"/>
            <a:ext cx="7571232" cy="415138"/>
          </a:xfrm>
          <a:prstGeom prst="rect">
            <a:avLst/>
          </a:prstGeom>
          <a:noFill/>
          <a:ln/>
        </p:spPr>
        <p:txBody>
          <a:bodyPr wrap="square" lIns="0" tIns="0" rIns="0" bIns="0" rtlCol="0" anchor="ctr"/>
          <a:lstStyle/>
          <a:p>
            <a:pPr marL="0" indent="0">
              <a:lnSpc>
                <a:spcPct val="110000"/>
              </a:lnSpc>
              <a:buNone/>
            </a:pPr>
            <a:r>
              <a:rPr lang="en-US" sz="1050" dirty="0">
                <a:solidFill>
                  <a:srgbClr val="9FB3C8"/>
                </a:solidFill>
                <a:latin typeface="Calibri" pitchFamily="34" charset="0"/>
                <a:ea typeface="Calibri" pitchFamily="34" charset="-122"/>
                <a:cs typeface="Calibri" pitchFamily="34" charset="-120"/>
              </a:rPr>
              <a:t>Design and start implementing the manual override control interface.</a:t>
            </a:r>
            <a:endParaRPr lang="en-US" sz="10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B1730"/>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9144000" cy="292608"/>
          </a:xfrm>
          <a:prstGeom prst="rect">
            <a:avLst/>
          </a:prstGeom>
          <a:noFill/>
          <a:ln/>
        </p:spPr>
        <p:txBody>
          <a:bodyPr wrap="square" lIns="0" tIns="0" rIns="0" bIns="0" rtlCol="0" anchor="ctr"/>
          <a:lstStyle/>
          <a:p>
            <a:pPr marL="0" indent="0">
              <a:buNone/>
            </a:pPr>
            <a:r>
              <a:rPr lang="en-US" sz="1300" b="1" kern="0" spc="200" dirty="0">
                <a:solidFill>
                  <a:srgbClr val="3DDCC7"/>
                </a:solidFill>
                <a:latin typeface="Calibri" pitchFamily="34" charset="0"/>
                <a:ea typeface="Calibri" pitchFamily="34" charset="-122"/>
                <a:cs typeface="Calibri" pitchFamily="34" charset="-120"/>
              </a:rPr>
              <a:t>MILESTONE 3 — NOV 23, 2026</a:t>
            </a:r>
            <a:endParaRPr lang="en-US" sz="1300" dirty="0"/>
          </a:p>
        </p:txBody>
      </p:sp>
      <p:sp>
        <p:nvSpPr>
          <p:cNvPr id="3" name="Text 1"/>
          <p:cNvSpPr txBox="1"/>
          <p:nvPr/>
        </p:nvSpPr>
        <p:spPr>
          <a:xfrm>
            <a:off x="548640" y="658368"/>
            <a:ext cx="10515600" cy="731520"/>
          </a:xfrm>
          <a:prstGeom prst="rect">
            <a:avLst/>
          </a:prstGeom>
          <a:noFill/>
          <a:ln/>
        </p:spPr>
        <p:txBody>
          <a:bodyPr wrap="square" lIns="0" tIns="0" rIns="0" bIns="0" rtlCol="0" anchor="ctr"/>
          <a:lstStyle/>
          <a:p>
            <a:pPr marL="0" indent="0">
              <a:buNone/>
            </a:pPr>
            <a:r>
              <a:rPr lang="en-US" sz="3200" b="1" dirty="0">
                <a:solidFill>
                  <a:srgbClr val="FFFFFF"/>
                </a:solidFill>
                <a:latin typeface="Cambria" pitchFamily="34" charset="0"/>
                <a:ea typeface="Cambria" pitchFamily="34" charset="-122"/>
                <a:cs typeface="Cambria" pitchFamily="34" charset="-120"/>
              </a:rPr>
              <a:t>Integrate &amp; verify on hardware</a:t>
            </a:r>
            <a:endParaRPr lang="en-US" sz="3200" dirty="0"/>
          </a:p>
        </p:txBody>
      </p:sp>
      <p:sp>
        <p:nvSpPr>
          <p:cNvPr id="4" name="Text 2"/>
          <p:cNvSpPr txBox="1"/>
          <p:nvPr/>
        </p:nvSpPr>
        <p:spPr>
          <a:xfrm>
            <a:off x="11475720" y="6510528"/>
            <a:ext cx="548640" cy="274320"/>
          </a:xfrm>
          <a:prstGeom prst="rect">
            <a:avLst/>
          </a:prstGeom>
          <a:noFill/>
          <a:ln/>
        </p:spPr>
        <p:txBody>
          <a:bodyPr wrap="square" lIns="0" tIns="0" rIns="0" bIns="0" rtlCol="0" anchor="ctr"/>
          <a:lstStyle/>
          <a:p>
            <a:pPr marL="0" indent="0" algn="r">
              <a:buNone/>
            </a:pPr>
            <a:r>
              <a:rPr lang="en-US" sz="900" dirty="0">
                <a:solidFill>
                  <a:srgbClr val="7488A3"/>
                </a:solidFill>
                <a:latin typeface="Calibri" pitchFamily="34" charset="0"/>
                <a:ea typeface="Calibri" pitchFamily="34" charset="-122"/>
                <a:cs typeface="Calibri" pitchFamily="34" charset="-120"/>
              </a:rPr>
              <a:t>13 / 14</a:t>
            </a:r>
            <a:endParaRPr lang="en-US" sz="900" dirty="0"/>
          </a:p>
        </p:txBody>
      </p:sp>
      <p:sp>
        <p:nvSpPr>
          <p:cNvPr id="5" name="Text 3"/>
          <p:cNvSpPr txBox="1"/>
          <p:nvPr/>
        </p:nvSpPr>
        <p:spPr>
          <a:xfrm>
            <a:off x="457200" y="6510528"/>
            <a:ext cx="5486400" cy="274320"/>
          </a:xfrm>
          <a:prstGeom prst="rect">
            <a:avLst/>
          </a:prstGeom>
          <a:noFill/>
          <a:ln/>
        </p:spPr>
        <p:txBody>
          <a:bodyPr wrap="square" lIns="0" tIns="0" rIns="0" bIns="0" rtlCol="0" anchor="ctr"/>
          <a:lstStyle/>
          <a:p>
            <a:pPr marL="0" indent="0" algn="l">
              <a:buNone/>
            </a:pPr>
            <a:r>
              <a:rPr lang="en-US" sz="900" dirty="0">
                <a:solidFill>
                  <a:srgbClr val="7488A3"/>
                </a:solidFill>
                <a:latin typeface="Calibri" pitchFamily="34" charset="0"/>
                <a:ea typeface="Calibri" pitchFamily="34" charset="-122"/>
                <a:cs typeface="Calibri" pitchFamily="34" charset="-120"/>
              </a:rPr>
              <a:t>SHIELD — Software &amp; Autonomy Overview</a:t>
            </a:r>
            <a:endParaRPr lang="en-US" sz="900" dirty="0"/>
          </a:p>
        </p:txBody>
      </p:sp>
      <p:sp>
        <p:nvSpPr>
          <p:cNvPr id="6" name="Shape 4"/>
          <p:cNvSpPr/>
          <p:nvPr/>
        </p:nvSpPr>
        <p:spPr>
          <a:xfrm>
            <a:off x="548640" y="1691640"/>
            <a:ext cx="2331720" cy="4160520"/>
          </a:xfrm>
          <a:prstGeom prst="roundRect">
            <a:avLst>
              <a:gd name="adj" fmla="val 3529"/>
            </a:avLst>
          </a:prstGeom>
          <a:solidFill>
            <a:srgbClr val="10203D"/>
          </a:solidFill>
          <a:ln/>
        </p:spPr>
        <p:txBody>
          <a:bodyPr/>
          <a:lstStyle/>
          <a:p>
            <a:endParaRPr lang="en-US"/>
          </a:p>
        </p:txBody>
      </p:sp>
      <p:sp>
        <p:nvSpPr>
          <p:cNvPr id="7" name="Text 5"/>
          <p:cNvSpPr txBox="1"/>
          <p:nvPr/>
        </p:nvSpPr>
        <p:spPr>
          <a:xfrm>
            <a:off x="548640" y="2240280"/>
            <a:ext cx="2331720" cy="1371600"/>
          </a:xfrm>
          <a:prstGeom prst="rect">
            <a:avLst/>
          </a:prstGeom>
          <a:noFill/>
          <a:ln/>
        </p:spPr>
        <p:txBody>
          <a:bodyPr wrap="square" lIns="0" tIns="0" rIns="0" bIns="0" rtlCol="0" anchor="ctr"/>
          <a:lstStyle/>
          <a:p>
            <a:pPr marL="0" indent="0" algn="ctr">
              <a:buNone/>
            </a:pPr>
            <a:r>
              <a:rPr lang="en-US" sz="7000" b="1" dirty="0">
                <a:solidFill>
                  <a:srgbClr val="F5B942"/>
                </a:solidFill>
                <a:latin typeface="Cambria" pitchFamily="34" charset="0"/>
                <a:ea typeface="Cambria" pitchFamily="34" charset="-122"/>
                <a:cs typeface="Cambria" pitchFamily="34" charset="-120"/>
              </a:rPr>
              <a:t>M3</a:t>
            </a:r>
            <a:endParaRPr lang="en-US" sz="7000" dirty="0"/>
          </a:p>
        </p:txBody>
      </p:sp>
      <p:sp>
        <p:nvSpPr>
          <p:cNvPr id="8" name="Text 6"/>
          <p:cNvSpPr txBox="1"/>
          <p:nvPr/>
        </p:nvSpPr>
        <p:spPr>
          <a:xfrm>
            <a:off x="548640" y="3657600"/>
            <a:ext cx="2331720" cy="365760"/>
          </a:xfrm>
          <a:prstGeom prst="rect">
            <a:avLst/>
          </a:prstGeom>
          <a:noFill/>
          <a:ln/>
        </p:spPr>
        <p:txBody>
          <a:bodyPr wrap="square" lIns="0" tIns="0" rIns="0" bIns="0" rtlCol="0" anchor="ctr"/>
          <a:lstStyle/>
          <a:p>
            <a:pPr marL="0" indent="0" algn="ctr">
              <a:buNone/>
            </a:pPr>
            <a:r>
              <a:rPr lang="en-US" sz="1300" b="1" dirty="0">
                <a:solidFill>
                  <a:srgbClr val="3DDCC7"/>
                </a:solidFill>
                <a:latin typeface="Calibri" pitchFamily="34" charset="0"/>
                <a:ea typeface="Calibri" pitchFamily="34" charset="-122"/>
                <a:cs typeface="Calibri" pitchFamily="34" charset="-120"/>
              </a:rPr>
              <a:t>Nov 23, 2026</a:t>
            </a:r>
            <a:endParaRPr lang="en-US" sz="1300" dirty="0"/>
          </a:p>
        </p:txBody>
      </p:sp>
      <p:sp>
        <p:nvSpPr>
          <p:cNvPr id="9" name="Shape 7"/>
          <p:cNvSpPr/>
          <p:nvPr/>
        </p:nvSpPr>
        <p:spPr>
          <a:xfrm>
            <a:off x="914400" y="4206240"/>
            <a:ext cx="1600200" cy="0"/>
          </a:xfrm>
          <a:prstGeom prst="line">
            <a:avLst/>
          </a:prstGeom>
          <a:noFill/>
          <a:ln w="12700">
            <a:solidFill>
              <a:srgbClr val="223454"/>
            </a:solidFill>
            <a:prstDash val="solid"/>
          </a:ln>
        </p:spPr>
        <p:txBody>
          <a:bodyPr/>
          <a:lstStyle/>
          <a:p>
            <a:endParaRPr lang="en-US"/>
          </a:p>
        </p:txBody>
      </p:sp>
      <p:sp>
        <p:nvSpPr>
          <p:cNvPr id="10" name="Text 8"/>
          <p:cNvSpPr txBox="1"/>
          <p:nvPr/>
        </p:nvSpPr>
        <p:spPr>
          <a:xfrm>
            <a:off x="731520" y="4389120"/>
            <a:ext cx="1965960" cy="365760"/>
          </a:xfrm>
          <a:prstGeom prst="rect">
            <a:avLst/>
          </a:prstGeom>
          <a:noFill/>
          <a:ln/>
        </p:spPr>
        <p:txBody>
          <a:bodyPr wrap="square" lIns="0" tIns="0" rIns="0" bIns="0" rtlCol="0" anchor="ctr"/>
          <a:lstStyle/>
          <a:p>
            <a:pPr marL="0" indent="0" algn="ctr">
              <a:buNone/>
            </a:pPr>
            <a:r>
              <a:rPr lang="en-US" sz="1100" dirty="0">
                <a:solidFill>
                  <a:srgbClr val="7488A3"/>
                </a:solidFill>
                <a:latin typeface="Calibri" pitchFamily="34" charset="0"/>
                <a:ea typeface="Calibri" pitchFamily="34" charset="-122"/>
                <a:cs typeface="Calibri" pitchFamily="34" charset="-120"/>
              </a:rPr>
              <a:t>Milestone 3 of 3</a:t>
            </a:r>
            <a:endParaRPr lang="en-US" sz="1100" dirty="0"/>
          </a:p>
        </p:txBody>
      </p:sp>
      <p:sp>
        <p:nvSpPr>
          <p:cNvPr id="11" name="Shape 9"/>
          <p:cNvSpPr/>
          <p:nvPr/>
        </p:nvSpPr>
        <p:spPr>
          <a:xfrm>
            <a:off x="1362456" y="4892040"/>
            <a:ext cx="82296" cy="82296"/>
          </a:xfrm>
          <a:prstGeom prst="ellipse">
            <a:avLst/>
          </a:prstGeom>
          <a:solidFill>
            <a:srgbClr val="F5B942"/>
          </a:solidFill>
          <a:ln/>
        </p:spPr>
        <p:txBody>
          <a:bodyPr/>
          <a:lstStyle/>
          <a:p>
            <a:endParaRPr lang="en-US"/>
          </a:p>
        </p:txBody>
      </p:sp>
      <p:sp>
        <p:nvSpPr>
          <p:cNvPr id="12" name="Shape 10"/>
          <p:cNvSpPr/>
          <p:nvPr/>
        </p:nvSpPr>
        <p:spPr>
          <a:xfrm>
            <a:off x="1673352" y="4892040"/>
            <a:ext cx="82296" cy="82296"/>
          </a:xfrm>
          <a:prstGeom prst="ellipse">
            <a:avLst/>
          </a:prstGeom>
          <a:solidFill>
            <a:srgbClr val="F5B942"/>
          </a:solidFill>
          <a:ln/>
        </p:spPr>
        <p:txBody>
          <a:bodyPr/>
          <a:lstStyle/>
          <a:p>
            <a:endParaRPr lang="en-US"/>
          </a:p>
        </p:txBody>
      </p:sp>
      <p:sp>
        <p:nvSpPr>
          <p:cNvPr id="13" name="Shape 11"/>
          <p:cNvSpPr/>
          <p:nvPr/>
        </p:nvSpPr>
        <p:spPr>
          <a:xfrm>
            <a:off x="1984248" y="4892040"/>
            <a:ext cx="82296" cy="82296"/>
          </a:xfrm>
          <a:prstGeom prst="ellipse">
            <a:avLst/>
          </a:prstGeom>
          <a:solidFill>
            <a:srgbClr val="F5B942"/>
          </a:solidFill>
          <a:ln/>
        </p:spPr>
        <p:txBody>
          <a:bodyPr/>
          <a:lstStyle/>
          <a:p>
            <a:endParaRPr lang="en-US"/>
          </a:p>
        </p:txBody>
      </p:sp>
      <p:sp>
        <p:nvSpPr>
          <p:cNvPr id="14" name="Shape 12"/>
          <p:cNvSpPr/>
          <p:nvPr/>
        </p:nvSpPr>
        <p:spPr>
          <a:xfrm>
            <a:off x="3154680" y="1691640"/>
            <a:ext cx="8485632" cy="826618"/>
          </a:xfrm>
          <a:prstGeom prst="roundRect">
            <a:avLst>
              <a:gd name="adj" fmla="val 7743"/>
            </a:avLst>
          </a:prstGeom>
          <a:solidFill>
            <a:srgbClr val="10203D"/>
          </a:solidFill>
          <a:ln/>
        </p:spPr>
        <p:txBody>
          <a:bodyPr/>
          <a:lstStyle/>
          <a:p>
            <a:endParaRPr lang="en-US"/>
          </a:p>
        </p:txBody>
      </p:sp>
      <p:sp>
        <p:nvSpPr>
          <p:cNvPr id="15" name="Shape 13"/>
          <p:cNvSpPr/>
          <p:nvPr/>
        </p:nvSpPr>
        <p:spPr>
          <a:xfrm>
            <a:off x="3383280" y="1958645"/>
            <a:ext cx="292608" cy="292608"/>
          </a:xfrm>
          <a:prstGeom prst="ellipse">
            <a:avLst/>
          </a:prstGeom>
          <a:solidFill>
            <a:srgbClr val="16294A"/>
          </a:solidFill>
          <a:ln w="12700">
            <a:solidFill>
              <a:srgbClr val="3DDCC7"/>
            </a:solidFill>
            <a:prstDash val="solid"/>
          </a:ln>
        </p:spPr>
        <p:txBody>
          <a:bodyPr/>
          <a:lstStyle/>
          <a:p>
            <a:endParaRPr lang="en-US"/>
          </a:p>
        </p:txBody>
      </p:sp>
      <p:sp>
        <p:nvSpPr>
          <p:cNvPr id="16" name="Text 14"/>
          <p:cNvSpPr txBox="1"/>
          <p:nvPr/>
        </p:nvSpPr>
        <p:spPr>
          <a:xfrm>
            <a:off x="3383280" y="1958645"/>
            <a:ext cx="292608" cy="292608"/>
          </a:xfrm>
          <a:prstGeom prst="rect">
            <a:avLst/>
          </a:prstGeom>
          <a:noFill/>
          <a:ln/>
        </p:spPr>
        <p:txBody>
          <a:bodyPr wrap="square" lIns="0" tIns="0" rIns="0" bIns="0" rtlCol="0" anchor="ctr"/>
          <a:lstStyle/>
          <a:p>
            <a:pPr marL="0" indent="0" algn="ctr">
              <a:buNone/>
            </a:pPr>
            <a:r>
              <a:rPr lang="en-US" sz="1200" b="1" dirty="0">
                <a:solidFill>
                  <a:srgbClr val="3DDCC7"/>
                </a:solidFill>
                <a:latin typeface="Calibri" pitchFamily="34" charset="0"/>
                <a:ea typeface="Calibri" pitchFamily="34" charset="-122"/>
                <a:cs typeface="Calibri" pitchFamily="34" charset="-120"/>
              </a:rPr>
              <a:t>1</a:t>
            </a:r>
            <a:endParaRPr lang="en-US" sz="1200" dirty="0"/>
          </a:p>
        </p:txBody>
      </p:sp>
      <p:sp>
        <p:nvSpPr>
          <p:cNvPr id="17" name="Text 15"/>
          <p:cNvSpPr txBox="1"/>
          <p:nvPr/>
        </p:nvSpPr>
        <p:spPr>
          <a:xfrm>
            <a:off x="3840480" y="1764792"/>
            <a:ext cx="7571232" cy="292608"/>
          </a:xfrm>
          <a:prstGeom prst="rect">
            <a:avLst/>
          </a:prstGeom>
          <a:noFill/>
          <a:ln/>
        </p:spPr>
        <p:txBody>
          <a:bodyPr wrap="square" lIns="0" tIns="0" rIns="0" bIns="0" rtlCol="0" anchor="ctr"/>
          <a:lstStyle/>
          <a:p>
            <a:pPr marL="0" indent="0">
              <a:buNone/>
            </a:pPr>
            <a:r>
              <a:rPr lang="en-US" sz="1250" b="1" dirty="0">
                <a:solidFill>
                  <a:srgbClr val="FFFFFF"/>
                </a:solidFill>
                <a:latin typeface="Cambria" pitchFamily="34" charset="0"/>
                <a:ea typeface="Cambria" pitchFamily="34" charset="-122"/>
                <a:cs typeface="Cambria" pitchFamily="34" charset="-120"/>
              </a:rPr>
              <a:t>Integrate with interception subsystem</a:t>
            </a:r>
            <a:endParaRPr lang="en-US" sz="1250" dirty="0"/>
          </a:p>
        </p:txBody>
      </p:sp>
      <p:sp>
        <p:nvSpPr>
          <p:cNvPr id="18" name="Text 16"/>
          <p:cNvSpPr txBox="1"/>
          <p:nvPr/>
        </p:nvSpPr>
        <p:spPr>
          <a:xfrm>
            <a:off x="3840480" y="2057400"/>
            <a:ext cx="7571232" cy="415138"/>
          </a:xfrm>
          <a:prstGeom prst="rect">
            <a:avLst/>
          </a:prstGeom>
          <a:noFill/>
          <a:ln/>
        </p:spPr>
        <p:txBody>
          <a:bodyPr wrap="square" lIns="0" tIns="0" rIns="0" bIns="0" rtlCol="0" anchor="ctr"/>
          <a:lstStyle/>
          <a:p>
            <a:pPr marL="0" indent="0">
              <a:lnSpc>
                <a:spcPct val="110000"/>
              </a:lnSpc>
              <a:buNone/>
            </a:pPr>
            <a:r>
              <a:rPr lang="en-US" sz="1050" dirty="0">
                <a:solidFill>
                  <a:srgbClr val="9FB3C8"/>
                </a:solidFill>
                <a:latin typeface="Calibri" pitchFamily="34" charset="0"/>
                <a:ea typeface="Calibri" pitchFamily="34" charset="-122"/>
                <a:cs typeface="Calibri" pitchFamily="34" charset="-120"/>
              </a:rPr>
              <a:t>Connect detection/tracking output to the interception subsystem in emulation, once it exists.</a:t>
            </a:r>
            <a:endParaRPr lang="en-US" sz="1050" dirty="0"/>
          </a:p>
        </p:txBody>
      </p:sp>
      <p:sp>
        <p:nvSpPr>
          <p:cNvPr id="19" name="Shape 17"/>
          <p:cNvSpPr/>
          <p:nvPr/>
        </p:nvSpPr>
        <p:spPr>
          <a:xfrm>
            <a:off x="3154680" y="2627986"/>
            <a:ext cx="8485632" cy="826618"/>
          </a:xfrm>
          <a:prstGeom prst="roundRect">
            <a:avLst>
              <a:gd name="adj" fmla="val 7743"/>
            </a:avLst>
          </a:prstGeom>
          <a:solidFill>
            <a:srgbClr val="10203D"/>
          </a:solidFill>
          <a:ln/>
        </p:spPr>
        <p:txBody>
          <a:bodyPr/>
          <a:lstStyle/>
          <a:p>
            <a:endParaRPr lang="en-US"/>
          </a:p>
        </p:txBody>
      </p:sp>
      <p:sp>
        <p:nvSpPr>
          <p:cNvPr id="20" name="Shape 18"/>
          <p:cNvSpPr/>
          <p:nvPr/>
        </p:nvSpPr>
        <p:spPr>
          <a:xfrm>
            <a:off x="3383280" y="2894990"/>
            <a:ext cx="292608" cy="292608"/>
          </a:xfrm>
          <a:prstGeom prst="ellipse">
            <a:avLst/>
          </a:prstGeom>
          <a:solidFill>
            <a:srgbClr val="16294A"/>
          </a:solidFill>
          <a:ln w="12700">
            <a:solidFill>
              <a:srgbClr val="3DDCC7"/>
            </a:solidFill>
            <a:prstDash val="solid"/>
          </a:ln>
        </p:spPr>
        <p:txBody>
          <a:bodyPr/>
          <a:lstStyle/>
          <a:p>
            <a:endParaRPr lang="en-US"/>
          </a:p>
        </p:txBody>
      </p:sp>
      <p:sp>
        <p:nvSpPr>
          <p:cNvPr id="21" name="Text 19"/>
          <p:cNvSpPr txBox="1"/>
          <p:nvPr/>
        </p:nvSpPr>
        <p:spPr>
          <a:xfrm>
            <a:off x="3383280" y="2894990"/>
            <a:ext cx="292608" cy="292608"/>
          </a:xfrm>
          <a:prstGeom prst="rect">
            <a:avLst/>
          </a:prstGeom>
          <a:noFill/>
          <a:ln/>
        </p:spPr>
        <p:txBody>
          <a:bodyPr wrap="square" lIns="0" tIns="0" rIns="0" bIns="0" rtlCol="0" anchor="ctr"/>
          <a:lstStyle/>
          <a:p>
            <a:pPr marL="0" indent="0" algn="ctr">
              <a:buNone/>
            </a:pPr>
            <a:r>
              <a:rPr lang="en-US" sz="1200" b="1" dirty="0">
                <a:solidFill>
                  <a:srgbClr val="3DDCC7"/>
                </a:solidFill>
                <a:latin typeface="Calibri" pitchFamily="34" charset="0"/>
                <a:ea typeface="Calibri" pitchFamily="34" charset="-122"/>
                <a:cs typeface="Calibri" pitchFamily="34" charset="-120"/>
              </a:rPr>
              <a:t>2</a:t>
            </a:r>
            <a:endParaRPr lang="en-US" sz="1200" dirty="0"/>
          </a:p>
        </p:txBody>
      </p:sp>
      <p:sp>
        <p:nvSpPr>
          <p:cNvPr id="22" name="Text 20"/>
          <p:cNvSpPr txBox="1"/>
          <p:nvPr/>
        </p:nvSpPr>
        <p:spPr>
          <a:xfrm>
            <a:off x="3840480" y="2701138"/>
            <a:ext cx="7571232" cy="292608"/>
          </a:xfrm>
          <a:prstGeom prst="rect">
            <a:avLst/>
          </a:prstGeom>
          <a:noFill/>
          <a:ln/>
        </p:spPr>
        <p:txBody>
          <a:bodyPr wrap="square" lIns="0" tIns="0" rIns="0" bIns="0" rtlCol="0" anchor="ctr"/>
          <a:lstStyle/>
          <a:p>
            <a:pPr marL="0" indent="0">
              <a:buNone/>
            </a:pPr>
            <a:r>
              <a:rPr lang="en-US" sz="1250" b="1" dirty="0">
                <a:solidFill>
                  <a:srgbClr val="FFFFFF"/>
                </a:solidFill>
                <a:latin typeface="Cambria" pitchFamily="34" charset="0"/>
                <a:ea typeface="Cambria" pitchFamily="34" charset="-122"/>
                <a:cs typeface="Cambria" pitchFamily="34" charset="-120"/>
              </a:rPr>
              <a:t>Implement "Hardware" platform mode</a:t>
            </a:r>
            <a:endParaRPr lang="en-US" sz="1250" dirty="0"/>
          </a:p>
        </p:txBody>
      </p:sp>
      <p:sp>
        <p:nvSpPr>
          <p:cNvPr id="23" name="Text 21"/>
          <p:cNvSpPr txBox="1"/>
          <p:nvPr/>
        </p:nvSpPr>
        <p:spPr>
          <a:xfrm>
            <a:off x="3840480" y="2993746"/>
            <a:ext cx="7571232" cy="415138"/>
          </a:xfrm>
          <a:prstGeom prst="rect">
            <a:avLst/>
          </a:prstGeom>
          <a:noFill/>
          <a:ln/>
        </p:spPr>
        <p:txBody>
          <a:bodyPr wrap="square" lIns="0" tIns="0" rIns="0" bIns="0" rtlCol="0" anchor="ctr"/>
          <a:lstStyle/>
          <a:p>
            <a:pPr marL="0" indent="0">
              <a:lnSpc>
                <a:spcPct val="110000"/>
              </a:lnSpc>
              <a:buNone/>
            </a:pPr>
            <a:r>
              <a:rPr lang="en-US" sz="1050" dirty="0">
                <a:solidFill>
                  <a:srgbClr val="9FB3C8"/>
                </a:solidFill>
                <a:latin typeface="Calibri" pitchFamily="34" charset="0"/>
                <a:ea typeface="Calibri" pitchFamily="34" charset="-122"/>
                <a:cs typeface="Calibri" pitchFamily="34" charset="-120"/>
              </a:rPr>
              <a:t>Bring up the Pi 5 + AI HAT+ mode and test on the drone prototype, if built by then.</a:t>
            </a:r>
            <a:endParaRPr lang="en-US" sz="1050" dirty="0"/>
          </a:p>
        </p:txBody>
      </p:sp>
      <p:sp>
        <p:nvSpPr>
          <p:cNvPr id="24" name="Shape 22"/>
          <p:cNvSpPr/>
          <p:nvPr/>
        </p:nvSpPr>
        <p:spPr>
          <a:xfrm>
            <a:off x="3154680" y="3564331"/>
            <a:ext cx="8485632" cy="826618"/>
          </a:xfrm>
          <a:prstGeom prst="roundRect">
            <a:avLst>
              <a:gd name="adj" fmla="val 7743"/>
            </a:avLst>
          </a:prstGeom>
          <a:solidFill>
            <a:srgbClr val="10203D"/>
          </a:solidFill>
          <a:ln/>
        </p:spPr>
        <p:txBody>
          <a:bodyPr/>
          <a:lstStyle/>
          <a:p>
            <a:endParaRPr lang="en-US"/>
          </a:p>
        </p:txBody>
      </p:sp>
      <p:sp>
        <p:nvSpPr>
          <p:cNvPr id="25" name="Shape 23"/>
          <p:cNvSpPr/>
          <p:nvPr/>
        </p:nvSpPr>
        <p:spPr>
          <a:xfrm>
            <a:off x="3383280" y="3831336"/>
            <a:ext cx="292608" cy="292608"/>
          </a:xfrm>
          <a:prstGeom prst="ellipse">
            <a:avLst/>
          </a:prstGeom>
          <a:solidFill>
            <a:srgbClr val="16294A"/>
          </a:solidFill>
          <a:ln w="12700">
            <a:solidFill>
              <a:srgbClr val="3DDCC7"/>
            </a:solidFill>
            <a:prstDash val="solid"/>
          </a:ln>
        </p:spPr>
        <p:txBody>
          <a:bodyPr/>
          <a:lstStyle/>
          <a:p>
            <a:endParaRPr lang="en-US"/>
          </a:p>
        </p:txBody>
      </p:sp>
      <p:sp>
        <p:nvSpPr>
          <p:cNvPr id="26" name="Text 24"/>
          <p:cNvSpPr txBox="1"/>
          <p:nvPr/>
        </p:nvSpPr>
        <p:spPr>
          <a:xfrm>
            <a:off x="3383280" y="3831336"/>
            <a:ext cx="292608" cy="292608"/>
          </a:xfrm>
          <a:prstGeom prst="rect">
            <a:avLst/>
          </a:prstGeom>
          <a:noFill/>
          <a:ln/>
        </p:spPr>
        <p:txBody>
          <a:bodyPr wrap="square" lIns="0" tIns="0" rIns="0" bIns="0" rtlCol="0" anchor="ctr"/>
          <a:lstStyle/>
          <a:p>
            <a:pPr marL="0" indent="0" algn="ctr">
              <a:buNone/>
            </a:pPr>
            <a:r>
              <a:rPr lang="en-US" sz="1200" b="1" dirty="0">
                <a:solidFill>
                  <a:srgbClr val="3DDCC7"/>
                </a:solidFill>
                <a:latin typeface="Calibri" pitchFamily="34" charset="0"/>
                <a:ea typeface="Calibri" pitchFamily="34" charset="-122"/>
                <a:cs typeface="Calibri" pitchFamily="34" charset="-120"/>
              </a:rPr>
              <a:t>3</a:t>
            </a:r>
            <a:endParaRPr lang="en-US" sz="1200" dirty="0"/>
          </a:p>
        </p:txBody>
      </p:sp>
      <p:sp>
        <p:nvSpPr>
          <p:cNvPr id="27" name="Text 25"/>
          <p:cNvSpPr txBox="1"/>
          <p:nvPr/>
        </p:nvSpPr>
        <p:spPr>
          <a:xfrm>
            <a:off x="3840480" y="3637483"/>
            <a:ext cx="7571232" cy="292608"/>
          </a:xfrm>
          <a:prstGeom prst="rect">
            <a:avLst/>
          </a:prstGeom>
          <a:noFill/>
          <a:ln/>
        </p:spPr>
        <p:txBody>
          <a:bodyPr wrap="square" lIns="0" tIns="0" rIns="0" bIns="0" rtlCol="0" anchor="ctr"/>
          <a:lstStyle/>
          <a:p>
            <a:pPr marL="0" indent="0">
              <a:buNone/>
            </a:pPr>
            <a:r>
              <a:rPr lang="en-US" sz="1250" b="1" dirty="0">
                <a:solidFill>
                  <a:srgbClr val="FFFFFF"/>
                </a:solidFill>
                <a:latin typeface="Cambria" pitchFamily="34" charset="0"/>
                <a:ea typeface="Cambria" pitchFamily="34" charset="-122"/>
                <a:cs typeface="Cambria" pitchFamily="34" charset="-120"/>
              </a:rPr>
              <a:t>Evaluate against SYS.07</a:t>
            </a:r>
            <a:endParaRPr lang="en-US" sz="1250" dirty="0"/>
          </a:p>
        </p:txBody>
      </p:sp>
      <p:sp>
        <p:nvSpPr>
          <p:cNvPr id="28" name="Text 26"/>
          <p:cNvSpPr txBox="1"/>
          <p:nvPr/>
        </p:nvSpPr>
        <p:spPr>
          <a:xfrm>
            <a:off x="3840480" y="3930091"/>
            <a:ext cx="7571232" cy="415138"/>
          </a:xfrm>
          <a:prstGeom prst="rect">
            <a:avLst/>
          </a:prstGeom>
          <a:noFill/>
          <a:ln/>
        </p:spPr>
        <p:txBody>
          <a:bodyPr wrap="square" lIns="0" tIns="0" rIns="0" bIns="0" rtlCol="0" anchor="ctr"/>
          <a:lstStyle/>
          <a:p>
            <a:pPr marL="0" indent="0">
              <a:lnSpc>
                <a:spcPct val="110000"/>
              </a:lnSpc>
              <a:buNone/>
            </a:pPr>
            <a:r>
              <a:rPr lang="en-US" sz="1050" dirty="0">
                <a:solidFill>
                  <a:srgbClr val="9FB3C8"/>
                </a:solidFill>
                <a:latin typeface="Calibri" pitchFamily="34" charset="0"/>
                <a:ea typeface="Calibri" pitchFamily="34" charset="-122"/>
                <a:cs typeface="Calibri" pitchFamily="34" charset="-120"/>
              </a:rPr>
              <a:t>Run the custom-trained model across all Unity lighting/environment scenes and score confidence against the ≥90% threshold.</a:t>
            </a:r>
            <a:endParaRPr lang="en-US" sz="1050" dirty="0"/>
          </a:p>
        </p:txBody>
      </p:sp>
      <p:sp>
        <p:nvSpPr>
          <p:cNvPr id="29" name="Shape 27"/>
          <p:cNvSpPr/>
          <p:nvPr/>
        </p:nvSpPr>
        <p:spPr>
          <a:xfrm>
            <a:off x="3154680" y="4500677"/>
            <a:ext cx="8485632" cy="826618"/>
          </a:xfrm>
          <a:prstGeom prst="roundRect">
            <a:avLst>
              <a:gd name="adj" fmla="val 7743"/>
            </a:avLst>
          </a:prstGeom>
          <a:solidFill>
            <a:srgbClr val="10203D"/>
          </a:solidFill>
          <a:ln/>
        </p:spPr>
        <p:txBody>
          <a:bodyPr/>
          <a:lstStyle/>
          <a:p>
            <a:endParaRPr lang="en-US"/>
          </a:p>
        </p:txBody>
      </p:sp>
      <p:sp>
        <p:nvSpPr>
          <p:cNvPr id="30" name="Shape 28"/>
          <p:cNvSpPr/>
          <p:nvPr/>
        </p:nvSpPr>
        <p:spPr>
          <a:xfrm>
            <a:off x="3383280" y="4767682"/>
            <a:ext cx="292608" cy="292608"/>
          </a:xfrm>
          <a:prstGeom prst="ellipse">
            <a:avLst/>
          </a:prstGeom>
          <a:solidFill>
            <a:srgbClr val="16294A"/>
          </a:solidFill>
          <a:ln w="12700">
            <a:solidFill>
              <a:srgbClr val="3DDCC7"/>
            </a:solidFill>
            <a:prstDash val="solid"/>
          </a:ln>
        </p:spPr>
        <p:txBody>
          <a:bodyPr/>
          <a:lstStyle/>
          <a:p>
            <a:endParaRPr lang="en-US"/>
          </a:p>
        </p:txBody>
      </p:sp>
      <p:sp>
        <p:nvSpPr>
          <p:cNvPr id="31" name="Text 29"/>
          <p:cNvSpPr txBox="1"/>
          <p:nvPr/>
        </p:nvSpPr>
        <p:spPr>
          <a:xfrm>
            <a:off x="3383280" y="4767682"/>
            <a:ext cx="292608" cy="292608"/>
          </a:xfrm>
          <a:prstGeom prst="rect">
            <a:avLst/>
          </a:prstGeom>
          <a:noFill/>
          <a:ln/>
        </p:spPr>
        <p:txBody>
          <a:bodyPr wrap="square" lIns="0" tIns="0" rIns="0" bIns="0" rtlCol="0" anchor="ctr"/>
          <a:lstStyle/>
          <a:p>
            <a:pPr marL="0" indent="0" algn="ctr">
              <a:buNone/>
            </a:pPr>
            <a:r>
              <a:rPr lang="en-US" sz="1200" b="1" dirty="0">
                <a:solidFill>
                  <a:srgbClr val="3DDCC7"/>
                </a:solidFill>
                <a:latin typeface="Calibri" pitchFamily="34" charset="0"/>
                <a:ea typeface="Calibri" pitchFamily="34" charset="-122"/>
                <a:cs typeface="Calibri" pitchFamily="34" charset="-120"/>
              </a:rPr>
              <a:t>4</a:t>
            </a:r>
            <a:endParaRPr lang="en-US" sz="1200" dirty="0"/>
          </a:p>
        </p:txBody>
      </p:sp>
      <p:sp>
        <p:nvSpPr>
          <p:cNvPr id="32" name="Text 30"/>
          <p:cNvSpPr txBox="1"/>
          <p:nvPr/>
        </p:nvSpPr>
        <p:spPr>
          <a:xfrm>
            <a:off x="3840480" y="4573829"/>
            <a:ext cx="7571232" cy="292608"/>
          </a:xfrm>
          <a:prstGeom prst="rect">
            <a:avLst/>
          </a:prstGeom>
          <a:noFill/>
          <a:ln/>
        </p:spPr>
        <p:txBody>
          <a:bodyPr wrap="square" lIns="0" tIns="0" rIns="0" bIns="0" rtlCol="0" anchor="ctr"/>
          <a:lstStyle/>
          <a:p>
            <a:pPr marL="0" indent="0">
              <a:buNone/>
            </a:pPr>
            <a:r>
              <a:rPr lang="en-US" sz="1250" b="1" dirty="0">
                <a:solidFill>
                  <a:srgbClr val="FFFFFF"/>
                </a:solidFill>
                <a:latin typeface="Cambria" pitchFamily="34" charset="0"/>
                <a:ea typeface="Cambria" pitchFamily="34" charset="-122"/>
                <a:cs typeface="Cambria" pitchFamily="34" charset="-120"/>
              </a:rPr>
              <a:t>Trace requirements to tests</a:t>
            </a:r>
            <a:endParaRPr lang="en-US" sz="1250" dirty="0"/>
          </a:p>
        </p:txBody>
      </p:sp>
      <p:sp>
        <p:nvSpPr>
          <p:cNvPr id="33" name="Text 31"/>
          <p:cNvSpPr txBox="1"/>
          <p:nvPr/>
        </p:nvSpPr>
        <p:spPr>
          <a:xfrm>
            <a:off x="3840480" y="4866437"/>
            <a:ext cx="7571232" cy="415138"/>
          </a:xfrm>
          <a:prstGeom prst="rect">
            <a:avLst/>
          </a:prstGeom>
          <a:noFill/>
          <a:ln/>
        </p:spPr>
        <p:txBody>
          <a:bodyPr wrap="square" lIns="0" tIns="0" rIns="0" bIns="0" rtlCol="0" anchor="ctr"/>
          <a:lstStyle/>
          <a:p>
            <a:pPr marL="0" indent="0">
              <a:lnSpc>
                <a:spcPct val="110000"/>
              </a:lnSpc>
              <a:buNone/>
            </a:pPr>
            <a:r>
              <a:rPr lang="en-US" sz="1050" dirty="0">
                <a:solidFill>
                  <a:srgbClr val="9FB3C8"/>
                </a:solidFill>
                <a:latin typeface="Calibri" pitchFamily="34" charset="0"/>
                <a:ea typeface="Calibri" pitchFamily="34" charset="-122"/>
                <a:cs typeface="Calibri" pitchFamily="34" charset="-120"/>
              </a:rPr>
              <a:t>Have every existing requirement traced to an STE test script.</a:t>
            </a:r>
            <a:endParaRPr lang="en-US" sz="1050" dirty="0"/>
          </a:p>
        </p:txBody>
      </p:sp>
      <p:sp>
        <p:nvSpPr>
          <p:cNvPr id="34" name="Shape 32"/>
          <p:cNvSpPr/>
          <p:nvPr/>
        </p:nvSpPr>
        <p:spPr>
          <a:xfrm>
            <a:off x="3154680" y="5437022"/>
            <a:ext cx="8485632" cy="826618"/>
          </a:xfrm>
          <a:prstGeom prst="roundRect">
            <a:avLst>
              <a:gd name="adj" fmla="val 7743"/>
            </a:avLst>
          </a:prstGeom>
          <a:solidFill>
            <a:srgbClr val="10203D"/>
          </a:solidFill>
          <a:ln/>
        </p:spPr>
        <p:txBody>
          <a:bodyPr/>
          <a:lstStyle/>
          <a:p>
            <a:endParaRPr lang="en-US"/>
          </a:p>
        </p:txBody>
      </p:sp>
      <p:sp>
        <p:nvSpPr>
          <p:cNvPr id="35" name="Shape 33"/>
          <p:cNvSpPr/>
          <p:nvPr/>
        </p:nvSpPr>
        <p:spPr>
          <a:xfrm>
            <a:off x="3383280" y="5704027"/>
            <a:ext cx="292608" cy="292608"/>
          </a:xfrm>
          <a:prstGeom prst="ellipse">
            <a:avLst/>
          </a:prstGeom>
          <a:solidFill>
            <a:srgbClr val="16294A"/>
          </a:solidFill>
          <a:ln w="12700">
            <a:solidFill>
              <a:srgbClr val="3DDCC7"/>
            </a:solidFill>
            <a:prstDash val="solid"/>
          </a:ln>
        </p:spPr>
        <p:txBody>
          <a:bodyPr/>
          <a:lstStyle/>
          <a:p>
            <a:endParaRPr lang="en-US"/>
          </a:p>
        </p:txBody>
      </p:sp>
      <p:sp>
        <p:nvSpPr>
          <p:cNvPr id="36" name="Text 34"/>
          <p:cNvSpPr txBox="1"/>
          <p:nvPr/>
        </p:nvSpPr>
        <p:spPr>
          <a:xfrm>
            <a:off x="3383280" y="5704027"/>
            <a:ext cx="292608" cy="292608"/>
          </a:xfrm>
          <a:prstGeom prst="rect">
            <a:avLst/>
          </a:prstGeom>
          <a:noFill/>
          <a:ln/>
        </p:spPr>
        <p:txBody>
          <a:bodyPr wrap="square" lIns="0" tIns="0" rIns="0" bIns="0" rtlCol="0" anchor="ctr"/>
          <a:lstStyle/>
          <a:p>
            <a:pPr marL="0" indent="0" algn="ctr">
              <a:buNone/>
            </a:pPr>
            <a:r>
              <a:rPr lang="en-US" sz="1200" b="1" dirty="0">
                <a:solidFill>
                  <a:srgbClr val="3DDCC7"/>
                </a:solidFill>
                <a:latin typeface="Calibri" pitchFamily="34" charset="0"/>
                <a:ea typeface="Calibri" pitchFamily="34" charset="-122"/>
                <a:cs typeface="Calibri" pitchFamily="34" charset="-120"/>
              </a:rPr>
              <a:t>5</a:t>
            </a:r>
            <a:endParaRPr lang="en-US" sz="1200" dirty="0"/>
          </a:p>
        </p:txBody>
      </p:sp>
      <p:sp>
        <p:nvSpPr>
          <p:cNvPr id="37" name="Text 35"/>
          <p:cNvSpPr txBox="1"/>
          <p:nvPr/>
        </p:nvSpPr>
        <p:spPr>
          <a:xfrm>
            <a:off x="3840480" y="5510174"/>
            <a:ext cx="7571232" cy="292608"/>
          </a:xfrm>
          <a:prstGeom prst="rect">
            <a:avLst/>
          </a:prstGeom>
          <a:noFill/>
          <a:ln/>
        </p:spPr>
        <p:txBody>
          <a:bodyPr wrap="square" lIns="0" tIns="0" rIns="0" bIns="0" rtlCol="0" anchor="ctr"/>
          <a:lstStyle/>
          <a:p>
            <a:pPr marL="0" indent="0">
              <a:buNone/>
            </a:pPr>
            <a:r>
              <a:rPr lang="en-US" sz="1250" b="1" dirty="0">
                <a:solidFill>
                  <a:srgbClr val="FFFFFF"/>
                </a:solidFill>
                <a:latin typeface="Cambria" pitchFamily="34" charset="0"/>
                <a:ea typeface="Cambria" pitchFamily="34" charset="-122"/>
                <a:cs typeface="Cambria" pitchFamily="34" charset="-120"/>
              </a:rPr>
              <a:t>End-to-end demo</a:t>
            </a:r>
            <a:endParaRPr lang="en-US" sz="1250" dirty="0"/>
          </a:p>
        </p:txBody>
      </p:sp>
      <p:sp>
        <p:nvSpPr>
          <p:cNvPr id="38" name="Text 36"/>
          <p:cNvSpPr txBox="1"/>
          <p:nvPr/>
        </p:nvSpPr>
        <p:spPr>
          <a:xfrm>
            <a:off x="3840480" y="5802782"/>
            <a:ext cx="7571232" cy="415138"/>
          </a:xfrm>
          <a:prstGeom prst="rect">
            <a:avLst/>
          </a:prstGeom>
          <a:noFill/>
          <a:ln/>
        </p:spPr>
        <p:txBody>
          <a:bodyPr wrap="square" lIns="0" tIns="0" rIns="0" bIns="0" rtlCol="0" anchor="ctr"/>
          <a:lstStyle/>
          <a:p>
            <a:pPr marL="0" indent="0">
              <a:lnSpc>
                <a:spcPct val="110000"/>
              </a:lnSpc>
              <a:buNone/>
            </a:pPr>
            <a:r>
              <a:rPr lang="en-US" sz="1050" dirty="0">
                <a:solidFill>
                  <a:srgbClr val="9FB3C8"/>
                </a:solidFill>
                <a:latin typeface="Calibri" pitchFamily="34" charset="0"/>
                <a:ea typeface="Calibri" pitchFamily="34" charset="-122"/>
                <a:cs typeface="Calibri" pitchFamily="34" charset="-120"/>
              </a:rPr>
              <a:t>Conduct a full end-to-end system test and demo on emulation.</a:t>
            </a:r>
            <a:endParaRPr lang="en-US" sz="10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B1730"/>
        </a:solidFill>
        <a:effectLst/>
      </p:bgPr>
    </p:bg>
    <p:spTree>
      <p:nvGrpSpPr>
        <p:cNvPr id="1" name=""/>
        <p:cNvGrpSpPr/>
        <p:nvPr/>
      </p:nvGrpSpPr>
      <p:grpSpPr>
        <a:xfrm>
          <a:off x="0" y="0"/>
          <a:ext cx="0" cy="0"/>
          <a:chOff x="0" y="0"/>
          <a:chExt cx="0" cy="0"/>
        </a:xfrm>
      </p:grpSpPr>
      <p:sp>
        <p:nvSpPr>
          <p:cNvPr id="2" name="Shape 0"/>
          <p:cNvSpPr/>
          <p:nvPr/>
        </p:nvSpPr>
        <p:spPr>
          <a:xfrm>
            <a:off x="-274320" y="1325880"/>
            <a:ext cx="4206240" cy="4206240"/>
          </a:xfrm>
          <a:prstGeom prst="ellipse">
            <a:avLst/>
          </a:prstGeom>
          <a:ln w="12700">
            <a:solidFill>
              <a:srgbClr val="223454">
                <a:alpha val="45000"/>
              </a:srgbClr>
            </a:solidFill>
            <a:prstDash val="solid"/>
          </a:ln>
        </p:spPr>
        <p:txBody>
          <a:bodyPr/>
          <a:lstStyle/>
          <a:p>
            <a:endParaRPr lang="en-US"/>
          </a:p>
        </p:txBody>
      </p:sp>
      <p:sp>
        <p:nvSpPr>
          <p:cNvPr id="3" name="Shape 1"/>
          <p:cNvSpPr/>
          <p:nvPr/>
        </p:nvSpPr>
        <p:spPr>
          <a:xfrm>
            <a:off x="274320" y="1874520"/>
            <a:ext cx="3108960" cy="3108960"/>
          </a:xfrm>
          <a:prstGeom prst="ellipse">
            <a:avLst/>
          </a:prstGeom>
          <a:ln w="12700">
            <a:solidFill>
              <a:srgbClr val="223454">
                <a:alpha val="45000"/>
              </a:srgbClr>
            </a:solidFill>
            <a:prstDash val="solid"/>
          </a:ln>
        </p:spPr>
        <p:txBody>
          <a:bodyPr/>
          <a:lstStyle/>
          <a:p>
            <a:endParaRPr lang="en-US"/>
          </a:p>
        </p:txBody>
      </p:sp>
      <p:sp>
        <p:nvSpPr>
          <p:cNvPr id="4" name="Shape 2"/>
          <p:cNvSpPr/>
          <p:nvPr/>
        </p:nvSpPr>
        <p:spPr>
          <a:xfrm>
            <a:off x="822960" y="2423160"/>
            <a:ext cx="2011680" cy="2011680"/>
          </a:xfrm>
          <a:prstGeom prst="ellipse">
            <a:avLst/>
          </a:prstGeom>
          <a:ln w="12700">
            <a:solidFill>
              <a:srgbClr val="3DDCC7"/>
            </a:solidFill>
            <a:prstDash val="solid"/>
          </a:ln>
        </p:spPr>
        <p:txBody>
          <a:bodyPr/>
          <a:lstStyle/>
          <a:p>
            <a:endParaRPr lang="en-US"/>
          </a:p>
        </p:txBody>
      </p:sp>
      <p:sp>
        <p:nvSpPr>
          <p:cNvPr id="5" name="Shape 3"/>
          <p:cNvSpPr/>
          <p:nvPr/>
        </p:nvSpPr>
        <p:spPr>
          <a:xfrm>
            <a:off x="1508760" y="3108960"/>
            <a:ext cx="640080" cy="640080"/>
          </a:xfrm>
          <a:prstGeom prst="ellipse">
            <a:avLst/>
          </a:prstGeom>
          <a:solidFill>
            <a:srgbClr val="10203D"/>
          </a:solidFill>
          <a:ln w="15875">
            <a:solidFill>
              <a:srgbClr val="3DDCC7"/>
            </a:solidFill>
            <a:prstDash val="solid"/>
          </a:ln>
        </p:spPr>
        <p:txBody>
          <a:bodyPr/>
          <a:lstStyle/>
          <a:p>
            <a:endParaRPr lang="en-US"/>
          </a:p>
        </p:txBody>
      </p:sp>
      <p:pic>
        <p:nvPicPr>
          <p:cNvPr id="6" name="Image 0" descr="icons/check.png"/>
          <p:cNvPicPr>
            <a:picLocks noChangeAspect="1"/>
          </p:cNvPicPr>
          <p:nvPr/>
        </p:nvPicPr>
        <p:blipFill>
          <a:blip r:embed="rId3"/>
          <a:stretch>
            <a:fillRect/>
          </a:stretch>
        </p:blipFill>
        <p:spPr>
          <a:xfrm>
            <a:off x="1585570" y="3185770"/>
            <a:ext cx="486461" cy="486461"/>
          </a:xfrm>
          <a:prstGeom prst="rect">
            <a:avLst/>
          </a:prstGeom>
        </p:spPr>
      </p:pic>
      <p:sp>
        <p:nvSpPr>
          <p:cNvPr id="7" name="Text 4"/>
          <p:cNvSpPr txBox="1"/>
          <p:nvPr/>
        </p:nvSpPr>
        <p:spPr>
          <a:xfrm>
            <a:off x="3657600" y="914400"/>
            <a:ext cx="7955280" cy="640080"/>
          </a:xfrm>
          <a:prstGeom prst="rect">
            <a:avLst/>
          </a:prstGeom>
          <a:noFill/>
          <a:ln/>
        </p:spPr>
        <p:txBody>
          <a:bodyPr wrap="square" lIns="0" tIns="0" rIns="0" bIns="0" rtlCol="0" anchor="ctr"/>
          <a:lstStyle/>
          <a:p>
            <a:pPr marL="0" indent="0">
              <a:buNone/>
            </a:pPr>
            <a:r>
              <a:rPr lang="en-US" sz="2800" b="1" dirty="0">
                <a:solidFill>
                  <a:srgbClr val="FFFFFF"/>
                </a:solidFill>
                <a:latin typeface="Cambria" pitchFamily="34" charset="0"/>
                <a:ea typeface="Cambria" pitchFamily="34" charset="-122"/>
                <a:cs typeface="Cambria" pitchFamily="34" charset="-120"/>
              </a:rPr>
              <a:t>Where this leaves the software track</a:t>
            </a:r>
            <a:endParaRPr lang="en-US" sz="2800" dirty="0"/>
          </a:p>
        </p:txBody>
      </p:sp>
      <p:sp>
        <p:nvSpPr>
          <p:cNvPr id="8" name="Shape 5"/>
          <p:cNvSpPr/>
          <p:nvPr/>
        </p:nvSpPr>
        <p:spPr>
          <a:xfrm>
            <a:off x="3675888" y="1911096"/>
            <a:ext cx="109728" cy="109728"/>
          </a:xfrm>
          <a:prstGeom prst="ellipse">
            <a:avLst/>
          </a:prstGeom>
          <a:solidFill>
            <a:srgbClr val="F5B942"/>
          </a:solidFill>
          <a:ln/>
        </p:spPr>
        <p:txBody>
          <a:bodyPr/>
          <a:lstStyle/>
          <a:p>
            <a:endParaRPr lang="en-US"/>
          </a:p>
        </p:txBody>
      </p:sp>
      <p:sp>
        <p:nvSpPr>
          <p:cNvPr id="9" name="Text 6"/>
          <p:cNvSpPr txBox="1"/>
          <p:nvPr/>
        </p:nvSpPr>
        <p:spPr>
          <a:xfrm>
            <a:off x="3950208" y="1755648"/>
            <a:ext cx="7680960" cy="594360"/>
          </a:xfrm>
          <a:prstGeom prst="rect">
            <a:avLst/>
          </a:prstGeom>
          <a:noFill/>
          <a:ln/>
        </p:spPr>
        <p:txBody>
          <a:bodyPr wrap="square" lIns="0" tIns="0" rIns="0" bIns="0" rtlCol="0" anchor="ctr"/>
          <a:lstStyle/>
          <a:p>
            <a:pPr marL="0" indent="0">
              <a:lnSpc>
                <a:spcPct val="125000"/>
              </a:lnSpc>
              <a:buNone/>
            </a:pPr>
            <a:r>
              <a:rPr lang="en-US" sz="1400" dirty="0">
                <a:solidFill>
                  <a:srgbClr val="9FB3C8"/>
                </a:solidFill>
                <a:latin typeface="Calibri" pitchFamily="34" charset="0"/>
                <a:ea typeface="Calibri" pitchFamily="34" charset="-122"/>
                <a:cs typeface="Calibri" pitchFamily="34" charset="-120"/>
              </a:rPr>
              <a:t>Detection pipeline already demoed on 8/26 (YOLO11n + ByteTrack/Kalman) against a webcam and the Unity virtual camera</a:t>
            </a:r>
            <a:endParaRPr lang="en-US" sz="1400" dirty="0"/>
          </a:p>
        </p:txBody>
      </p:sp>
      <p:sp>
        <p:nvSpPr>
          <p:cNvPr id="10" name="Shape 7"/>
          <p:cNvSpPr/>
          <p:nvPr/>
        </p:nvSpPr>
        <p:spPr>
          <a:xfrm>
            <a:off x="3675888" y="2688336"/>
            <a:ext cx="109728" cy="109728"/>
          </a:xfrm>
          <a:prstGeom prst="ellipse">
            <a:avLst/>
          </a:prstGeom>
          <a:solidFill>
            <a:srgbClr val="F5B942"/>
          </a:solidFill>
          <a:ln/>
        </p:spPr>
        <p:txBody>
          <a:bodyPr/>
          <a:lstStyle/>
          <a:p>
            <a:endParaRPr lang="en-US"/>
          </a:p>
        </p:txBody>
      </p:sp>
      <p:sp>
        <p:nvSpPr>
          <p:cNvPr id="11" name="Text 8"/>
          <p:cNvSpPr txBox="1"/>
          <p:nvPr/>
        </p:nvSpPr>
        <p:spPr>
          <a:xfrm>
            <a:off x="3950208" y="2532888"/>
            <a:ext cx="7680960" cy="594360"/>
          </a:xfrm>
          <a:prstGeom prst="rect">
            <a:avLst/>
          </a:prstGeom>
          <a:noFill/>
          <a:ln/>
        </p:spPr>
        <p:txBody>
          <a:bodyPr wrap="square" lIns="0" tIns="0" rIns="0" bIns="0" rtlCol="0" anchor="ctr"/>
          <a:lstStyle/>
          <a:p>
            <a:pPr marL="0" indent="0">
              <a:lnSpc>
                <a:spcPct val="125000"/>
              </a:lnSpc>
              <a:buNone/>
            </a:pPr>
            <a:r>
              <a:rPr lang="en-US" sz="1400" dirty="0">
                <a:solidFill>
                  <a:srgbClr val="9FB3C8"/>
                </a:solidFill>
                <a:latin typeface="Calibri" pitchFamily="34" charset="0"/>
                <a:ea typeface="Calibri" pitchFamily="34" charset="-122"/>
                <a:cs typeface="Calibri" pitchFamily="34" charset="-120"/>
              </a:rPr>
              <a:t>Milestones 1–3 take it from that proof-of-concept to a custom-trained model verified on real Raspberry Pi hardware</a:t>
            </a:r>
            <a:endParaRPr lang="en-US" sz="1400" dirty="0"/>
          </a:p>
        </p:txBody>
      </p:sp>
      <p:sp>
        <p:nvSpPr>
          <p:cNvPr id="12" name="Shape 9"/>
          <p:cNvSpPr/>
          <p:nvPr/>
        </p:nvSpPr>
        <p:spPr>
          <a:xfrm>
            <a:off x="3675888" y="3465576"/>
            <a:ext cx="109728" cy="109728"/>
          </a:xfrm>
          <a:prstGeom prst="ellipse">
            <a:avLst/>
          </a:prstGeom>
          <a:solidFill>
            <a:srgbClr val="F5B942"/>
          </a:solidFill>
          <a:ln/>
        </p:spPr>
        <p:txBody>
          <a:bodyPr/>
          <a:lstStyle/>
          <a:p>
            <a:endParaRPr lang="en-US"/>
          </a:p>
        </p:txBody>
      </p:sp>
      <p:sp>
        <p:nvSpPr>
          <p:cNvPr id="13" name="Text 10"/>
          <p:cNvSpPr txBox="1"/>
          <p:nvPr/>
        </p:nvSpPr>
        <p:spPr>
          <a:xfrm>
            <a:off x="3950208" y="3310128"/>
            <a:ext cx="7680960" cy="594360"/>
          </a:xfrm>
          <a:prstGeom prst="rect">
            <a:avLst/>
          </a:prstGeom>
          <a:noFill/>
          <a:ln/>
        </p:spPr>
        <p:txBody>
          <a:bodyPr wrap="square" lIns="0" tIns="0" rIns="0" bIns="0" rtlCol="0" anchor="ctr"/>
          <a:lstStyle/>
          <a:p>
            <a:pPr marL="0" indent="0">
              <a:lnSpc>
                <a:spcPct val="125000"/>
              </a:lnSpc>
              <a:buNone/>
            </a:pPr>
            <a:r>
              <a:rPr lang="en-US" sz="1400" dirty="0">
                <a:solidFill>
                  <a:srgbClr val="9FB3C8"/>
                </a:solidFill>
                <a:latin typeface="Calibri" pitchFamily="34" charset="0"/>
                <a:ea typeface="Calibri" pitchFamily="34" charset="-122"/>
                <a:cs typeface="Calibri" pitchFamily="34" charset="-120"/>
              </a:rPr>
              <a:t>The semi-autonomous design — approve, then engage onboard — gets proven out through the STE, with every requirement traced to a scripted test</a:t>
            </a:r>
            <a:endParaRPr lang="en-US" sz="1400" dirty="0"/>
          </a:p>
        </p:txBody>
      </p:sp>
      <p:sp>
        <p:nvSpPr>
          <p:cNvPr id="14" name="Shape 11"/>
          <p:cNvSpPr/>
          <p:nvPr/>
        </p:nvSpPr>
        <p:spPr>
          <a:xfrm>
            <a:off x="3675888" y="4242816"/>
            <a:ext cx="109728" cy="109728"/>
          </a:xfrm>
          <a:prstGeom prst="ellipse">
            <a:avLst/>
          </a:prstGeom>
          <a:solidFill>
            <a:srgbClr val="F5B942"/>
          </a:solidFill>
          <a:ln/>
        </p:spPr>
        <p:txBody>
          <a:bodyPr/>
          <a:lstStyle/>
          <a:p>
            <a:endParaRPr lang="en-US"/>
          </a:p>
        </p:txBody>
      </p:sp>
      <p:sp>
        <p:nvSpPr>
          <p:cNvPr id="15" name="Text 12"/>
          <p:cNvSpPr txBox="1"/>
          <p:nvPr/>
        </p:nvSpPr>
        <p:spPr>
          <a:xfrm>
            <a:off x="3950208" y="4087368"/>
            <a:ext cx="7680960" cy="594360"/>
          </a:xfrm>
          <a:prstGeom prst="rect">
            <a:avLst/>
          </a:prstGeom>
          <a:noFill/>
          <a:ln/>
        </p:spPr>
        <p:txBody>
          <a:bodyPr wrap="square" lIns="0" tIns="0" rIns="0" bIns="0" rtlCol="0" anchor="ctr"/>
          <a:lstStyle/>
          <a:p>
            <a:pPr marL="0" indent="0">
              <a:lnSpc>
                <a:spcPct val="125000"/>
              </a:lnSpc>
              <a:buNone/>
            </a:pPr>
            <a:r>
              <a:rPr lang="en-US" sz="1400" dirty="0">
                <a:solidFill>
                  <a:srgbClr val="9FB3C8"/>
                </a:solidFill>
                <a:latin typeface="Calibri" pitchFamily="34" charset="0"/>
                <a:ea typeface="Calibri" pitchFamily="34" charset="-122"/>
                <a:cs typeface="Calibri" pitchFamily="34" charset="-120"/>
              </a:rPr>
              <a:t>Second semester (Plan 2) continues from here toward full system integration and demonstration</a:t>
            </a:r>
            <a:endParaRPr lang="en-US" sz="1400" dirty="0"/>
          </a:p>
        </p:txBody>
      </p:sp>
      <p:sp>
        <p:nvSpPr>
          <p:cNvPr id="16" name="Shape 13"/>
          <p:cNvSpPr/>
          <p:nvPr/>
        </p:nvSpPr>
        <p:spPr>
          <a:xfrm>
            <a:off x="3657600" y="5074920"/>
            <a:ext cx="7955280" cy="0"/>
          </a:xfrm>
          <a:prstGeom prst="line">
            <a:avLst/>
          </a:prstGeom>
          <a:noFill/>
          <a:ln w="12700">
            <a:solidFill>
              <a:srgbClr val="223454"/>
            </a:solidFill>
            <a:prstDash val="solid"/>
          </a:ln>
        </p:spPr>
        <p:txBody>
          <a:bodyPr/>
          <a:lstStyle/>
          <a:p>
            <a:endParaRPr lang="en-US"/>
          </a:p>
        </p:txBody>
      </p:sp>
      <p:sp>
        <p:nvSpPr>
          <p:cNvPr id="17" name="Text 14"/>
          <p:cNvSpPr txBox="1"/>
          <p:nvPr/>
        </p:nvSpPr>
        <p:spPr>
          <a:xfrm>
            <a:off x="3657600" y="5303520"/>
            <a:ext cx="3657600" cy="548640"/>
          </a:xfrm>
          <a:prstGeom prst="rect">
            <a:avLst/>
          </a:prstGeom>
          <a:noFill/>
          <a:ln/>
        </p:spPr>
        <p:txBody>
          <a:bodyPr wrap="square" lIns="0" tIns="0" rIns="0" bIns="0" rtlCol="0" anchor="ctr"/>
          <a:lstStyle/>
          <a:p>
            <a:pPr marL="0" indent="0">
              <a:buNone/>
            </a:pPr>
            <a:r>
              <a:rPr lang="en-US" sz="2200" b="1" dirty="0">
                <a:solidFill>
                  <a:srgbClr val="3DDCC7"/>
                </a:solidFill>
                <a:latin typeface="Cambria" pitchFamily="34" charset="0"/>
                <a:ea typeface="Cambria" pitchFamily="34" charset="-122"/>
                <a:cs typeface="Cambria" pitchFamily="34" charset="-120"/>
              </a:rPr>
              <a:t>Questions?</a:t>
            </a:r>
            <a:endParaRPr lang="en-US" sz="2200" dirty="0"/>
          </a:p>
        </p:txBody>
      </p:sp>
      <p:sp>
        <p:nvSpPr>
          <p:cNvPr id="18" name="Text 15"/>
          <p:cNvSpPr txBox="1"/>
          <p:nvPr/>
        </p:nvSpPr>
        <p:spPr>
          <a:xfrm>
            <a:off x="3657600" y="5897880"/>
            <a:ext cx="7315200" cy="365760"/>
          </a:xfrm>
          <a:prstGeom prst="rect">
            <a:avLst/>
          </a:prstGeom>
          <a:noFill/>
          <a:ln/>
        </p:spPr>
        <p:txBody>
          <a:bodyPr wrap="square" lIns="0" tIns="0" rIns="0" bIns="0" rtlCol="0" anchor="ctr"/>
          <a:lstStyle/>
          <a:p>
            <a:pPr marL="0" indent="0">
              <a:buNone/>
            </a:pPr>
            <a:r>
              <a:rPr lang="en-US" sz="1200" dirty="0">
                <a:solidFill>
                  <a:srgbClr val="7488A3"/>
                </a:solidFill>
                <a:latin typeface="Calibri" pitchFamily="34" charset="0"/>
                <a:ea typeface="Calibri" pitchFamily="34" charset="-122"/>
                <a:cs typeface="Calibri" pitchFamily="34" charset="-120"/>
              </a:rPr>
              <a:t>Bryson Noble  –  bnoble2023@my.fit.edu</a:t>
            </a:r>
            <a:endParaRPr lang="en-US" sz="1200" dirty="0"/>
          </a:p>
        </p:txBody>
      </p:sp>
      <p:sp>
        <p:nvSpPr>
          <p:cNvPr id="19" name="Text 16"/>
          <p:cNvSpPr txBox="1"/>
          <p:nvPr/>
        </p:nvSpPr>
        <p:spPr>
          <a:xfrm>
            <a:off x="11475720" y="6510528"/>
            <a:ext cx="548640" cy="274320"/>
          </a:xfrm>
          <a:prstGeom prst="rect">
            <a:avLst/>
          </a:prstGeom>
          <a:noFill/>
          <a:ln/>
        </p:spPr>
        <p:txBody>
          <a:bodyPr wrap="square" lIns="0" tIns="0" rIns="0" bIns="0" rtlCol="0" anchor="ctr"/>
          <a:lstStyle/>
          <a:p>
            <a:pPr marL="0" indent="0" algn="r">
              <a:buNone/>
            </a:pPr>
            <a:r>
              <a:rPr lang="en-US" sz="900" dirty="0">
                <a:solidFill>
                  <a:srgbClr val="7488A3"/>
                </a:solidFill>
                <a:latin typeface="Calibri" pitchFamily="34" charset="0"/>
                <a:ea typeface="Calibri" pitchFamily="34" charset="-122"/>
                <a:cs typeface="Calibri" pitchFamily="34" charset="-120"/>
              </a:rPr>
              <a:t>14 / 14</a:t>
            </a:r>
            <a:endParaRPr lang="en-US" sz="900" dirty="0"/>
          </a:p>
        </p:txBody>
      </p:sp>
      <p:sp>
        <p:nvSpPr>
          <p:cNvPr id="20" name="Text 17"/>
          <p:cNvSpPr txBox="1"/>
          <p:nvPr/>
        </p:nvSpPr>
        <p:spPr>
          <a:xfrm>
            <a:off x="457200" y="6510528"/>
            <a:ext cx="5486400" cy="274320"/>
          </a:xfrm>
          <a:prstGeom prst="rect">
            <a:avLst/>
          </a:prstGeom>
          <a:noFill/>
          <a:ln/>
        </p:spPr>
        <p:txBody>
          <a:bodyPr wrap="square" lIns="0" tIns="0" rIns="0" bIns="0" rtlCol="0" anchor="ctr"/>
          <a:lstStyle/>
          <a:p>
            <a:pPr marL="0" indent="0" algn="l">
              <a:buNone/>
            </a:pPr>
            <a:r>
              <a:rPr lang="en-US" sz="900" dirty="0">
                <a:solidFill>
                  <a:srgbClr val="7488A3"/>
                </a:solidFill>
                <a:latin typeface="Calibri" pitchFamily="34" charset="0"/>
                <a:ea typeface="Calibri" pitchFamily="34" charset="-122"/>
                <a:cs typeface="Calibri" pitchFamily="34" charset="-120"/>
              </a:rPr>
              <a:t>SHIELD — Software &amp; Autonomy Overview</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TotalTime>
  <Words>2387</Words>
  <Application>Microsoft Office PowerPoint</Application>
  <PresentationFormat>Widescreen</PresentationFormat>
  <Paragraphs>256</Paragraphs>
  <Slides>14</Slides>
  <Notes>14</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14</vt:i4>
      </vt:variant>
    </vt:vector>
  </HeadingPairs>
  <TitlesOfParts>
    <vt:vector size="18"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Bryson Noble</cp:lastModifiedBy>
  <cp:revision>2</cp:revision>
  <dcterms:created xsi:type="dcterms:W3CDTF">2026-08-27T20:54:04Z</dcterms:created>
  <dcterms:modified xsi:type="dcterms:W3CDTF">2026-08-27T21:17:19Z</dcterms:modified>
</cp:coreProperties>
</file>